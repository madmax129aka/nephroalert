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presentation>
</file>

<file path=ppt/_rels/presentation.xml.rels><?xml version="1.0" encoding="UTF-8" standalone="yes"?>
<Relationships xmlns="http://schemas.openxmlformats.org/package/2006/relationships">
<Relationship Id="rId1" Type="http://schemas.openxmlformats.org/officeDocument/2006/relationships/slideMaster" Target="slideMasters/slideMaster1.xml"/>
<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theme" Target="theme/theme1.xml"/>
</Relationships>
</file>

<file path=ppt/slideLayouts/_rels/slideLayout1.xml.rels><?xml version="1.0" encoding="UTF-8" standalone="yes"?>
<Relationships xmlns="http://schemas.openxmlformats.org/package/2006/relationships">
<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theme" Target="../theme/theme1.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B4F72"/>
        </a:solidFill>
        <a:effectLst/>
      </p:bgPr>
    </p:bg>
    <p:spTree>
      <p:nvGrpSpPr>
        <p:cNvPr id="1" name=""/>
        <p:cNvGrpSpPr/>
        <p:nvPr/>
      </p:nvGrpSpPr>
      <p:grpSpPr>
        <a:xfrm>
          <a:off x="0" y="0"/>
          <a:ext cx="0" cy="0"/>
          <a:chOff x="0" y="0"/>
          <a:chExt cx="0" cy="0"/>
        </a:xfrm>
      </p:grpSpPr>
      <p:sp>
        <p:nvSpPr>
          <p:cNvPr id="2" name="Rect 2"/>
          <p:cNvSpPr/>
          <p:nvPr/>
        </p:nvSpPr>
        <p:spPr>
          <a:xfrm>
            <a:off x="0" y="0"/>
            <a:ext cx="95250" cy="6858000"/>
          </a:xfrm>
          <a:prstGeom prst="rect">
            <a:avLst/>
          </a:prstGeom>
          <a:solidFill>
            <a:srgbClr val="00A878"/>
          </a:solidFill>
          <a:ln>
            <a:noFill/>
          </a:ln>
        </p:spPr>
        <p:txBody>
          <a:bodyPr/>
          <a:lstStyle/>
          <a:p/>
        </p:txBody>
      </p:sp>
      <p:sp>
        <p:nvSpPr>
          <p:cNvPr id="3" name="Freeform 3"/>
          <p:cNvSpPr/>
          <p:nvPr/>
        </p:nvSpPr>
        <p:spPr>
          <a:xfrm>
            <a:off x="5067300" y="918039"/>
            <a:ext cx="2106587" cy="3116923"/>
          </a:xfrm>
          <a:custGeom>
            <a:avLst/>
            <a:gdLst/>
            <a:ahLst/>
            <a:cxnLst/>
            <a:rect l="0" t="0" r="0" b="0"/>
            <a:pathLst>
              <a:path w="2106587" h="3116923" fill="norm" stroke="1">
                <a:moveTo>
                  <a:pt x="2057400" y="1558461"/>
                </a:moveTo>
                <a:lnTo>
                  <a:pt x="2087362" y="1694458"/>
                </a:lnTo>
                <a:lnTo>
                  <a:pt x="2104273" y="1837886"/>
                </a:lnTo>
                <a:lnTo>
                  <a:pt x="2106587" y="1986516"/>
                </a:lnTo>
                <a:lnTo>
                  <a:pt x="2093092" y="2137670"/>
                </a:lnTo>
                <a:lnTo>
                  <a:pt x="2063001" y="2288316"/>
                </a:lnTo>
                <a:lnTo>
                  <a:pt x="2016014" y="2435192"/>
                </a:lnTo>
                <a:lnTo>
                  <a:pt x="1952359" y="2574942"/>
                </a:lnTo>
                <a:lnTo>
                  <a:pt x="1872804" y="2704261"/>
                </a:lnTo>
                <a:lnTo>
                  <a:pt x="1778641" y="2820046"/>
                </a:lnTo>
                <a:lnTo>
                  <a:pt x="1671638" y="2919529"/>
                </a:lnTo>
                <a:lnTo>
                  <a:pt x="1553967" y="3000401"/>
                </a:lnTo>
                <a:lnTo>
                  <a:pt x="1428115" y="3060907"/>
                </a:lnTo>
                <a:lnTo>
                  <a:pt x="1296773" y="3099909"/>
                </a:lnTo>
                <a:lnTo>
                  <a:pt x="1162719" y="3116923"/>
                </a:lnTo>
                <a:lnTo>
                  <a:pt x="1028700" y="3112110"/>
                </a:lnTo>
                <a:lnTo>
                  <a:pt x="897319" y="3086242"/>
                </a:lnTo>
                <a:lnTo>
                  <a:pt x="770936" y="3040633"/>
                </a:lnTo>
                <a:lnTo>
                  <a:pt x="651580" y="2977042"/>
                </a:lnTo>
                <a:lnTo>
                  <a:pt x="540896" y="2897558"/>
                </a:lnTo>
                <a:lnTo>
                  <a:pt x="440110" y="2804478"/>
                </a:lnTo>
                <a:lnTo>
                  <a:pt x="350018" y="2700170"/>
                </a:lnTo>
                <a:lnTo>
                  <a:pt x="271012" y="2586958"/>
                </a:lnTo>
                <a:lnTo>
                  <a:pt x="203121" y="2467006"/>
                </a:lnTo>
                <a:lnTo>
                  <a:pt x="146076" y="2342228"/>
                </a:lnTo>
                <a:lnTo>
                  <a:pt x="99390" y="2214229"/>
                </a:lnTo>
                <a:lnTo>
                  <a:pt x="62445" y="2084267"/>
                </a:lnTo>
                <a:lnTo>
                  <a:pt x="34583" y="1953249"/>
                </a:lnTo>
                <a:lnTo>
                  <a:pt x="15190" y="1821762"/>
                </a:lnTo>
                <a:lnTo>
                  <a:pt x="3770" y="1690125"/>
                </a:lnTo>
                <a:lnTo>
                  <a:pt x="0" y="1558461"/>
                </a:lnTo>
                <a:lnTo>
                  <a:pt x="3770" y="1426798"/>
                </a:lnTo>
                <a:lnTo>
                  <a:pt x="15190" y="1295160"/>
                </a:lnTo>
                <a:lnTo>
                  <a:pt x="34583" y="1163674"/>
                </a:lnTo>
                <a:lnTo>
                  <a:pt x="62445" y="1032656"/>
                </a:lnTo>
                <a:lnTo>
                  <a:pt x="99390" y="902694"/>
                </a:lnTo>
                <a:lnTo>
                  <a:pt x="146076" y="774695"/>
                </a:lnTo>
                <a:lnTo>
                  <a:pt x="203121" y="649917"/>
                </a:lnTo>
                <a:lnTo>
                  <a:pt x="271012" y="529965"/>
                </a:lnTo>
                <a:lnTo>
                  <a:pt x="350018" y="416753"/>
                </a:lnTo>
                <a:lnTo>
                  <a:pt x="440110" y="312445"/>
                </a:lnTo>
                <a:lnTo>
                  <a:pt x="540896" y="219364"/>
                </a:lnTo>
                <a:lnTo>
                  <a:pt x="651580" y="139881"/>
                </a:lnTo>
                <a:lnTo>
                  <a:pt x="770936" y="76289"/>
                </a:lnTo>
                <a:lnTo>
                  <a:pt x="897319" y="30680"/>
                </a:lnTo>
                <a:lnTo>
                  <a:pt x="1028700" y="4813"/>
                </a:lnTo>
                <a:lnTo>
                  <a:pt x="1162719" y="0"/>
                </a:lnTo>
                <a:lnTo>
                  <a:pt x="1296773" y="17014"/>
                </a:lnTo>
                <a:lnTo>
                  <a:pt x="1428115" y="56016"/>
                </a:lnTo>
                <a:lnTo>
                  <a:pt x="1553967" y="116522"/>
                </a:lnTo>
                <a:lnTo>
                  <a:pt x="1671638" y="197394"/>
                </a:lnTo>
                <a:lnTo>
                  <a:pt x="1778641" y="296877"/>
                </a:lnTo>
                <a:lnTo>
                  <a:pt x="1872804" y="412662"/>
                </a:lnTo>
                <a:lnTo>
                  <a:pt x="1952359" y="541981"/>
                </a:lnTo>
                <a:lnTo>
                  <a:pt x="2016014" y="681730"/>
                </a:lnTo>
                <a:lnTo>
                  <a:pt x="2063001" y="828607"/>
                </a:lnTo>
                <a:lnTo>
                  <a:pt x="2093092" y="979253"/>
                </a:lnTo>
                <a:lnTo>
                  <a:pt x="2106587" y="1130407"/>
                </a:lnTo>
                <a:lnTo>
                  <a:pt x="2104273" y="1279037"/>
                </a:lnTo>
                <a:lnTo>
                  <a:pt x="2087362" y="1422465"/>
                </a:lnTo>
                <a:lnTo>
                  <a:pt x="2057400" y="1558461"/>
                </a:lnTo>
                <a:close/>
              </a:path>
            </a:pathLst>
          </a:custGeom>
          <a:noFill/>
          <a:ln w="27940">
            <a:solidFill>
              <a:srgbClr val="5D8AA8"/>
            </a:solidFill>
          </a:ln>
        </p:spPr>
        <p:txBody>
          <a:bodyPr/>
          <a:lstStyle/>
          <a:p/>
        </p:txBody>
      </p:sp>
      <p:sp>
        <p:nvSpPr>
          <p:cNvPr id="4" name="TextBox 4"/>
          <p:cNvSpPr txBox="1"/>
          <p:nvPr/>
        </p:nvSpPr>
        <p:spPr>
          <a:xfrm>
            <a:off x="1428750" y="1047750"/>
            <a:ext cx="9334500" cy="247650"/>
          </a:xfrm>
          <a:prstGeom prst="rect">
            <a:avLst/>
          </a:prstGeom>
          <a:noFill/>
        </p:spPr>
        <p:txBody>
          <a:bodyPr wrap="square" anchor="t" lIns="0" tIns="0" rIns="0" bIns="0">
            <a:noAutofit/>
          </a:bodyPr>
          <a:lstStyle/>
          <a:p>
            <a:pPr marL="0" indent="0" algn="ctr">
              <a:buNone/>
            </a:pPr>
            <a:r>
              <a:rPr lang="en-US" sz="1300" b="1" dirty="0">
                <a:solidFill>
                  <a:srgbClr val="00A878"/>
                </a:solidFill>
                <a:latin typeface="Calibri"/>
                <a:cs typeface="Calibri"/>
              </a:rPr>
              <a:t>ACS-AMRI STUDENT RESEARCH GRANT PROPOSAL</a:t>
            </a:r>
          </a:p>
        </p:txBody>
      </p:sp>
      <p:sp>
        <p:nvSpPr>
          <p:cNvPr id="5" name="TextBox 5"/>
          <p:cNvSpPr txBox="1"/>
          <p:nvPr/>
        </p:nvSpPr>
        <p:spPr>
          <a:xfrm>
            <a:off x="1333500" y="1428750"/>
            <a:ext cx="9525000" cy="762000"/>
          </a:xfrm>
          <a:prstGeom prst="rect">
            <a:avLst/>
          </a:prstGeom>
          <a:noFill/>
        </p:spPr>
        <p:txBody>
          <a:bodyPr wrap="square" anchor="t" lIns="0" tIns="0" rIns="0" bIns="0">
            <a:noAutofit/>
          </a:bodyPr>
          <a:lstStyle/>
          <a:p>
            <a:pPr marL="0" indent="0" algn="ctr">
              <a:buNone/>
            </a:pPr>
            <a:r>
              <a:rPr lang="en-US" sz="5600" b="1" dirty="0">
                <a:solidFill>
                  <a:srgbClr val="FFFFFF"/>
                </a:solidFill>
                <a:latin typeface="Calibri"/>
                <a:cs typeface="Calibri"/>
              </a:rPr>
              <a:t>NephroAlert</a:t>
            </a:r>
          </a:p>
        </p:txBody>
      </p:sp>
      <p:sp>
        <p:nvSpPr>
          <p:cNvPr id="6" name="Rect 6"/>
          <p:cNvSpPr/>
          <p:nvPr/>
        </p:nvSpPr>
        <p:spPr>
          <a:xfrm>
            <a:off x="5524500" y="2247900"/>
            <a:ext cx="1143000" cy="47625"/>
          </a:xfrm>
          <a:prstGeom prst="roundRect">
            <a:avLst/>
          </a:prstGeom>
          <a:solidFill>
            <a:srgbClr val="00A878"/>
          </a:solidFill>
          <a:ln>
            <a:noFill/>
          </a:ln>
        </p:spPr>
        <p:txBody>
          <a:bodyPr/>
          <a:lstStyle/>
          <a:p/>
        </p:txBody>
      </p:sp>
      <p:sp>
        <p:nvSpPr>
          <p:cNvPr id="7" name="TextBox 7"/>
          <p:cNvSpPr txBox="1"/>
          <p:nvPr/>
        </p:nvSpPr>
        <p:spPr>
          <a:xfrm>
            <a:off x="1905000" y="2438400"/>
            <a:ext cx="8382000" cy="857250"/>
          </a:xfrm>
          <a:prstGeom prst="rect">
            <a:avLst/>
          </a:prstGeom>
          <a:noFill/>
        </p:spPr>
        <p:txBody>
          <a:bodyPr wrap="square" anchor="t" lIns="0" tIns="0" rIns="0" bIns="0">
            <a:noAutofit/>
          </a:bodyPr>
          <a:lstStyle/>
          <a:p>
            <a:pPr marL="0" indent="0" algn="ctr">
              <a:lnSpc>
                <a:spcPct val="130000"/>
              </a:lnSpc>
              <a:buNone/>
            </a:pPr>
            <a:r>
              <a:rPr lang="en-US" sz="1700" dirty="0">
                <a:solidFill>
                  <a:srgbClr val="DCE7EF"/>
                </a:solidFill>
                <a:latin typeface="Calibri"/>
                <a:cs typeface="Calibri"/>
              </a:rPr>
              <a:t>AI-Powered Early Detection of Chronic Kidney Disease Progression in Diabetic Patients Using Longitudinal Blood Test Trajectory Analysis</a:t>
            </a:r>
          </a:p>
        </p:txBody>
      </p:sp>
      <p:sp>
        <p:nvSpPr>
          <p:cNvPr id="8" name="TextBox 8"/>
          <p:cNvSpPr txBox="1"/>
          <p:nvPr/>
        </p:nvSpPr>
        <p:spPr>
          <a:xfrm>
            <a:off x="1905000" y="3314700"/>
            <a:ext cx="8382000" cy="228600"/>
          </a:xfrm>
          <a:prstGeom prst="rect">
            <a:avLst/>
          </a:prstGeom>
          <a:noFill/>
        </p:spPr>
        <p:txBody>
          <a:bodyPr wrap="square" anchor="t" lIns="0" tIns="0" rIns="0" bIns="0">
            <a:noAutofit/>
          </a:bodyPr>
          <a:lstStyle/>
          <a:p>
            <a:pPr marL="0" indent="0" algn="ctr">
              <a:buNone/>
            </a:pPr>
            <a:r>
              <a:rPr lang="en-US" sz="1150" dirty="0">
                <a:solidFill>
                  <a:srgbClr val="B9C6D0"/>
                </a:solidFill>
                <a:latin typeface="Calibri"/>
                <a:cs typeface="Calibri"/>
              </a:rPr>
              <a:t>CATEGORY: BIOMEDICAL INFORMATICS &amp; HEALTHCARE AI</a:t>
            </a:r>
          </a:p>
        </p:txBody>
      </p:sp>
      <p:sp>
        <p:nvSpPr>
          <p:cNvPr id="9" name="TextBox 9"/>
          <p:cNvSpPr txBox="1"/>
          <p:nvPr/>
        </p:nvSpPr>
        <p:spPr>
          <a:xfrm>
            <a:off x="1428750" y="4000500"/>
            <a:ext cx="4381500" cy="209550"/>
          </a:xfrm>
          <a:prstGeom prst="rect">
            <a:avLst/>
          </a:prstGeom>
          <a:noFill/>
        </p:spPr>
        <p:txBody>
          <a:bodyPr wrap="square" anchor="t" lIns="0" tIns="0" rIns="0" bIns="0">
            <a:noAutofit/>
          </a:bodyPr>
          <a:lstStyle/>
          <a:p>
            <a:pPr marL="0" indent="0" algn="l">
              <a:buNone/>
            </a:pPr>
            <a:r>
              <a:rPr lang="en-US" sz="1150" b="1" dirty="0">
                <a:solidFill>
                  <a:srgbClr val="00A878"/>
                </a:solidFill>
                <a:latin typeface="Calibri"/>
                <a:cs typeface="Calibri"/>
              </a:rPr>
              <a:t>PRESENTED BY</a:t>
            </a:r>
          </a:p>
        </p:txBody>
      </p:sp>
      <p:sp>
        <p:nvSpPr>
          <p:cNvPr id="10" name="TextBox 10"/>
          <p:cNvSpPr txBox="1"/>
          <p:nvPr/>
        </p:nvSpPr>
        <p:spPr>
          <a:xfrm>
            <a:off x="1428750" y="4248150"/>
            <a:ext cx="4381500" cy="1047750"/>
          </a:xfrm>
          <a:prstGeom prst="rect">
            <a:avLst/>
          </a:prstGeom>
          <a:noFill/>
        </p:spPr>
        <p:txBody>
          <a:bodyPr wrap="square" anchor="t" lIns="0" tIns="0" rIns="0" bIns="0">
            <a:noAutofit/>
          </a:bodyPr>
          <a:lstStyle/>
          <a:p>
            <a:pPr marL="0" indent="0" algn="l">
              <a:spcAft>
                <a:spcPts val="300"/>
              </a:spcAft>
              <a:buNone/>
            </a:pPr>
            <a:r>
              <a:rPr lang="en-US" sz="1450" b="1" dirty="0">
                <a:solidFill>
                  <a:srgbClr val="FFFFFF"/>
                </a:solidFill>
                <a:latin typeface="Calibri"/>
                <a:cs typeface="Calibri"/>
              </a:rPr>
              <a:t>[Student Name]</a:t>
            </a:r>
          </a:p>
          <a:p>
            <a:pPr marL="0" indent="0" algn="l">
              <a:spcAft>
                <a:spcPts val="300"/>
              </a:spcAft>
              <a:buNone/>
            </a:pPr>
            <a:r>
              <a:rPr lang="en-US" sz="1150" dirty="0">
                <a:solidFill>
                  <a:srgbClr val="CBD9E2"/>
                </a:solidFill>
                <a:latin typeface="Calibri"/>
                <a:cs typeface="Calibri"/>
              </a:rPr>
              <a:t>Register No: [Register Number]</a:t>
            </a:r>
          </a:p>
          <a:p>
            <a:pPr marL="0" indent="0" algn="l">
              <a:spcAft>
                <a:spcPts val="300"/>
              </a:spcAft>
              <a:buNone/>
            </a:pPr>
            <a:r>
              <a:rPr lang="en-US" sz="1150" dirty="0">
                <a:solidFill>
                  <a:srgbClr val="CBD9E2"/>
                </a:solidFill>
                <a:latin typeface="Calibri"/>
                <a:cs typeface="Calibri"/>
              </a:rPr>
              <a:t>[Programme &amp; Year] · [Department]</a:t>
            </a:r>
          </a:p>
          <a:p>
            <a:pPr marL="0" indent="0" algn="l">
              <a:buNone/>
            </a:pPr>
            <a:r>
              <a:rPr lang="en-US" sz="1150" dirty="0">
                <a:solidFill>
                  <a:srgbClr val="CBD9E2"/>
                </a:solidFill>
                <a:latin typeface="Calibri"/>
                <a:cs typeface="Calibri"/>
              </a:rPr>
              <a:t>Dr. MGR Educational and Research Institute, Chennai</a:t>
            </a:r>
          </a:p>
        </p:txBody>
      </p:sp>
      <p:cxnSp>
        <p:nvCxnSpPr>
          <p:cNvPr id="11" name="Line 11"/>
          <p:cNvCxnSpPr/>
          <p:nvPr/>
        </p:nvCxnSpPr>
        <p:spPr>
          <a:xfrm flipH="0" flipV="0">
            <a:off x="6096000" y="4000500"/>
            <a:ext cx="9525" cy="1238250"/>
          </a:xfrm>
          <a:prstGeom prst="line">
            <a:avLst/>
          </a:prstGeom>
          <a:ln w="12700">
            <a:solidFill>
              <a:srgbClr val="5D8AA8"/>
            </a:solidFill>
          </a:ln>
        </p:spPr>
      </p:cxnSp>
      <p:sp>
        <p:nvSpPr>
          <p:cNvPr id="12" name="TextBox 12"/>
          <p:cNvSpPr txBox="1"/>
          <p:nvPr/>
        </p:nvSpPr>
        <p:spPr>
          <a:xfrm>
            <a:off x="6362700" y="4000500"/>
            <a:ext cx="4381500" cy="209550"/>
          </a:xfrm>
          <a:prstGeom prst="rect">
            <a:avLst/>
          </a:prstGeom>
          <a:noFill/>
        </p:spPr>
        <p:txBody>
          <a:bodyPr wrap="square" anchor="t" lIns="0" tIns="0" rIns="0" bIns="0">
            <a:noAutofit/>
          </a:bodyPr>
          <a:lstStyle/>
          <a:p>
            <a:pPr marL="0" indent="0" algn="l">
              <a:buNone/>
            </a:pPr>
            <a:r>
              <a:rPr lang="en-US" sz="1150" b="1" dirty="0">
                <a:solidFill>
                  <a:srgbClr val="00A878"/>
                </a:solidFill>
                <a:latin typeface="Calibri"/>
                <a:cs typeface="Calibri"/>
              </a:rPr>
              <a:t>FACULTY GUIDE</a:t>
            </a:r>
          </a:p>
        </p:txBody>
      </p:sp>
      <p:sp>
        <p:nvSpPr>
          <p:cNvPr id="13" name="TextBox 13"/>
          <p:cNvSpPr txBox="1"/>
          <p:nvPr/>
        </p:nvSpPr>
        <p:spPr>
          <a:xfrm>
            <a:off x="6362700" y="4248150"/>
            <a:ext cx="4381500" cy="1047750"/>
          </a:xfrm>
          <a:prstGeom prst="rect">
            <a:avLst/>
          </a:prstGeom>
          <a:noFill/>
        </p:spPr>
        <p:txBody>
          <a:bodyPr wrap="square" anchor="t" lIns="0" tIns="0" rIns="0" bIns="0">
            <a:noAutofit/>
          </a:bodyPr>
          <a:lstStyle/>
          <a:p>
            <a:pPr marL="0" indent="0" algn="l">
              <a:spcAft>
                <a:spcPts val="300"/>
              </a:spcAft>
              <a:buNone/>
            </a:pPr>
            <a:r>
              <a:rPr lang="en-US" sz="1450" b="1" dirty="0">
                <a:solidFill>
                  <a:srgbClr val="FFFFFF"/>
                </a:solidFill>
                <a:latin typeface="Calibri"/>
                <a:cs typeface="Calibri"/>
              </a:rPr>
              <a:t>[Guide Name]</a:t>
            </a:r>
          </a:p>
          <a:p>
            <a:pPr marL="0" indent="0" algn="l">
              <a:spcAft>
                <a:spcPts val="300"/>
              </a:spcAft>
              <a:buNone/>
            </a:pPr>
            <a:r>
              <a:rPr lang="en-US" sz="1150" dirty="0">
                <a:solidFill>
                  <a:srgbClr val="CBD9E2"/>
                </a:solidFill>
                <a:latin typeface="Calibri"/>
                <a:cs typeface="Calibri"/>
              </a:rPr>
              <a:t>[Designation &amp; Department]</a:t>
            </a:r>
          </a:p>
          <a:p>
            <a:pPr marL="0" indent="0" algn="l">
              <a:buNone/>
            </a:pPr>
            <a:r>
              <a:rPr lang="en-US" sz="1150" dirty="0">
                <a:solidFill>
                  <a:srgbClr val="CBD9E2"/>
                </a:solidFill>
                <a:latin typeface="Calibri"/>
                <a:cs typeface="Calibri"/>
              </a:rPr>
              <a:t>Dr. MGR Educational and Research Institute, Chennai</a:t>
            </a:r>
          </a:p>
        </p:txBody>
      </p:sp>
      <p:sp>
        <p:nvSpPr>
          <p:cNvPr id="14" name="TextBox 14"/>
          <p:cNvSpPr txBox="1"/>
          <p:nvPr/>
        </p:nvSpPr>
        <p:spPr>
          <a:xfrm>
            <a:off x="6362700" y="5334000"/>
            <a:ext cx="4381500" cy="190500"/>
          </a:xfrm>
          <a:prstGeom prst="rect">
            <a:avLst/>
          </a:prstGeom>
          <a:noFill/>
        </p:spPr>
        <p:txBody>
          <a:bodyPr wrap="square" anchor="t" lIns="0" tIns="0" rIns="0" bIns="0">
            <a:noAutofit/>
          </a:bodyPr>
          <a:lstStyle/>
          <a:p>
            <a:pPr marL="0" indent="0" algn="r">
              <a:buNone/>
            </a:pPr>
            <a:r>
              <a:rPr lang="en-US" sz="1150" dirty="0">
                <a:solidFill>
                  <a:srgbClr val="B9C6D0"/>
                </a:solidFill>
                <a:latin typeface="Calibri"/>
                <a:cs typeface="Calibri"/>
              </a:rPr>
              <a:t>Date: July 2026</a:t>
            </a:r>
          </a:p>
        </p:txBody>
      </p:sp>
      <p:cxnSp>
        <p:nvCxnSpPr>
          <p:cNvPr id="15" name="Line 15"/>
          <p:cNvCxnSpPr/>
          <p:nvPr/>
        </p:nvCxnSpPr>
        <p:spPr>
          <a:xfrm flipH="0" flipV="0">
            <a:off x="533400" y="6667500"/>
            <a:ext cx="11125200" cy="9525"/>
          </a:xfrm>
          <a:prstGeom prst="line">
            <a:avLst/>
          </a:prstGeom>
          <a:ln w="12700">
            <a:solidFill>
              <a:srgbClr val="FFFFFF"/>
            </a:solidFill>
          </a:ln>
        </p:spPr>
      </p:cxnSp>
      <p:sp>
        <p:nvSpPr>
          <p:cNvPr id="16" name="TextBox 16"/>
          <p:cNvSpPr txBox="1"/>
          <p:nvPr/>
        </p:nvSpPr>
        <p:spPr>
          <a:xfrm>
            <a:off x="533400" y="6705600"/>
            <a:ext cx="8572500" cy="190500"/>
          </a:xfrm>
          <a:prstGeom prst="rect">
            <a:avLst/>
          </a:prstGeom>
          <a:noFill/>
        </p:spPr>
        <p:txBody>
          <a:bodyPr wrap="square" anchor="t" lIns="0" tIns="0" rIns="0" bIns="0">
            <a:noAutofit/>
          </a:bodyPr>
          <a:lstStyle/>
          <a:p>
            <a:pPr marL="0" indent="0" algn="l">
              <a:buNone/>
            </a:pPr>
            <a:r>
              <a:rPr lang="en-US" sz="850" dirty="0">
                <a:solidFill>
                  <a:srgbClr val="B9C6D0"/>
                </a:solidFill>
                <a:latin typeface="Calibri"/>
                <a:cs typeface="Calibri"/>
              </a:rPr>
              <a:t>NephroAlert | ACS-AMRI Seed Grant Proposal 2026 | Dr. MGR Educational and Research Institute, Chennai</a:t>
            </a:r>
          </a:p>
        </p:txBody>
      </p:sp>
      <p:sp>
        <p:nvSpPr>
          <p:cNvPr id="17" name="TextBox 17"/>
          <p:cNvSpPr txBox="1"/>
          <p:nvPr/>
        </p:nvSpPr>
        <p:spPr>
          <a:xfrm>
            <a:off x="11277600" y="6667500"/>
            <a:ext cx="381000" cy="190500"/>
          </a:xfrm>
          <a:prstGeom prst="rect">
            <a:avLst/>
          </a:prstGeom>
          <a:noFill/>
        </p:spPr>
        <p:txBody>
          <a:bodyPr wrap="square" anchor="t" lIns="0" tIns="0" rIns="0" bIns="0">
            <a:noAutofit/>
          </a:bodyPr>
          <a:lstStyle/>
          <a:p>
            <a:pPr marL="0" indent="0" algn="r">
              <a:buNone/>
            </a:pPr>
            <a:r>
              <a:rPr lang="en-US" sz="1100" b="1" dirty="0">
                <a:solidFill>
                  <a:srgbClr val="00A878"/>
                </a:solidFill>
                <a:latin typeface="Calibri"/>
                <a:cs typeface="Calibri"/>
              </a:rPr>
              <a:t>1</a:t>
            </a:r>
          </a:p>
        </p:txBody>
      </p:sp>
    </p:spTree>
  </p:cSld>
  <p:clrMapOvr>
    <a:overrideClrMapping bg1="lt1" tx1="dk1" bg2="lt2" tx2="dk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2"/>
          <p:cNvSpPr txBox="1"/>
          <p:nvPr/>
        </p:nvSpPr>
        <p:spPr>
          <a:xfrm>
            <a:off x="533400" y="285750"/>
            <a:ext cx="11125200" cy="381000"/>
          </a:xfrm>
          <a:prstGeom prst="rect">
            <a:avLst/>
          </a:prstGeom>
          <a:noFill/>
        </p:spPr>
        <p:txBody>
          <a:bodyPr wrap="square" anchor="t" lIns="0" tIns="0" rIns="0" bIns="0">
            <a:noAutofit/>
          </a:bodyPr>
          <a:lstStyle/>
          <a:p>
            <a:pPr marL="0" indent="0" algn="l">
              <a:buNone/>
            </a:pPr>
            <a:r>
              <a:rPr lang="en-US" sz="2500" b="1" dirty="0">
                <a:solidFill>
                  <a:srgbClr val="1B4F72"/>
                </a:solidFill>
                <a:latin typeface="Calibri"/>
                <a:cs typeface="Calibri"/>
              </a:rPr>
              <a:t>Abstract</a:t>
            </a:r>
          </a:p>
        </p:txBody>
      </p:sp>
      <p:sp>
        <p:nvSpPr>
          <p:cNvPr id="3" name="Rect 3"/>
          <p:cNvSpPr/>
          <p:nvPr/>
        </p:nvSpPr>
        <p:spPr>
          <a:xfrm>
            <a:off x="533400" y="666750"/>
            <a:ext cx="609600" cy="47625"/>
          </a:xfrm>
          <a:prstGeom prst="roundRect">
            <a:avLst/>
          </a:prstGeom>
          <a:solidFill>
            <a:srgbClr val="00A878"/>
          </a:solidFill>
          <a:ln>
            <a:noFill/>
          </a:ln>
        </p:spPr>
        <p:txBody>
          <a:bodyPr/>
          <a:lstStyle/>
          <a:p/>
        </p:txBody>
      </p:sp>
      <p:sp>
        <p:nvSpPr>
          <p:cNvPr id="4" name="Rect 4"/>
          <p:cNvSpPr/>
          <p:nvPr/>
        </p:nvSpPr>
        <p:spPr>
          <a:xfrm>
            <a:off x="952500" y="952500"/>
            <a:ext cx="10287000" cy="2857500"/>
          </a:xfrm>
          <a:prstGeom prst="rect">
            <a:avLst/>
          </a:prstGeom>
          <a:solidFill>
            <a:srgbClr val="EAF3FB"/>
          </a:solidFill>
          <a:ln>
            <a:noFill/>
          </a:ln>
        </p:spPr>
        <p:txBody>
          <a:bodyPr/>
          <a:lstStyle/>
          <a:p/>
        </p:txBody>
      </p:sp>
      <p:sp>
        <p:nvSpPr>
          <p:cNvPr id="5" name="Rect 5"/>
          <p:cNvSpPr/>
          <p:nvPr/>
        </p:nvSpPr>
        <p:spPr>
          <a:xfrm>
            <a:off x="952500" y="952500"/>
            <a:ext cx="38100" cy="2857500"/>
          </a:xfrm>
          <a:prstGeom prst="rect">
            <a:avLst/>
          </a:prstGeom>
          <a:solidFill>
            <a:srgbClr val="00A878"/>
          </a:solidFill>
          <a:ln>
            <a:noFill/>
          </a:ln>
        </p:spPr>
        <p:txBody>
          <a:bodyPr/>
          <a:lstStyle/>
          <a:p/>
        </p:txBody>
      </p:sp>
      <p:sp>
        <p:nvSpPr>
          <p:cNvPr id="6" name="TextBox 6"/>
          <p:cNvSpPr txBox="1"/>
          <p:nvPr/>
        </p:nvSpPr>
        <p:spPr>
          <a:xfrm>
            <a:off x="1200150" y="1123950"/>
            <a:ext cx="9791700" cy="2514600"/>
          </a:xfrm>
          <a:prstGeom prst="rect">
            <a:avLst/>
          </a:prstGeom>
          <a:noFill/>
        </p:spPr>
        <p:txBody>
          <a:bodyPr wrap="square" anchor="t" lIns="0" tIns="0" rIns="0" bIns="0">
            <a:noAutofit/>
          </a:bodyPr>
          <a:lstStyle/>
          <a:p>
            <a:pPr marL="0" indent="0" algn="l">
              <a:lnSpc>
                <a:spcPct val="140000"/>
              </a:lnSpc>
              <a:buNone/>
            </a:pPr>
            <a:r>
              <a:rPr lang="en-US" sz="1350" i="1" dirty="0">
                <a:solidFill>
                  <a:srgbClr val="2C3E50"/>
                </a:solidFill>
                <a:latin typeface="Calibri"/>
                <a:cs typeface="Calibri"/>
              </a:rPr>
              <a:t>Chronic Kidney Disease (CKD) affects approximately 17% of India's adult population, with diabetic nephropathy accounting for nearly 40% of all CKD cases. Despite routine blood test collection at Primary Health Centres (PHCs), no existing clinical decision support tool analyses longitudinal biomarker trajectories to predict CKD progression before irreversible damage occurs. This project proposes NephroAlert — a lightweight, web-based AI system that analyses multi-visit patterns of serum creatinine, eGFR, HbA1c, blood urea, urine ACR, and blood pressure to generate a quantified CKD progression risk score. Unlike threshold-based single-visit evaluation, NephroAlert detects dangerous declining trajectories 4–6 months earlier. Validated on de-identified retrospective PHC data from Tamil Nadu, this tool aims to enable timely nephrology referrals, reduce preventable kidney failure, and support rural healthcare workers with AI-assisted clinical decisions.</a:t>
            </a:r>
          </a:p>
        </p:txBody>
      </p:sp>
      <p:sp>
        <p:nvSpPr>
          <p:cNvPr id="7" name="Rect 7"/>
          <p:cNvSpPr/>
          <p:nvPr/>
        </p:nvSpPr>
        <p:spPr>
          <a:xfrm>
            <a:off x="1000125" y="4191000"/>
            <a:ext cx="1676400" cy="323850"/>
          </a:xfrm>
          <a:prstGeom prst="roundRect">
            <a:avLst/>
          </a:prstGeom>
          <a:solidFill>
            <a:srgbClr val="00A878"/>
          </a:solidFill>
          <a:ln>
            <a:noFill/>
          </a:ln>
        </p:spPr>
        <p:txBody>
          <a:bodyPr wrap="square" anchor="ctr" lIns="45720" tIns="27432" rIns="45720" bIns="27432">
            <a:normAutofit/>
          </a:bodyPr>
          <a:lstStyle/>
          <a:p>
            <a:pPr marL="0" indent="0" algn="ctr">
              <a:buNone/>
            </a:pPr>
            <a:r>
              <a:rPr lang="en-US" sz="1100" b="1" dirty="0">
                <a:solidFill>
                  <a:srgbClr val="FFFFFF"/>
                </a:solidFill>
                <a:latin typeface="Calibri"/>
                <a:cs typeface="Calibri"/>
              </a:rPr>
              <a:t>Chronic Kidney Disease</a:t>
            </a:r>
          </a:p>
        </p:txBody>
      </p:sp>
      <p:sp>
        <p:nvSpPr>
          <p:cNvPr id="8" name="Rect 8"/>
          <p:cNvSpPr/>
          <p:nvPr/>
        </p:nvSpPr>
        <p:spPr>
          <a:xfrm>
            <a:off x="2771775" y="4191000"/>
            <a:ext cx="1600200" cy="323850"/>
          </a:xfrm>
          <a:prstGeom prst="roundRect">
            <a:avLst/>
          </a:prstGeom>
          <a:solidFill>
            <a:srgbClr val="00A878"/>
          </a:solidFill>
          <a:ln>
            <a:noFill/>
          </a:ln>
        </p:spPr>
        <p:txBody>
          <a:bodyPr wrap="square" anchor="ctr" lIns="45720" tIns="27432" rIns="45720" bIns="27432">
            <a:normAutofit/>
          </a:bodyPr>
          <a:lstStyle/>
          <a:p>
            <a:pPr marL="0" indent="0" algn="ctr">
              <a:buNone/>
            </a:pPr>
            <a:r>
              <a:rPr lang="en-US" sz="1100" b="1" dirty="0">
                <a:solidFill>
                  <a:srgbClr val="FFFFFF"/>
                </a:solidFill>
                <a:latin typeface="Calibri"/>
                <a:cs typeface="Calibri"/>
              </a:rPr>
              <a:t>Diabetic Nephropathy</a:t>
            </a:r>
          </a:p>
        </p:txBody>
      </p:sp>
      <p:sp>
        <p:nvSpPr>
          <p:cNvPr id="9" name="Rect 9"/>
          <p:cNvSpPr/>
          <p:nvPr/>
        </p:nvSpPr>
        <p:spPr>
          <a:xfrm>
            <a:off x="4467225" y="4191000"/>
            <a:ext cx="1600200" cy="323850"/>
          </a:xfrm>
          <a:prstGeom prst="roundRect">
            <a:avLst/>
          </a:prstGeom>
          <a:solidFill>
            <a:srgbClr val="00A878"/>
          </a:solidFill>
          <a:ln>
            <a:noFill/>
          </a:ln>
        </p:spPr>
        <p:txBody>
          <a:bodyPr wrap="square" anchor="ctr" lIns="45720" tIns="27432" rIns="45720" bIns="27432">
            <a:normAutofit/>
          </a:bodyPr>
          <a:lstStyle/>
          <a:p>
            <a:pPr marL="0" indent="0" algn="ctr">
              <a:buNone/>
            </a:pPr>
            <a:r>
              <a:rPr lang="en-US" sz="1100" b="1" dirty="0">
                <a:solidFill>
                  <a:srgbClr val="FFFFFF"/>
                </a:solidFill>
                <a:latin typeface="Calibri"/>
                <a:cs typeface="Calibri"/>
              </a:rPr>
              <a:t>Longitudinal Analysis</a:t>
            </a:r>
          </a:p>
        </p:txBody>
      </p:sp>
      <p:sp>
        <p:nvSpPr>
          <p:cNvPr id="10" name="Rect 10"/>
          <p:cNvSpPr/>
          <p:nvPr/>
        </p:nvSpPr>
        <p:spPr>
          <a:xfrm>
            <a:off x="6162675" y="4191000"/>
            <a:ext cx="1428750" cy="323850"/>
          </a:xfrm>
          <a:prstGeom prst="roundRect">
            <a:avLst/>
          </a:prstGeom>
          <a:solidFill>
            <a:srgbClr val="00A878"/>
          </a:solidFill>
          <a:ln>
            <a:noFill/>
          </a:ln>
        </p:spPr>
        <p:txBody>
          <a:bodyPr wrap="square" anchor="ctr" lIns="45720" tIns="27432" rIns="45720" bIns="27432">
            <a:normAutofit/>
          </a:bodyPr>
          <a:lstStyle/>
          <a:p>
            <a:pPr marL="0" indent="0" algn="ctr">
              <a:buNone/>
            </a:pPr>
            <a:r>
              <a:rPr lang="en-US" sz="1100" b="1" dirty="0">
                <a:solidFill>
                  <a:srgbClr val="FFFFFF"/>
                </a:solidFill>
                <a:latin typeface="Calibri"/>
                <a:cs typeface="Calibri"/>
              </a:rPr>
              <a:t>Machine Learning</a:t>
            </a:r>
          </a:p>
        </p:txBody>
      </p:sp>
      <p:sp>
        <p:nvSpPr>
          <p:cNvPr id="11" name="Rect 11"/>
          <p:cNvSpPr/>
          <p:nvPr/>
        </p:nvSpPr>
        <p:spPr>
          <a:xfrm>
            <a:off x="7686675" y="4191000"/>
            <a:ext cx="1600200" cy="323850"/>
          </a:xfrm>
          <a:prstGeom prst="roundRect">
            <a:avLst/>
          </a:prstGeom>
          <a:solidFill>
            <a:srgbClr val="00A878"/>
          </a:solidFill>
          <a:ln>
            <a:noFill/>
          </a:ln>
        </p:spPr>
        <p:txBody>
          <a:bodyPr wrap="square" anchor="ctr" lIns="45720" tIns="27432" rIns="45720" bIns="27432">
            <a:normAutofit/>
          </a:bodyPr>
          <a:lstStyle/>
          <a:p>
            <a:pPr marL="0" indent="0" algn="ctr">
              <a:buNone/>
            </a:pPr>
            <a:r>
              <a:rPr lang="en-US" sz="1100" b="1" dirty="0">
                <a:solidFill>
                  <a:srgbClr val="FFFFFF"/>
                </a:solidFill>
                <a:latin typeface="Calibri"/>
                <a:cs typeface="Calibri"/>
              </a:rPr>
              <a:t>Primary Health Care</a:t>
            </a:r>
          </a:p>
        </p:txBody>
      </p:sp>
      <p:sp>
        <p:nvSpPr>
          <p:cNvPr id="12" name="Rect 12"/>
          <p:cNvSpPr/>
          <p:nvPr/>
        </p:nvSpPr>
        <p:spPr>
          <a:xfrm>
            <a:off x="9382125" y="4191000"/>
            <a:ext cx="1809750" cy="323850"/>
          </a:xfrm>
          <a:prstGeom prst="roundRect">
            <a:avLst/>
          </a:prstGeom>
          <a:solidFill>
            <a:srgbClr val="00A878"/>
          </a:solidFill>
          <a:ln>
            <a:noFill/>
          </a:ln>
        </p:spPr>
        <p:txBody>
          <a:bodyPr wrap="square" anchor="ctr" lIns="45720" tIns="27432" rIns="45720" bIns="27432">
            <a:normAutofit/>
          </a:bodyPr>
          <a:lstStyle/>
          <a:p>
            <a:pPr marL="0" indent="0" algn="ctr">
              <a:buNone/>
            </a:pPr>
            <a:r>
              <a:rPr lang="en-US" sz="1100" b="1" dirty="0">
                <a:solidFill>
                  <a:srgbClr val="FFFFFF"/>
                </a:solidFill>
                <a:latin typeface="Calibri"/>
                <a:cs typeface="Calibri"/>
              </a:rPr>
              <a:t>Clinical Decision Support</a:t>
            </a:r>
          </a:p>
        </p:txBody>
      </p:sp>
      <p:cxnSp>
        <p:nvCxnSpPr>
          <p:cNvPr id="13" name="Line 13"/>
          <p:cNvCxnSpPr/>
          <p:nvPr/>
        </p:nvCxnSpPr>
        <p:spPr>
          <a:xfrm flipH="0" flipV="0">
            <a:off x="533400" y="6667500"/>
            <a:ext cx="11125200" cy="9525"/>
          </a:xfrm>
          <a:prstGeom prst="line">
            <a:avLst/>
          </a:prstGeom>
          <a:ln w="12700">
            <a:solidFill>
              <a:srgbClr val="E3E7E9"/>
            </a:solidFill>
          </a:ln>
        </p:spPr>
      </p:cxnSp>
      <p:sp>
        <p:nvSpPr>
          <p:cNvPr id="14" name="TextBox 14"/>
          <p:cNvSpPr txBox="1"/>
          <p:nvPr/>
        </p:nvSpPr>
        <p:spPr>
          <a:xfrm>
            <a:off x="533400" y="6705600"/>
            <a:ext cx="8572500" cy="190500"/>
          </a:xfrm>
          <a:prstGeom prst="rect">
            <a:avLst/>
          </a:prstGeom>
          <a:noFill/>
        </p:spPr>
        <p:txBody>
          <a:bodyPr wrap="square" anchor="t" lIns="0" tIns="0" rIns="0" bIns="0">
            <a:noAutofit/>
          </a:bodyPr>
          <a:lstStyle/>
          <a:p>
            <a:pPr marL="0" indent="0" algn="l">
              <a:buNone/>
            </a:pPr>
            <a:r>
              <a:rPr lang="en-US" sz="850" dirty="0">
                <a:solidFill>
                  <a:srgbClr val="7A8B99"/>
                </a:solidFill>
                <a:latin typeface="Calibri"/>
                <a:cs typeface="Calibri"/>
              </a:rPr>
              <a:t>NephroAlert | ACS-AMRI Seed Grant Proposal 2026 | Dr. MGR Educational and Research Institute, Chennai</a:t>
            </a:r>
          </a:p>
        </p:txBody>
      </p:sp>
      <p:sp>
        <p:nvSpPr>
          <p:cNvPr id="15" name="TextBox 15"/>
          <p:cNvSpPr txBox="1"/>
          <p:nvPr/>
        </p:nvSpPr>
        <p:spPr>
          <a:xfrm>
            <a:off x="11277600" y="6667500"/>
            <a:ext cx="381000" cy="190500"/>
          </a:xfrm>
          <a:prstGeom prst="rect">
            <a:avLst/>
          </a:prstGeom>
          <a:noFill/>
        </p:spPr>
        <p:txBody>
          <a:bodyPr wrap="square" anchor="t" lIns="0" tIns="0" rIns="0" bIns="0">
            <a:noAutofit/>
          </a:bodyPr>
          <a:lstStyle/>
          <a:p>
            <a:pPr marL="0" indent="0" algn="r">
              <a:buNone/>
            </a:pPr>
            <a:r>
              <a:rPr lang="en-US" sz="1100" b="1" dirty="0">
                <a:solidFill>
                  <a:srgbClr val="1B4F72"/>
                </a:solidFill>
                <a:latin typeface="Calibri"/>
                <a:cs typeface="Calibri"/>
              </a:rPr>
              <a:t>2</a:t>
            </a:r>
          </a:p>
        </p:txBody>
      </p:sp>
    </p:spTree>
  </p:cSld>
  <p:clrMapOvr>
    <a:overrideClrMapping bg1="lt1" tx1="dk1" bg2="lt2" tx2="dk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2"/>
          <p:cNvSpPr txBox="1"/>
          <p:nvPr/>
        </p:nvSpPr>
        <p:spPr>
          <a:xfrm>
            <a:off x="533400" y="285750"/>
            <a:ext cx="11125200" cy="381000"/>
          </a:xfrm>
          <a:prstGeom prst="rect">
            <a:avLst/>
          </a:prstGeom>
          <a:noFill/>
        </p:spPr>
        <p:txBody>
          <a:bodyPr wrap="square" anchor="t" lIns="0" tIns="0" rIns="0" bIns="0">
            <a:noAutofit/>
          </a:bodyPr>
          <a:lstStyle/>
          <a:p>
            <a:pPr marL="0" indent="0" algn="l">
              <a:buNone/>
            </a:pPr>
            <a:r>
              <a:rPr lang="en-US" sz="2500" b="1" dirty="0">
                <a:solidFill>
                  <a:srgbClr val="1B4F72"/>
                </a:solidFill>
                <a:latin typeface="Calibri"/>
                <a:cs typeface="Calibri"/>
              </a:rPr>
              <a:t>The Silent Crisis Nobody Is Tracking</a:t>
            </a:r>
          </a:p>
        </p:txBody>
      </p:sp>
      <p:sp>
        <p:nvSpPr>
          <p:cNvPr id="3" name="Rect 3"/>
          <p:cNvSpPr/>
          <p:nvPr/>
        </p:nvSpPr>
        <p:spPr>
          <a:xfrm>
            <a:off x="533400" y="666750"/>
            <a:ext cx="609600" cy="47625"/>
          </a:xfrm>
          <a:prstGeom prst="roundRect">
            <a:avLst/>
          </a:prstGeom>
          <a:solidFill>
            <a:srgbClr val="00A878"/>
          </a:solidFill>
          <a:ln>
            <a:noFill/>
          </a:ln>
        </p:spPr>
        <p:txBody>
          <a:bodyPr/>
          <a:lstStyle/>
          <a:p/>
        </p:txBody>
      </p:sp>
      <p:sp>
        <p:nvSpPr>
          <p:cNvPr id="4" name="TextBox 4"/>
          <p:cNvSpPr txBox="1"/>
          <p:nvPr/>
        </p:nvSpPr>
        <p:spPr>
          <a:xfrm>
            <a:off x="533400" y="914400"/>
            <a:ext cx="6286500" cy="190500"/>
          </a:xfrm>
          <a:prstGeom prst="rect">
            <a:avLst/>
          </a:prstGeom>
          <a:noFill/>
        </p:spPr>
        <p:txBody>
          <a:bodyPr wrap="square" anchor="t" lIns="0" tIns="0" rIns="0" bIns="0">
            <a:noAutofit/>
          </a:bodyPr>
          <a:lstStyle/>
          <a:p>
            <a:pPr marL="0" indent="0" algn="l">
              <a:buNone/>
            </a:pPr>
            <a:r>
              <a:rPr lang="en-US" sz="1200" b="1" dirty="0">
                <a:solidFill>
                  <a:srgbClr val="1B4F72"/>
                </a:solidFill>
                <a:latin typeface="Calibri"/>
                <a:cs typeface="Calibri"/>
              </a:rPr>
              <a:t>THE HIDDEN DATA PROBLEM</a:t>
            </a:r>
          </a:p>
        </p:txBody>
      </p:sp>
      <p:sp>
        <p:nvSpPr>
          <p:cNvPr id="5" name="Rect 5"/>
          <p:cNvSpPr/>
          <p:nvPr/>
        </p:nvSpPr>
        <p:spPr>
          <a:xfrm>
            <a:off x="533400" y="1162050"/>
            <a:ext cx="6286500" cy="419100"/>
          </a:xfrm>
          <a:prstGeom prst="roundRect">
            <a:avLst/>
          </a:prstGeom>
          <a:solidFill>
            <a:srgbClr val="1B4F72"/>
          </a:solidFill>
          <a:ln>
            <a:noFill/>
          </a:ln>
        </p:spPr>
        <p:txBody>
          <a:bodyPr wrap="square" anchor="ctr" lIns="45720" tIns="27432" rIns="45720" bIns="27432">
            <a:normAutofit/>
          </a:bodyPr>
          <a:lstStyle/>
          <a:p>
            <a:pPr marL="0" indent="0" algn="ctr">
              <a:lnSpc>
                <a:spcPct val="115000"/>
              </a:lnSpc>
              <a:buNone/>
            </a:pPr>
            <a:r>
              <a:rPr lang="en-US" sz="1150" b="1" dirty="0">
                <a:solidFill>
                  <a:srgbClr val="FFFFFF"/>
                </a:solidFill>
                <a:latin typeface="Calibri"/>
                <a:cs typeface="Calibri"/>
              </a:rPr>
              <a:t>Diabetic patient visits PHC every 3 months</a:t>
            </a:r>
          </a:p>
        </p:txBody>
      </p:sp>
      <p:sp>
        <p:nvSpPr>
          <p:cNvPr id="6" name="TextBox 6"/>
          <p:cNvSpPr txBox="1"/>
          <p:nvPr/>
        </p:nvSpPr>
        <p:spPr>
          <a:xfrm>
            <a:off x="3486150" y="1581150"/>
            <a:ext cx="381000" cy="200025"/>
          </a:xfrm>
          <a:prstGeom prst="rect">
            <a:avLst/>
          </a:prstGeom>
          <a:noFill/>
        </p:spPr>
        <p:txBody>
          <a:bodyPr wrap="square" anchor="ctr" lIns="0" tIns="0" rIns="0" bIns="0">
            <a:noAutofit/>
          </a:bodyPr>
          <a:lstStyle/>
          <a:p>
            <a:pPr marL="0" indent="0" algn="ctr">
              <a:buNone/>
            </a:pPr>
            <a:r>
              <a:rPr lang="en-US" sz="1500" b="1" dirty="0">
                <a:solidFill>
                  <a:srgbClr val="1B4F72"/>
                </a:solidFill>
                <a:latin typeface="Calibri"/>
                <a:cs typeface="Calibri"/>
              </a:rPr>
              <a:t>▼</a:t>
            </a:r>
          </a:p>
        </p:txBody>
      </p:sp>
      <p:sp>
        <p:nvSpPr>
          <p:cNvPr id="7" name="Rect 7"/>
          <p:cNvSpPr/>
          <p:nvPr/>
        </p:nvSpPr>
        <p:spPr>
          <a:xfrm>
            <a:off x="533400" y="1809750"/>
            <a:ext cx="6286500" cy="419100"/>
          </a:xfrm>
          <a:prstGeom prst="roundRect">
            <a:avLst/>
          </a:prstGeom>
          <a:solidFill>
            <a:srgbClr val="1B4F72"/>
          </a:solidFill>
          <a:ln>
            <a:noFill/>
          </a:ln>
        </p:spPr>
        <p:txBody>
          <a:bodyPr wrap="square" anchor="ctr" lIns="45720" tIns="27432" rIns="45720" bIns="27432">
            <a:normAutofit/>
          </a:bodyPr>
          <a:lstStyle/>
          <a:p>
            <a:pPr marL="0" indent="0" algn="ctr">
              <a:lnSpc>
                <a:spcPct val="115000"/>
              </a:lnSpc>
              <a:buNone/>
            </a:pPr>
            <a:r>
              <a:rPr lang="en-US" sz="1150" b="1" dirty="0">
                <a:solidFill>
                  <a:srgbClr val="FFFFFF"/>
                </a:solidFill>
                <a:latin typeface="Calibri"/>
                <a:cs typeface="Calibri"/>
              </a:rPr>
              <a:t>Blood tests collected: Creatinine, eGFR, HbA1c, Urea, ACR, BP</a:t>
            </a:r>
          </a:p>
        </p:txBody>
      </p:sp>
      <p:sp>
        <p:nvSpPr>
          <p:cNvPr id="8" name="TextBox 8"/>
          <p:cNvSpPr txBox="1"/>
          <p:nvPr/>
        </p:nvSpPr>
        <p:spPr>
          <a:xfrm>
            <a:off x="3486150" y="2228850"/>
            <a:ext cx="381000" cy="200025"/>
          </a:xfrm>
          <a:prstGeom prst="rect">
            <a:avLst/>
          </a:prstGeom>
          <a:noFill/>
        </p:spPr>
        <p:txBody>
          <a:bodyPr wrap="square" anchor="ctr" lIns="0" tIns="0" rIns="0" bIns="0">
            <a:noAutofit/>
          </a:bodyPr>
          <a:lstStyle/>
          <a:p>
            <a:pPr marL="0" indent="0" algn="ctr">
              <a:buNone/>
            </a:pPr>
            <a:r>
              <a:rPr lang="en-US" sz="1500" b="1" dirty="0">
                <a:solidFill>
                  <a:srgbClr val="1B4F72"/>
                </a:solidFill>
                <a:latin typeface="Calibri"/>
                <a:cs typeface="Calibri"/>
              </a:rPr>
              <a:t>▼</a:t>
            </a:r>
          </a:p>
        </p:txBody>
      </p:sp>
      <p:sp>
        <p:nvSpPr>
          <p:cNvPr id="9" name="Rect 9"/>
          <p:cNvSpPr/>
          <p:nvPr/>
        </p:nvSpPr>
        <p:spPr>
          <a:xfrm>
            <a:off x="533400" y="2457450"/>
            <a:ext cx="6286500" cy="419100"/>
          </a:xfrm>
          <a:prstGeom prst="roundRect">
            <a:avLst/>
          </a:prstGeom>
          <a:solidFill>
            <a:srgbClr val="E67E22"/>
          </a:solidFill>
          <a:ln>
            <a:noFill/>
          </a:ln>
        </p:spPr>
        <p:txBody>
          <a:bodyPr wrap="square" anchor="ctr" lIns="45720" tIns="27432" rIns="45720" bIns="27432">
            <a:normAutofit/>
          </a:bodyPr>
          <a:lstStyle/>
          <a:p>
            <a:pPr marL="0" indent="0" algn="ctr">
              <a:lnSpc>
                <a:spcPct val="115000"/>
              </a:lnSpc>
              <a:buNone/>
            </a:pPr>
            <a:r>
              <a:rPr lang="en-US" sz="1150" b="1" dirty="0">
                <a:solidFill>
                  <a:srgbClr val="FFFFFF"/>
                </a:solidFill>
                <a:latin typeface="Calibri"/>
                <a:cs typeface="Calibri"/>
              </a:rPr>
              <a:t>Doctor evaluates ONLY today's values in isolation</a:t>
            </a:r>
          </a:p>
        </p:txBody>
      </p:sp>
      <p:sp>
        <p:nvSpPr>
          <p:cNvPr id="10" name="TextBox 10"/>
          <p:cNvSpPr txBox="1"/>
          <p:nvPr/>
        </p:nvSpPr>
        <p:spPr>
          <a:xfrm>
            <a:off x="3486150" y="2876550"/>
            <a:ext cx="381000" cy="200025"/>
          </a:xfrm>
          <a:prstGeom prst="rect">
            <a:avLst/>
          </a:prstGeom>
          <a:noFill/>
        </p:spPr>
        <p:txBody>
          <a:bodyPr wrap="square" anchor="ctr" lIns="0" tIns="0" rIns="0" bIns="0">
            <a:noAutofit/>
          </a:bodyPr>
          <a:lstStyle/>
          <a:p>
            <a:pPr marL="0" indent="0" algn="ctr">
              <a:buNone/>
            </a:pPr>
            <a:r>
              <a:rPr lang="en-US" sz="1500" b="1" dirty="0">
                <a:solidFill>
                  <a:srgbClr val="1B4F72"/>
                </a:solidFill>
                <a:latin typeface="Calibri"/>
                <a:cs typeface="Calibri"/>
              </a:rPr>
              <a:t>▼</a:t>
            </a:r>
          </a:p>
        </p:txBody>
      </p:sp>
      <p:sp>
        <p:nvSpPr>
          <p:cNvPr id="11" name="Rect 11"/>
          <p:cNvSpPr/>
          <p:nvPr/>
        </p:nvSpPr>
        <p:spPr>
          <a:xfrm>
            <a:off x="533400" y="3105150"/>
            <a:ext cx="6286500" cy="419100"/>
          </a:xfrm>
          <a:prstGeom prst="roundRect">
            <a:avLst/>
          </a:prstGeom>
          <a:solidFill>
            <a:srgbClr val="C0392B"/>
          </a:solidFill>
          <a:ln>
            <a:noFill/>
          </a:ln>
        </p:spPr>
        <p:txBody>
          <a:bodyPr wrap="square" anchor="ctr" lIns="45720" tIns="27432" rIns="45720" bIns="27432">
            <a:normAutofit/>
          </a:bodyPr>
          <a:lstStyle/>
          <a:p>
            <a:pPr marL="0" indent="0" algn="ctr">
              <a:lnSpc>
                <a:spcPct val="115000"/>
              </a:lnSpc>
              <a:buNone/>
            </a:pPr>
            <a:r>
              <a:rPr lang="en-US" sz="1150" b="1" dirty="0">
                <a:solidFill>
                  <a:srgbClr val="FFFFFF"/>
                </a:solidFill>
                <a:latin typeface="Calibri"/>
                <a:cs typeface="Calibri"/>
              </a:rPr>
              <a:t>Dangerous trajectory missed for 4–6 months</a:t>
            </a:r>
          </a:p>
        </p:txBody>
      </p:sp>
      <p:sp>
        <p:nvSpPr>
          <p:cNvPr id="12" name="TextBox 12"/>
          <p:cNvSpPr txBox="1"/>
          <p:nvPr/>
        </p:nvSpPr>
        <p:spPr>
          <a:xfrm>
            <a:off x="3486150" y="3524250"/>
            <a:ext cx="381000" cy="200025"/>
          </a:xfrm>
          <a:prstGeom prst="rect">
            <a:avLst/>
          </a:prstGeom>
          <a:noFill/>
        </p:spPr>
        <p:txBody>
          <a:bodyPr wrap="square" anchor="ctr" lIns="0" tIns="0" rIns="0" bIns="0">
            <a:noAutofit/>
          </a:bodyPr>
          <a:lstStyle/>
          <a:p>
            <a:pPr marL="0" indent="0" algn="ctr">
              <a:buNone/>
            </a:pPr>
            <a:r>
              <a:rPr lang="en-US" sz="1500" b="1" dirty="0">
                <a:solidFill>
                  <a:srgbClr val="1B4F72"/>
                </a:solidFill>
                <a:latin typeface="Calibri"/>
                <a:cs typeface="Calibri"/>
              </a:rPr>
              <a:t>▼</a:t>
            </a:r>
          </a:p>
        </p:txBody>
      </p:sp>
      <p:sp>
        <p:nvSpPr>
          <p:cNvPr id="13" name="Rect 13"/>
          <p:cNvSpPr/>
          <p:nvPr/>
        </p:nvSpPr>
        <p:spPr>
          <a:xfrm>
            <a:off x="533400" y="3752850"/>
            <a:ext cx="6286500" cy="419100"/>
          </a:xfrm>
          <a:prstGeom prst="roundRect">
            <a:avLst/>
          </a:prstGeom>
          <a:solidFill>
            <a:srgbClr val="7A1E14"/>
          </a:solidFill>
          <a:ln>
            <a:noFill/>
          </a:ln>
        </p:spPr>
        <p:txBody>
          <a:bodyPr wrap="square" anchor="ctr" lIns="45720" tIns="27432" rIns="45720" bIns="27432">
            <a:normAutofit/>
          </a:bodyPr>
          <a:lstStyle/>
          <a:p>
            <a:pPr marL="0" indent="0" algn="ctr">
              <a:lnSpc>
                <a:spcPct val="115000"/>
              </a:lnSpc>
              <a:buNone/>
            </a:pPr>
            <a:r>
              <a:rPr lang="en-US" sz="1150" b="1" dirty="0">
                <a:solidFill>
                  <a:srgbClr val="FFFFFF"/>
                </a:solidFill>
                <a:latin typeface="Calibri"/>
                <a:cs typeface="Calibri"/>
              </a:rPr>
              <a:t>CKD detected at Stage 4 — irreversible damage done</a:t>
            </a:r>
          </a:p>
        </p:txBody>
      </p:sp>
      <p:sp>
        <p:nvSpPr>
          <p:cNvPr id="14" name="TextBox 14"/>
          <p:cNvSpPr txBox="1"/>
          <p:nvPr/>
        </p:nvSpPr>
        <p:spPr>
          <a:xfrm>
            <a:off x="7105650" y="914400"/>
            <a:ext cx="4552950" cy="190500"/>
          </a:xfrm>
          <a:prstGeom prst="rect">
            <a:avLst/>
          </a:prstGeom>
          <a:noFill/>
        </p:spPr>
        <p:txBody>
          <a:bodyPr wrap="square" anchor="t" lIns="0" tIns="0" rIns="0" bIns="0">
            <a:noAutofit/>
          </a:bodyPr>
          <a:lstStyle/>
          <a:p>
            <a:pPr marL="0" indent="0" algn="l">
              <a:buNone/>
            </a:pPr>
            <a:r>
              <a:rPr lang="en-US" sz="1200" b="1" dirty="0">
                <a:solidFill>
                  <a:srgbClr val="1B4F72"/>
                </a:solidFill>
                <a:latin typeface="Calibri"/>
                <a:cs typeface="Calibri"/>
              </a:rPr>
              <a:t>THE NUMBERS</a:t>
            </a:r>
          </a:p>
        </p:txBody>
      </p:sp>
      <p:sp>
        <p:nvSpPr>
          <p:cNvPr id="15" name="Rect 15"/>
          <p:cNvSpPr/>
          <p:nvPr/>
        </p:nvSpPr>
        <p:spPr>
          <a:xfrm>
            <a:off x="7105650" y="1162050"/>
            <a:ext cx="1548003" cy="590550"/>
          </a:xfrm>
          <a:prstGeom prst="rect">
            <a:avLst/>
          </a:prstGeom>
          <a:solidFill>
            <a:srgbClr val="C0392B"/>
          </a:solidFill>
          <a:ln>
            <a:noFill/>
          </a:ln>
        </p:spPr>
        <p:txBody>
          <a:bodyPr wrap="square" anchor="ctr" lIns="45720" tIns="27432" rIns="45720" bIns="27432">
            <a:normAutofit/>
          </a:bodyPr>
          <a:lstStyle/>
          <a:p>
            <a:pPr marL="0" indent="0" algn="l">
              <a:buNone/>
            </a:pPr>
            <a:r>
              <a:rPr lang="en-US" sz="2200" b="1" dirty="0">
                <a:solidFill>
                  <a:srgbClr val="FFFFFF"/>
                </a:solidFill>
                <a:latin typeface="Calibri"/>
                <a:cs typeface="Calibri"/>
              </a:rPr>
              <a:t>17%</a:t>
            </a:r>
          </a:p>
        </p:txBody>
      </p:sp>
      <p:sp>
        <p:nvSpPr>
          <p:cNvPr id="16" name="Rect 16"/>
          <p:cNvSpPr/>
          <p:nvPr/>
        </p:nvSpPr>
        <p:spPr>
          <a:xfrm>
            <a:off x="8653653" y="1162050"/>
            <a:ext cx="3004947" cy="590550"/>
          </a:xfrm>
          <a:prstGeom prst="rect">
            <a:avLst/>
          </a:prstGeom>
          <a:solidFill>
            <a:srgbClr val="C0392B"/>
          </a:solidFill>
          <a:ln>
            <a:noFill/>
          </a:ln>
        </p:spPr>
        <p:txBody>
          <a:bodyPr wrap="square" anchor="ctr" lIns="45720" tIns="27432" rIns="45720" bIns="27432">
            <a:normAutofit/>
          </a:bodyPr>
          <a:lstStyle/>
          <a:p>
            <a:pPr marL="0" indent="0" algn="l">
              <a:lnSpc>
                <a:spcPct val="105000"/>
              </a:lnSpc>
              <a:buNone/>
            </a:pPr>
            <a:r>
              <a:rPr lang="en-US" sz="950" dirty="0">
                <a:solidFill>
                  <a:srgbClr val="FFFFFF"/>
                </a:solidFill>
                <a:latin typeface="Calibri"/>
                <a:cs typeface="Calibri"/>
              </a:rPr>
              <a:t>of Indian adults have CKD</a:t>
            </a:r>
          </a:p>
        </p:txBody>
      </p:sp>
      <p:sp>
        <p:nvSpPr>
          <p:cNvPr id="17" name="Rect 17"/>
          <p:cNvSpPr/>
          <p:nvPr/>
        </p:nvSpPr>
        <p:spPr>
          <a:xfrm>
            <a:off x="7105650" y="1847850"/>
            <a:ext cx="1548003" cy="590550"/>
          </a:xfrm>
          <a:prstGeom prst="rect">
            <a:avLst/>
          </a:prstGeom>
          <a:solidFill>
            <a:srgbClr val="E67E22"/>
          </a:solidFill>
          <a:ln>
            <a:noFill/>
          </a:ln>
        </p:spPr>
        <p:txBody>
          <a:bodyPr wrap="square" anchor="ctr" lIns="45720" tIns="27432" rIns="45720" bIns="27432">
            <a:normAutofit/>
          </a:bodyPr>
          <a:lstStyle/>
          <a:p>
            <a:pPr marL="0" indent="0" algn="l">
              <a:buNone/>
            </a:pPr>
            <a:r>
              <a:rPr lang="en-US" sz="2200" b="1" dirty="0">
                <a:solidFill>
                  <a:srgbClr val="FFFFFF"/>
                </a:solidFill>
                <a:latin typeface="Calibri"/>
                <a:cs typeface="Calibri"/>
              </a:rPr>
              <a:t>40%</a:t>
            </a:r>
          </a:p>
        </p:txBody>
      </p:sp>
      <p:sp>
        <p:nvSpPr>
          <p:cNvPr id="18" name="Rect 18"/>
          <p:cNvSpPr/>
          <p:nvPr/>
        </p:nvSpPr>
        <p:spPr>
          <a:xfrm>
            <a:off x="8653653" y="1847850"/>
            <a:ext cx="3004947" cy="590550"/>
          </a:xfrm>
          <a:prstGeom prst="rect">
            <a:avLst/>
          </a:prstGeom>
          <a:solidFill>
            <a:srgbClr val="E67E22"/>
          </a:solidFill>
          <a:ln>
            <a:noFill/>
          </a:ln>
        </p:spPr>
        <p:txBody>
          <a:bodyPr wrap="square" anchor="ctr" lIns="45720" tIns="27432" rIns="45720" bIns="27432">
            <a:normAutofit/>
          </a:bodyPr>
          <a:lstStyle/>
          <a:p>
            <a:pPr marL="0" indent="0" algn="l">
              <a:lnSpc>
                <a:spcPct val="105000"/>
              </a:lnSpc>
              <a:buNone/>
            </a:pPr>
            <a:r>
              <a:rPr lang="en-US" sz="950" dirty="0">
                <a:solidFill>
                  <a:srgbClr val="FFFFFF"/>
                </a:solidFill>
                <a:latin typeface="Calibri"/>
                <a:cs typeface="Calibri"/>
              </a:rPr>
              <a:t>of CKD cases caused by diabetes</a:t>
            </a:r>
          </a:p>
        </p:txBody>
      </p:sp>
      <p:sp>
        <p:nvSpPr>
          <p:cNvPr id="19" name="Rect 19"/>
          <p:cNvSpPr/>
          <p:nvPr/>
        </p:nvSpPr>
        <p:spPr>
          <a:xfrm>
            <a:off x="7105650" y="2533650"/>
            <a:ext cx="1548003" cy="590550"/>
          </a:xfrm>
          <a:prstGeom prst="rect">
            <a:avLst/>
          </a:prstGeom>
          <a:solidFill>
            <a:srgbClr val="34495E"/>
          </a:solidFill>
          <a:ln>
            <a:noFill/>
          </a:ln>
        </p:spPr>
        <p:txBody>
          <a:bodyPr wrap="square" anchor="ctr" lIns="45720" tIns="27432" rIns="45720" bIns="27432">
            <a:normAutofit/>
          </a:bodyPr>
          <a:lstStyle/>
          <a:p>
            <a:pPr marL="0" indent="0" algn="l">
              <a:buNone/>
            </a:pPr>
            <a:r>
              <a:rPr lang="en-US" sz="2200" b="1" dirty="0">
                <a:solidFill>
                  <a:srgbClr val="FFFFFF"/>
                </a:solidFill>
                <a:latin typeface="Calibri"/>
                <a:cs typeface="Calibri"/>
              </a:rPr>
              <a:t>85%</a:t>
            </a:r>
          </a:p>
        </p:txBody>
      </p:sp>
      <p:sp>
        <p:nvSpPr>
          <p:cNvPr id="20" name="Rect 20"/>
          <p:cNvSpPr/>
          <p:nvPr/>
        </p:nvSpPr>
        <p:spPr>
          <a:xfrm>
            <a:off x="8653653" y="2533650"/>
            <a:ext cx="3004947" cy="590550"/>
          </a:xfrm>
          <a:prstGeom prst="rect">
            <a:avLst/>
          </a:prstGeom>
          <a:solidFill>
            <a:srgbClr val="34495E"/>
          </a:solidFill>
          <a:ln>
            <a:noFill/>
          </a:ln>
        </p:spPr>
        <p:txBody>
          <a:bodyPr wrap="square" anchor="ctr" lIns="45720" tIns="27432" rIns="45720" bIns="27432">
            <a:normAutofit/>
          </a:bodyPr>
          <a:lstStyle/>
          <a:p>
            <a:pPr marL="0" indent="0" algn="l">
              <a:lnSpc>
                <a:spcPct val="105000"/>
              </a:lnSpc>
              <a:buNone/>
            </a:pPr>
            <a:r>
              <a:rPr lang="en-US" sz="950" dirty="0">
                <a:solidFill>
                  <a:srgbClr val="FFFFFF"/>
                </a:solidFill>
                <a:latin typeface="Calibri"/>
                <a:cs typeface="Calibri"/>
              </a:rPr>
              <a:t>shortage of nephrologists in rural India</a:t>
            </a:r>
          </a:p>
        </p:txBody>
      </p:sp>
      <p:sp>
        <p:nvSpPr>
          <p:cNvPr id="21" name="Rect 21"/>
          <p:cNvSpPr/>
          <p:nvPr/>
        </p:nvSpPr>
        <p:spPr>
          <a:xfrm>
            <a:off x="7105650" y="3219450"/>
            <a:ext cx="1548003" cy="590550"/>
          </a:xfrm>
          <a:prstGeom prst="rect">
            <a:avLst/>
          </a:prstGeom>
          <a:solidFill>
            <a:srgbClr val="1B4F72"/>
          </a:solidFill>
          <a:ln>
            <a:noFill/>
          </a:ln>
        </p:spPr>
        <p:txBody>
          <a:bodyPr wrap="square" anchor="ctr" lIns="45720" tIns="27432" rIns="45720" bIns="27432">
            <a:normAutofit/>
          </a:bodyPr>
          <a:lstStyle/>
          <a:p>
            <a:pPr marL="0" indent="0" algn="l">
              <a:buNone/>
            </a:pPr>
            <a:r>
              <a:rPr lang="en-US" sz="2200" b="1" dirty="0">
                <a:solidFill>
                  <a:srgbClr val="FFFFFF"/>
                </a:solidFill>
                <a:latin typeface="Calibri"/>
                <a:cs typeface="Calibri"/>
              </a:rPr>
              <a:t>4–6 mo</a:t>
            </a:r>
          </a:p>
        </p:txBody>
      </p:sp>
      <p:sp>
        <p:nvSpPr>
          <p:cNvPr id="22" name="Rect 22"/>
          <p:cNvSpPr/>
          <p:nvPr/>
        </p:nvSpPr>
        <p:spPr>
          <a:xfrm>
            <a:off x="8653653" y="3219450"/>
            <a:ext cx="3004947" cy="590550"/>
          </a:xfrm>
          <a:prstGeom prst="rect">
            <a:avLst/>
          </a:prstGeom>
          <a:solidFill>
            <a:srgbClr val="1B4F72"/>
          </a:solidFill>
          <a:ln>
            <a:noFill/>
          </a:ln>
        </p:spPr>
        <p:txBody>
          <a:bodyPr wrap="square" anchor="ctr" lIns="45720" tIns="27432" rIns="45720" bIns="27432">
            <a:normAutofit/>
          </a:bodyPr>
          <a:lstStyle/>
          <a:p>
            <a:pPr marL="0" indent="0" algn="l">
              <a:lnSpc>
                <a:spcPct val="105000"/>
              </a:lnSpc>
              <a:buNone/>
            </a:pPr>
            <a:r>
              <a:rPr lang="en-US" sz="950" dirty="0">
                <a:solidFill>
                  <a:srgbClr val="FFFFFF"/>
                </a:solidFill>
                <a:latin typeface="Calibri"/>
                <a:cs typeface="Calibri"/>
              </a:rPr>
              <a:t>of warning signs go unnoticed</a:t>
            </a:r>
          </a:p>
        </p:txBody>
      </p:sp>
      <p:sp>
        <p:nvSpPr>
          <p:cNvPr id="23" name="Rect 23"/>
          <p:cNvSpPr/>
          <p:nvPr/>
        </p:nvSpPr>
        <p:spPr>
          <a:xfrm>
            <a:off x="533400" y="5810250"/>
            <a:ext cx="11125200" cy="742950"/>
          </a:xfrm>
          <a:prstGeom prst="rect">
            <a:avLst/>
          </a:prstGeom>
          <a:solidFill>
            <a:srgbClr val="EAF3FB"/>
          </a:solidFill>
          <a:ln>
            <a:noFill/>
          </a:ln>
        </p:spPr>
        <p:txBody>
          <a:bodyPr/>
          <a:lstStyle/>
          <a:p/>
        </p:txBody>
      </p:sp>
      <p:sp>
        <p:nvSpPr>
          <p:cNvPr id="24" name="Rect 24"/>
          <p:cNvSpPr/>
          <p:nvPr/>
        </p:nvSpPr>
        <p:spPr>
          <a:xfrm>
            <a:off x="533400" y="5810250"/>
            <a:ext cx="38100" cy="742950"/>
          </a:xfrm>
          <a:prstGeom prst="rect">
            <a:avLst/>
          </a:prstGeom>
          <a:solidFill>
            <a:srgbClr val="00A878"/>
          </a:solidFill>
          <a:ln>
            <a:noFill/>
          </a:ln>
        </p:spPr>
        <p:txBody>
          <a:bodyPr/>
          <a:lstStyle/>
          <a:p/>
        </p:txBody>
      </p:sp>
      <p:sp>
        <p:nvSpPr>
          <p:cNvPr id="25" name="TextBox 25"/>
          <p:cNvSpPr txBox="1"/>
          <p:nvPr/>
        </p:nvSpPr>
        <p:spPr>
          <a:xfrm>
            <a:off x="742950" y="5905500"/>
            <a:ext cx="10706100" cy="552450"/>
          </a:xfrm>
          <a:prstGeom prst="rect">
            <a:avLst/>
          </a:prstGeom>
          <a:noFill/>
        </p:spPr>
        <p:txBody>
          <a:bodyPr wrap="square" anchor="ctr" lIns="0" tIns="0" rIns="0" bIns="0">
            <a:noAutofit/>
          </a:bodyPr>
          <a:lstStyle/>
          <a:p>
            <a:pPr marL="0" indent="0" algn="l">
              <a:lnSpc>
                <a:spcPct val="130000"/>
              </a:lnSpc>
              <a:buNone/>
            </a:pPr>
            <a:r>
              <a:rPr lang="en-US" sz="1250" i="1" dirty="0">
                <a:solidFill>
                  <a:srgbClr val="2C3E50"/>
                </a:solidFill>
                <a:latin typeface="Calibri"/>
                <a:cs typeface="Calibri"/>
              </a:rPr>
              <a:t>A patient whose creatinine rises 0.9 → 1.1 → 1.3 → 1.6 mg/dL across 4 visits has lost 40% of kidney function — yet each individual reading appears “acceptable” to a busy PHC doctor.</a:t>
            </a:r>
          </a:p>
        </p:txBody>
      </p:sp>
      <p:cxnSp>
        <p:nvCxnSpPr>
          <p:cNvPr id="26" name="Line 26"/>
          <p:cNvCxnSpPr/>
          <p:nvPr/>
        </p:nvCxnSpPr>
        <p:spPr>
          <a:xfrm flipH="0" flipV="0">
            <a:off x="533400" y="6667500"/>
            <a:ext cx="11125200" cy="9525"/>
          </a:xfrm>
          <a:prstGeom prst="line">
            <a:avLst/>
          </a:prstGeom>
          <a:ln w="12700">
            <a:solidFill>
              <a:srgbClr val="E3E7E9"/>
            </a:solidFill>
          </a:ln>
        </p:spPr>
      </p:cxnSp>
      <p:sp>
        <p:nvSpPr>
          <p:cNvPr id="27" name="TextBox 27"/>
          <p:cNvSpPr txBox="1"/>
          <p:nvPr/>
        </p:nvSpPr>
        <p:spPr>
          <a:xfrm>
            <a:off x="533400" y="6705600"/>
            <a:ext cx="8572500" cy="190500"/>
          </a:xfrm>
          <a:prstGeom prst="rect">
            <a:avLst/>
          </a:prstGeom>
          <a:noFill/>
        </p:spPr>
        <p:txBody>
          <a:bodyPr wrap="square" anchor="t" lIns="0" tIns="0" rIns="0" bIns="0">
            <a:noAutofit/>
          </a:bodyPr>
          <a:lstStyle/>
          <a:p>
            <a:pPr marL="0" indent="0" algn="l">
              <a:buNone/>
            </a:pPr>
            <a:r>
              <a:rPr lang="en-US" sz="850" dirty="0">
                <a:solidFill>
                  <a:srgbClr val="7A8B99"/>
                </a:solidFill>
                <a:latin typeface="Calibri"/>
                <a:cs typeface="Calibri"/>
              </a:rPr>
              <a:t>NephroAlert | ACS-AMRI Seed Grant Proposal 2026 | Dr. MGR Educational and Research Institute, Chennai</a:t>
            </a:r>
          </a:p>
        </p:txBody>
      </p:sp>
      <p:sp>
        <p:nvSpPr>
          <p:cNvPr id="28" name="TextBox 28"/>
          <p:cNvSpPr txBox="1"/>
          <p:nvPr/>
        </p:nvSpPr>
        <p:spPr>
          <a:xfrm>
            <a:off x="11277600" y="6667500"/>
            <a:ext cx="381000" cy="190500"/>
          </a:xfrm>
          <a:prstGeom prst="rect">
            <a:avLst/>
          </a:prstGeom>
          <a:noFill/>
        </p:spPr>
        <p:txBody>
          <a:bodyPr wrap="square" anchor="t" lIns="0" tIns="0" rIns="0" bIns="0">
            <a:noAutofit/>
          </a:bodyPr>
          <a:lstStyle/>
          <a:p>
            <a:pPr marL="0" indent="0" algn="r">
              <a:buNone/>
            </a:pPr>
            <a:r>
              <a:rPr lang="en-US" sz="1100" b="1" dirty="0">
                <a:solidFill>
                  <a:srgbClr val="1B4F72"/>
                </a:solidFill>
                <a:latin typeface="Calibri"/>
                <a:cs typeface="Calibri"/>
              </a:rPr>
              <a:t>3</a:t>
            </a:r>
          </a:p>
        </p:txBody>
      </p:sp>
    </p:spTree>
  </p:cSld>
  <p:clrMapOvr>
    <a:overrideClrMapping bg1="lt1" tx1="dk1" bg2="lt2" tx2="dk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2"/>
          <p:cNvSpPr txBox="1"/>
          <p:nvPr/>
        </p:nvSpPr>
        <p:spPr>
          <a:xfrm>
            <a:off x="533400" y="285750"/>
            <a:ext cx="11125200" cy="381000"/>
          </a:xfrm>
          <a:prstGeom prst="rect">
            <a:avLst/>
          </a:prstGeom>
          <a:noFill/>
        </p:spPr>
        <p:txBody>
          <a:bodyPr wrap="square" anchor="t" lIns="0" tIns="0" rIns="0" bIns="0">
            <a:noAutofit/>
          </a:bodyPr>
          <a:lstStyle/>
          <a:p>
            <a:pPr marL="0" indent="0" algn="l">
              <a:buNone/>
            </a:pPr>
            <a:r>
              <a:rPr lang="en-US" sz="2500" b="1" dirty="0">
                <a:solidFill>
                  <a:srgbClr val="1B4F72"/>
                </a:solidFill>
                <a:latin typeface="Calibri"/>
                <a:cs typeface="Calibri"/>
              </a:rPr>
              <a:t>Literature Survey</a:t>
            </a:r>
          </a:p>
        </p:txBody>
      </p:sp>
      <p:sp>
        <p:nvSpPr>
          <p:cNvPr id="3" name="Rect 3"/>
          <p:cNvSpPr/>
          <p:nvPr/>
        </p:nvSpPr>
        <p:spPr>
          <a:xfrm>
            <a:off x="533400" y="666750"/>
            <a:ext cx="609600" cy="47625"/>
          </a:xfrm>
          <a:prstGeom prst="roundRect">
            <a:avLst/>
          </a:prstGeom>
          <a:solidFill>
            <a:srgbClr val="00A878"/>
          </a:solidFill>
          <a:ln>
            <a:noFill/>
          </a:ln>
        </p:spPr>
        <p:txBody>
          <a:bodyPr/>
          <a:lstStyle/>
          <a:p/>
        </p:txBody>
      </p:sp>
      <p:graphicFrame>
        <p:nvGraphicFramePr>
          <p:cNvPr id="4" name="Table 4"/>
          <p:cNvGraphicFramePr>
            <a:graphicFrameLocks noGrp="1"/>
          </p:cNvGraphicFramePr>
          <p:nvPr/>
        </p:nvGraphicFramePr>
        <p:xfrm>
          <a:off x="533400" y="876300"/>
          <a:ext cx="10287000" cy="2857500"/>
        </p:xfrm>
        <a:graphic>
          <a:graphicData uri="http://schemas.openxmlformats.org/drawingml/2006/table">
            <a:tbl>
              <a:tblPr firstRow="1" bandRow="1"/>
              <a:tblGrid>
                <a:gridCol w="1809750"/>
                <a:gridCol w="2000250"/>
                <a:gridCol w="2000250"/>
                <a:gridCol w="2476500"/>
                <a:gridCol w="2000250"/>
              </a:tblGrid>
              <a:tr h="476250">
                <a:tc>
                  <a:txBody>
                    <a:bodyPr wrap="square" lIns="36576" tIns="18288" rIns="36576" bIns="18288" anchor="ctr"/>
                    <a:lstStyle/>
                    <a:p>
                      <a:pPr marL="0" indent="0" algn="ctr">
                        <a:buNone/>
                      </a:pPr>
                      <a:r>
                        <a:rPr lang="en-US" sz="1000" b="1" dirty="0">
                          <a:solidFill>
                            <a:srgbClr val="FFFFFF"/>
                          </a:solidFill>
                          <a:latin typeface="Calibri"/>
                          <a:cs typeface="Calibri"/>
                        </a:rPr>
                        <a:t>Author &amp; Year</a:t>
                      </a:r>
                    </a:p>
                  </a:txBody>
                  <a:tcPr marL="36576" marR="36576" marT="18288" marB="18288" anchor="ctr">
                    <a:solidFill>
                      <a:srgbClr val="1B4F72"/>
                    </a:solidFill>
                    <a:lnL w="6350">
                      <a:solidFill>
                        <a:srgbClr val="E3E7E9"/>
                      </a:solidFill>
                    </a:lnL>
                    <a:lnR w="6350">
                      <a:solidFill>
                        <a:srgbClr val="E3E7E9"/>
                      </a:solidFill>
                    </a:lnR>
                    <a:lnT w="6350">
                      <a:solidFill>
                        <a:srgbClr val="E3E7E9"/>
                      </a:solidFill>
                    </a:lnT>
                    <a:lnB w="6350">
                      <a:solidFill>
                        <a:srgbClr val="E3E7E9"/>
                      </a:solidFill>
                    </a:lnB>
                  </a:tcPr>
                </a:tc>
                <a:tc>
                  <a:txBody>
                    <a:bodyPr wrap="square" lIns="36576" tIns="18288" rIns="36576" bIns="18288" anchor="ctr"/>
                    <a:lstStyle/>
                    <a:p>
                      <a:pPr marL="0" indent="0" algn="ctr">
                        <a:buNone/>
                      </a:pPr>
                      <a:r>
                        <a:rPr lang="en-US" sz="1000" b="1" dirty="0">
                          <a:solidFill>
                            <a:srgbClr val="FFFFFF"/>
                          </a:solidFill>
                          <a:latin typeface="Calibri"/>
                          <a:cs typeface="Calibri"/>
                        </a:rPr>
                        <a:t>Study Focus</a:t>
                      </a:r>
                    </a:p>
                  </a:txBody>
                  <a:tcPr marL="36576" marR="36576" marT="18288" marB="18288" anchor="ctr">
                    <a:solidFill>
                      <a:srgbClr val="1B4F72"/>
                    </a:solidFill>
                    <a:lnL w="6350">
                      <a:solidFill>
                        <a:srgbClr val="E3E7E9"/>
                      </a:solidFill>
                    </a:lnL>
                    <a:lnR w="6350">
                      <a:solidFill>
                        <a:srgbClr val="E3E7E9"/>
                      </a:solidFill>
                    </a:lnR>
                    <a:lnT w="6350">
                      <a:solidFill>
                        <a:srgbClr val="E3E7E9"/>
                      </a:solidFill>
                    </a:lnT>
                    <a:lnB w="6350">
                      <a:solidFill>
                        <a:srgbClr val="E3E7E9"/>
                      </a:solidFill>
                    </a:lnB>
                  </a:tcPr>
                </a:tc>
                <a:tc>
                  <a:txBody>
                    <a:bodyPr wrap="square" lIns="36576" tIns="18288" rIns="36576" bIns="18288" anchor="ctr"/>
                    <a:lstStyle/>
                    <a:p>
                      <a:pPr marL="0" indent="0" algn="ctr">
                        <a:buNone/>
                      </a:pPr>
                      <a:r>
                        <a:rPr lang="en-US" sz="1000" b="1" dirty="0">
                          <a:solidFill>
                            <a:srgbClr val="FFFFFF"/>
                          </a:solidFill>
                          <a:latin typeface="Calibri"/>
                          <a:cs typeface="Calibri"/>
                        </a:rPr>
                        <a:t>Method Used</a:t>
                      </a:r>
                    </a:p>
                  </a:txBody>
                  <a:tcPr marL="36576" marR="36576" marT="18288" marB="18288" anchor="ctr">
                    <a:solidFill>
                      <a:srgbClr val="1B4F72"/>
                    </a:solidFill>
                    <a:lnL w="6350">
                      <a:solidFill>
                        <a:srgbClr val="E3E7E9"/>
                      </a:solidFill>
                    </a:lnL>
                    <a:lnR w="6350">
                      <a:solidFill>
                        <a:srgbClr val="E3E7E9"/>
                      </a:solidFill>
                    </a:lnR>
                    <a:lnT w="6350">
                      <a:solidFill>
                        <a:srgbClr val="E3E7E9"/>
                      </a:solidFill>
                    </a:lnT>
                    <a:lnB w="6350">
                      <a:solidFill>
                        <a:srgbClr val="E3E7E9"/>
                      </a:solidFill>
                    </a:lnB>
                  </a:tcPr>
                </a:tc>
                <a:tc>
                  <a:txBody>
                    <a:bodyPr wrap="square" lIns="36576" tIns="18288" rIns="36576" bIns="18288" anchor="ctr"/>
                    <a:lstStyle/>
                    <a:p>
                      <a:pPr marL="0" indent="0" algn="ctr">
                        <a:buNone/>
                      </a:pPr>
                      <a:r>
                        <a:rPr lang="en-US" sz="1000" b="1" dirty="0">
                          <a:solidFill>
                            <a:srgbClr val="FFFFFF"/>
                          </a:solidFill>
                          <a:latin typeface="Calibri"/>
                          <a:cs typeface="Calibri"/>
                        </a:rPr>
                        <a:t>Key Finding</a:t>
                      </a:r>
                    </a:p>
                  </a:txBody>
                  <a:tcPr marL="36576" marR="36576" marT="18288" marB="18288" anchor="ctr">
                    <a:solidFill>
                      <a:srgbClr val="1B4F72"/>
                    </a:solidFill>
                    <a:lnL w="6350">
                      <a:solidFill>
                        <a:srgbClr val="E3E7E9"/>
                      </a:solidFill>
                    </a:lnL>
                    <a:lnR w="6350">
                      <a:solidFill>
                        <a:srgbClr val="E3E7E9"/>
                      </a:solidFill>
                    </a:lnR>
                    <a:lnT w="6350">
                      <a:solidFill>
                        <a:srgbClr val="E3E7E9"/>
                      </a:solidFill>
                    </a:lnT>
                    <a:lnB w="6350">
                      <a:solidFill>
                        <a:srgbClr val="E3E7E9"/>
                      </a:solidFill>
                    </a:lnB>
                  </a:tcPr>
                </a:tc>
                <a:tc>
                  <a:txBody>
                    <a:bodyPr wrap="square" lIns="36576" tIns="18288" rIns="36576" bIns="18288" anchor="ctr"/>
                    <a:lstStyle/>
                    <a:p>
                      <a:pPr marL="0" indent="0" algn="ctr">
                        <a:buNone/>
                      </a:pPr>
                      <a:r>
                        <a:rPr lang="en-US" sz="1000" b="1" dirty="0">
                          <a:solidFill>
                            <a:srgbClr val="FFFFFF"/>
                          </a:solidFill>
                          <a:latin typeface="Calibri"/>
                          <a:cs typeface="Calibri"/>
                        </a:rPr>
                        <a:t>Limitation</a:t>
                      </a:r>
                    </a:p>
                  </a:txBody>
                  <a:tcPr marL="36576" marR="36576" marT="18288" marB="18288" anchor="ctr">
                    <a:solidFill>
                      <a:srgbClr val="1B4F72"/>
                    </a:solidFill>
                    <a:lnL w="6350">
                      <a:solidFill>
                        <a:srgbClr val="E3E7E9"/>
                      </a:solidFill>
                    </a:lnL>
                    <a:lnR w="6350">
                      <a:solidFill>
                        <a:srgbClr val="E3E7E9"/>
                      </a:solidFill>
                    </a:lnR>
                    <a:lnT w="6350">
                      <a:solidFill>
                        <a:srgbClr val="E3E7E9"/>
                      </a:solidFill>
                    </a:lnT>
                    <a:lnB w="6350">
                      <a:solidFill>
                        <a:srgbClr val="E3E7E9"/>
                      </a:solidFill>
                    </a:lnB>
                  </a:tcPr>
                </a:tc>
              </a:tr>
              <a:tr h="476250">
                <a:tc>
                  <a:txBody>
                    <a:bodyPr wrap="square" lIns="36576" tIns="18288" rIns="36576" bIns="18288" anchor="ctr"/>
                    <a:lstStyle/>
                    <a:p>
                      <a:pPr marL="0" indent="0" algn="l">
                        <a:buNone/>
                      </a:pPr>
                      <a:r>
                        <a:rPr lang="en-US" sz="950" dirty="0">
                          <a:solidFill>
                            <a:srgbClr val="2C3E50"/>
                          </a:solidFill>
                          <a:latin typeface="Calibri"/>
                          <a:cs typeface="Calibri"/>
                        </a:rPr>
                        <a:t>Ingsathit et al., 2010</a:t>
                      </a:r>
                    </a:p>
                  </a:txBody>
                  <a:tcPr marL="36576" marR="36576" marT="18288" marB="18288" anchor="ctr">
                    <a:solidFill>
                      <a:srgbClr val="FFFFFF"/>
                    </a:solidFill>
                    <a:lnL w="6350">
                      <a:solidFill>
                        <a:srgbClr val="E3E7E9"/>
                      </a:solidFill>
                    </a:lnL>
                    <a:lnR w="6350">
                      <a:solidFill>
                        <a:srgbClr val="E3E7E9"/>
                      </a:solidFill>
                    </a:lnR>
                    <a:lnT w="6350">
                      <a:solidFill>
                        <a:srgbClr val="E3E7E9"/>
                      </a:solidFill>
                    </a:lnT>
                    <a:lnB w="6350">
                      <a:solidFill>
                        <a:srgbClr val="E3E7E9"/>
                      </a:solidFill>
                    </a:lnB>
                  </a:tcPr>
                </a:tc>
                <a:tc>
                  <a:txBody>
                    <a:bodyPr wrap="square" lIns="36576" tIns="18288" rIns="36576" bIns="18288" anchor="ctr"/>
                    <a:lstStyle/>
                    <a:p>
                      <a:pPr marL="0" indent="0" algn="l">
                        <a:buNone/>
                      </a:pPr>
                      <a:r>
                        <a:rPr lang="en-US" sz="950" dirty="0">
                          <a:solidFill>
                            <a:srgbClr val="2C3E50"/>
                          </a:solidFill>
                          <a:latin typeface="Calibri"/>
                          <a:cs typeface="Calibri"/>
                        </a:rPr>
                        <a:t>CKD prevalence and risk factors in Asia</a:t>
                      </a:r>
                    </a:p>
                  </a:txBody>
                  <a:tcPr marL="36576" marR="36576" marT="18288" marB="18288" anchor="ctr">
                    <a:solidFill>
                      <a:srgbClr val="FFFFFF"/>
                    </a:solidFill>
                    <a:lnL w="6350">
                      <a:solidFill>
                        <a:srgbClr val="E3E7E9"/>
                      </a:solidFill>
                    </a:lnL>
                    <a:lnR w="6350">
                      <a:solidFill>
                        <a:srgbClr val="E3E7E9"/>
                      </a:solidFill>
                    </a:lnR>
                    <a:lnT w="6350">
                      <a:solidFill>
                        <a:srgbClr val="E3E7E9"/>
                      </a:solidFill>
                    </a:lnT>
                    <a:lnB w="6350">
                      <a:solidFill>
                        <a:srgbClr val="E3E7E9"/>
                      </a:solidFill>
                    </a:lnB>
                  </a:tcPr>
                </a:tc>
                <a:tc>
                  <a:txBody>
                    <a:bodyPr wrap="square" lIns="36576" tIns="18288" rIns="36576" bIns="18288" anchor="ctr"/>
                    <a:lstStyle/>
                    <a:p>
                      <a:pPr marL="0" indent="0" algn="l">
                        <a:buNone/>
                      </a:pPr>
                      <a:r>
                        <a:rPr lang="en-US" sz="950" dirty="0">
                          <a:solidFill>
                            <a:srgbClr val="2C3E50"/>
                          </a:solidFill>
                          <a:latin typeface="Calibri"/>
                          <a:cs typeface="Calibri"/>
                        </a:rPr>
                        <a:t>Cross-sectional survey, 25,000 participants</a:t>
                      </a:r>
                    </a:p>
                  </a:txBody>
                  <a:tcPr marL="36576" marR="36576" marT="18288" marB="18288" anchor="ctr">
                    <a:solidFill>
                      <a:srgbClr val="FFFFFF"/>
                    </a:solidFill>
                    <a:lnL w="6350">
                      <a:solidFill>
                        <a:srgbClr val="E3E7E9"/>
                      </a:solidFill>
                    </a:lnL>
                    <a:lnR w="6350">
                      <a:solidFill>
                        <a:srgbClr val="E3E7E9"/>
                      </a:solidFill>
                    </a:lnR>
                    <a:lnT w="6350">
                      <a:solidFill>
                        <a:srgbClr val="E3E7E9"/>
                      </a:solidFill>
                    </a:lnT>
                    <a:lnB w="6350">
                      <a:solidFill>
                        <a:srgbClr val="E3E7E9"/>
                      </a:solidFill>
                    </a:lnB>
                  </a:tcPr>
                </a:tc>
                <a:tc>
                  <a:txBody>
                    <a:bodyPr wrap="square" lIns="36576" tIns="18288" rIns="36576" bIns="18288" anchor="ctr"/>
                    <a:lstStyle/>
                    <a:p>
                      <a:pPr marL="0" indent="0" algn="l">
                        <a:buNone/>
                      </a:pPr>
                      <a:r>
                        <a:rPr lang="en-US" sz="950" dirty="0">
                          <a:solidFill>
                            <a:srgbClr val="2C3E50"/>
                          </a:solidFill>
                          <a:latin typeface="Calibri"/>
                          <a:cs typeface="Calibri"/>
                        </a:rPr>
                        <a:t>Diabetes and hypertension are primary CKD risk factors</a:t>
                      </a:r>
                    </a:p>
                  </a:txBody>
                  <a:tcPr marL="36576" marR="36576" marT="18288" marB="18288" anchor="ctr">
                    <a:solidFill>
                      <a:srgbClr val="FFFFFF"/>
                    </a:solidFill>
                    <a:lnL w="6350">
                      <a:solidFill>
                        <a:srgbClr val="E3E7E9"/>
                      </a:solidFill>
                    </a:lnL>
                    <a:lnR w="6350">
                      <a:solidFill>
                        <a:srgbClr val="E3E7E9"/>
                      </a:solidFill>
                    </a:lnR>
                    <a:lnT w="6350">
                      <a:solidFill>
                        <a:srgbClr val="E3E7E9"/>
                      </a:solidFill>
                    </a:lnT>
                    <a:lnB w="6350">
                      <a:solidFill>
                        <a:srgbClr val="E3E7E9"/>
                      </a:solidFill>
                    </a:lnB>
                  </a:tcPr>
                </a:tc>
                <a:tc>
                  <a:txBody>
                    <a:bodyPr wrap="square" lIns="36576" tIns="18288" rIns="36576" bIns="18288" anchor="ctr"/>
                    <a:lstStyle/>
                    <a:p>
                      <a:pPr marL="0" indent="0" algn="l">
                        <a:buNone/>
                      </a:pPr>
                      <a:r>
                        <a:rPr lang="en-US" sz="950" dirty="0">
                          <a:solidFill>
                            <a:srgbClr val="2C3E50"/>
                          </a:solidFill>
                          <a:latin typeface="Calibri"/>
                          <a:cs typeface="Calibri"/>
                        </a:rPr>
                        <a:t>No longitudinal trajectory analysis</a:t>
                      </a:r>
                    </a:p>
                  </a:txBody>
                  <a:tcPr marL="36576" marR="36576" marT="18288" marB="18288" anchor="ctr">
                    <a:solidFill>
                      <a:srgbClr val="FFFFFF"/>
                    </a:solidFill>
                    <a:lnL w="6350">
                      <a:solidFill>
                        <a:srgbClr val="E3E7E9"/>
                      </a:solidFill>
                    </a:lnL>
                    <a:lnR w="6350">
                      <a:solidFill>
                        <a:srgbClr val="E3E7E9"/>
                      </a:solidFill>
                    </a:lnR>
                    <a:lnT w="6350">
                      <a:solidFill>
                        <a:srgbClr val="E3E7E9"/>
                      </a:solidFill>
                    </a:lnT>
                    <a:lnB w="6350">
                      <a:solidFill>
                        <a:srgbClr val="E3E7E9"/>
                      </a:solidFill>
                    </a:lnB>
                  </a:tcPr>
                </a:tc>
              </a:tr>
              <a:tr h="476250">
                <a:tc>
                  <a:txBody>
                    <a:bodyPr wrap="square" lIns="36576" tIns="18288" rIns="36576" bIns="18288" anchor="ctr"/>
                    <a:lstStyle/>
                    <a:p>
                      <a:pPr marL="0" indent="0" algn="l">
                        <a:buNone/>
                      </a:pPr>
                      <a:r>
                        <a:rPr lang="en-US" sz="950" dirty="0">
                          <a:solidFill>
                            <a:srgbClr val="2C3E50"/>
                          </a:solidFill>
                          <a:latin typeface="Calibri"/>
                          <a:cs typeface="Calibri"/>
                        </a:rPr>
                        <a:t>Inker et al., 2021 (NEJM)</a:t>
                      </a:r>
                    </a:p>
                  </a:txBody>
                  <a:tcPr marL="36576" marR="36576" marT="18288" marB="18288" anchor="ctr">
                    <a:solidFill>
                      <a:srgbClr val="E3E7E9"/>
                    </a:solidFill>
                    <a:lnL w="6350">
                      <a:solidFill>
                        <a:srgbClr val="E3E7E9"/>
                      </a:solidFill>
                    </a:lnL>
                    <a:lnR w="6350">
                      <a:solidFill>
                        <a:srgbClr val="E3E7E9"/>
                      </a:solidFill>
                    </a:lnR>
                    <a:lnT w="6350">
                      <a:solidFill>
                        <a:srgbClr val="E3E7E9"/>
                      </a:solidFill>
                    </a:lnT>
                    <a:lnB w="6350">
                      <a:solidFill>
                        <a:srgbClr val="E3E7E9"/>
                      </a:solidFill>
                    </a:lnB>
                  </a:tcPr>
                </a:tc>
                <a:tc>
                  <a:txBody>
                    <a:bodyPr wrap="square" lIns="36576" tIns="18288" rIns="36576" bIns="18288" anchor="ctr"/>
                    <a:lstStyle/>
                    <a:p>
                      <a:pPr marL="0" indent="0" algn="l">
                        <a:buNone/>
                      </a:pPr>
                      <a:r>
                        <a:rPr lang="en-US" sz="950" dirty="0">
                          <a:solidFill>
                            <a:srgbClr val="2C3E50"/>
                          </a:solidFill>
                          <a:latin typeface="Calibri"/>
                          <a:cs typeface="Calibri"/>
                        </a:rPr>
                        <a:t>CKD-EPI 2021 eGFR equation development</a:t>
                      </a:r>
                    </a:p>
                  </a:txBody>
                  <a:tcPr marL="36576" marR="36576" marT="18288" marB="18288" anchor="ctr">
                    <a:solidFill>
                      <a:srgbClr val="E3E7E9"/>
                    </a:solidFill>
                    <a:lnL w="6350">
                      <a:solidFill>
                        <a:srgbClr val="E3E7E9"/>
                      </a:solidFill>
                    </a:lnL>
                    <a:lnR w="6350">
                      <a:solidFill>
                        <a:srgbClr val="E3E7E9"/>
                      </a:solidFill>
                    </a:lnR>
                    <a:lnT w="6350">
                      <a:solidFill>
                        <a:srgbClr val="E3E7E9"/>
                      </a:solidFill>
                    </a:lnT>
                    <a:lnB w="6350">
                      <a:solidFill>
                        <a:srgbClr val="E3E7E9"/>
                      </a:solidFill>
                    </a:lnB>
                  </a:tcPr>
                </a:tc>
                <a:tc>
                  <a:txBody>
                    <a:bodyPr wrap="square" lIns="36576" tIns="18288" rIns="36576" bIns="18288" anchor="ctr"/>
                    <a:lstStyle/>
                    <a:p>
                      <a:pPr marL="0" indent="0" algn="l">
                        <a:buNone/>
                      </a:pPr>
                      <a:r>
                        <a:rPr lang="en-US" sz="950" dirty="0">
                          <a:solidFill>
                            <a:srgbClr val="2C3E50"/>
                          </a:solidFill>
                          <a:latin typeface="Calibri"/>
                          <a:cs typeface="Calibri"/>
                        </a:rPr>
                        <a:t>Multi-centre validation, race-free formula</a:t>
                      </a:r>
                    </a:p>
                  </a:txBody>
                  <a:tcPr marL="36576" marR="36576" marT="18288" marB="18288" anchor="ctr">
                    <a:solidFill>
                      <a:srgbClr val="E3E7E9"/>
                    </a:solidFill>
                    <a:lnL w="6350">
                      <a:solidFill>
                        <a:srgbClr val="E3E7E9"/>
                      </a:solidFill>
                    </a:lnL>
                    <a:lnR w="6350">
                      <a:solidFill>
                        <a:srgbClr val="E3E7E9"/>
                      </a:solidFill>
                    </a:lnR>
                    <a:lnT w="6350">
                      <a:solidFill>
                        <a:srgbClr val="E3E7E9"/>
                      </a:solidFill>
                    </a:lnT>
                    <a:lnB w="6350">
                      <a:solidFill>
                        <a:srgbClr val="E3E7E9"/>
                      </a:solidFill>
                    </a:lnB>
                  </a:tcPr>
                </a:tc>
                <a:tc>
                  <a:txBody>
                    <a:bodyPr wrap="square" lIns="36576" tIns="18288" rIns="36576" bIns="18288" anchor="ctr"/>
                    <a:lstStyle/>
                    <a:p>
                      <a:pPr marL="0" indent="0" algn="l">
                        <a:buNone/>
                      </a:pPr>
                      <a:r>
                        <a:rPr lang="en-US" sz="950" dirty="0">
                          <a:solidFill>
                            <a:srgbClr val="2C3E50"/>
                          </a:solidFill>
                          <a:latin typeface="Calibri"/>
                          <a:cs typeface="Calibri"/>
                        </a:rPr>
                        <a:t>CKD-EPI 2021 more accurate across all populations</a:t>
                      </a:r>
                    </a:p>
                  </a:txBody>
                  <a:tcPr marL="36576" marR="36576" marT="18288" marB="18288" anchor="ctr">
                    <a:solidFill>
                      <a:srgbClr val="E3E7E9"/>
                    </a:solidFill>
                    <a:lnL w="6350">
                      <a:solidFill>
                        <a:srgbClr val="E3E7E9"/>
                      </a:solidFill>
                    </a:lnL>
                    <a:lnR w="6350">
                      <a:solidFill>
                        <a:srgbClr val="E3E7E9"/>
                      </a:solidFill>
                    </a:lnR>
                    <a:lnT w="6350">
                      <a:solidFill>
                        <a:srgbClr val="E3E7E9"/>
                      </a:solidFill>
                    </a:lnT>
                    <a:lnB w="6350">
                      <a:solidFill>
                        <a:srgbClr val="E3E7E9"/>
                      </a:solidFill>
                    </a:lnB>
                  </a:tcPr>
                </a:tc>
                <a:tc>
                  <a:txBody>
                    <a:bodyPr wrap="square" lIns="36576" tIns="18288" rIns="36576" bIns="18288" anchor="ctr"/>
                    <a:lstStyle/>
                    <a:p>
                      <a:pPr marL="0" indent="0" algn="l">
                        <a:buNone/>
                      </a:pPr>
                      <a:r>
                        <a:rPr lang="en-US" sz="950" dirty="0">
                          <a:solidFill>
                            <a:srgbClr val="2C3E50"/>
                          </a:solidFill>
                          <a:latin typeface="Calibri"/>
                          <a:cs typeface="Calibri"/>
                        </a:rPr>
                        <a:t>Single-visit measurement only</a:t>
                      </a:r>
                    </a:p>
                  </a:txBody>
                  <a:tcPr marL="36576" marR="36576" marT="18288" marB="18288" anchor="ctr">
                    <a:solidFill>
                      <a:srgbClr val="E3E7E9"/>
                    </a:solidFill>
                    <a:lnL w="6350">
                      <a:solidFill>
                        <a:srgbClr val="E3E7E9"/>
                      </a:solidFill>
                    </a:lnL>
                    <a:lnR w="6350">
                      <a:solidFill>
                        <a:srgbClr val="E3E7E9"/>
                      </a:solidFill>
                    </a:lnR>
                    <a:lnT w="6350">
                      <a:solidFill>
                        <a:srgbClr val="E3E7E9"/>
                      </a:solidFill>
                    </a:lnT>
                    <a:lnB w="6350">
                      <a:solidFill>
                        <a:srgbClr val="E3E7E9"/>
                      </a:solidFill>
                    </a:lnB>
                  </a:tcPr>
                </a:tc>
              </a:tr>
              <a:tr h="476250">
                <a:tc>
                  <a:txBody>
                    <a:bodyPr wrap="square" lIns="36576" tIns="18288" rIns="36576" bIns="18288" anchor="ctr"/>
                    <a:lstStyle/>
                    <a:p>
                      <a:pPr marL="0" indent="0" algn="l">
                        <a:buNone/>
                      </a:pPr>
                      <a:r>
                        <a:rPr lang="en-US" sz="950" dirty="0">
                          <a:solidFill>
                            <a:srgbClr val="2C3E50"/>
                          </a:solidFill>
                          <a:latin typeface="Calibri"/>
                          <a:cs typeface="Calibri"/>
                        </a:rPr>
                        <a:t>Dua &amp; Gupta, 2012 (J. Biomed. Informatics)</a:t>
                      </a:r>
                    </a:p>
                  </a:txBody>
                  <a:tcPr marL="36576" marR="36576" marT="18288" marB="18288" anchor="ctr">
                    <a:solidFill>
                      <a:srgbClr val="FFFFFF"/>
                    </a:solidFill>
                    <a:lnL w="6350">
                      <a:solidFill>
                        <a:srgbClr val="E3E7E9"/>
                      </a:solidFill>
                    </a:lnL>
                    <a:lnR w="6350">
                      <a:solidFill>
                        <a:srgbClr val="E3E7E9"/>
                      </a:solidFill>
                    </a:lnR>
                    <a:lnT w="6350">
                      <a:solidFill>
                        <a:srgbClr val="E3E7E9"/>
                      </a:solidFill>
                    </a:lnT>
                    <a:lnB w="6350">
                      <a:solidFill>
                        <a:srgbClr val="E3E7E9"/>
                      </a:solidFill>
                    </a:lnB>
                  </a:tcPr>
                </a:tc>
                <a:tc>
                  <a:txBody>
                    <a:bodyPr wrap="square" lIns="36576" tIns="18288" rIns="36576" bIns="18288" anchor="ctr"/>
                    <a:lstStyle/>
                    <a:p>
                      <a:pPr marL="0" indent="0" algn="l">
                        <a:buNone/>
                      </a:pPr>
                      <a:r>
                        <a:rPr lang="en-US" sz="950" dirty="0">
                          <a:solidFill>
                            <a:srgbClr val="2C3E50"/>
                          </a:solidFill>
                          <a:latin typeface="Calibri"/>
                          <a:cs typeface="Calibri"/>
                        </a:rPr>
                        <a:t>ML for CKD diagnosis using UCI dataset</a:t>
                      </a:r>
                    </a:p>
                  </a:txBody>
                  <a:tcPr marL="36576" marR="36576" marT="18288" marB="18288" anchor="ctr">
                    <a:solidFill>
                      <a:srgbClr val="FFFFFF"/>
                    </a:solidFill>
                    <a:lnL w="6350">
                      <a:solidFill>
                        <a:srgbClr val="E3E7E9"/>
                      </a:solidFill>
                    </a:lnL>
                    <a:lnR w="6350">
                      <a:solidFill>
                        <a:srgbClr val="E3E7E9"/>
                      </a:solidFill>
                    </a:lnR>
                    <a:lnT w="6350">
                      <a:solidFill>
                        <a:srgbClr val="E3E7E9"/>
                      </a:solidFill>
                    </a:lnT>
                    <a:lnB w="6350">
                      <a:solidFill>
                        <a:srgbClr val="E3E7E9"/>
                      </a:solidFill>
                    </a:lnB>
                  </a:tcPr>
                </a:tc>
                <a:tc>
                  <a:txBody>
                    <a:bodyPr wrap="square" lIns="36576" tIns="18288" rIns="36576" bIns="18288" anchor="ctr"/>
                    <a:lstStyle/>
                    <a:p>
                      <a:pPr marL="0" indent="0" algn="l">
                        <a:buNone/>
                      </a:pPr>
                      <a:r>
                        <a:rPr lang="en-US" sz="950" dirty="0">
                          <a:solidFill>
                            <a:srgbClr val="2C3E50"/>
                          </a:solidFill>
                          <a:latin typeface="Calibri"/>
                          <a:cs typeface="Calibri"/>
                        </a:rPr>
                        <a:t>Naive Bayes, Decision Tree, SVM</a:t>
                      </a:r>
                    </a:p>
                  </a:txBody>
                  <a:tcPr marL="36576" marR="36576" marT="18288" marB="18288" anchor="ctr">
                    <a:solidFill>
                      <a:srgbClr val="FFFFFF"/>
                    </a:solidFill>
                    <a:lnL w="6350">
                      <a:solidFill>
                        <a:srgbClr val="E3E7E9"/>
                      </a:solidFill>
                    </a:lnL>
                    <a:lnR w="6350">
                      <a:solidFill>
                        <a:srgbClr val="E3E7E9"/>
                      </a:solidFill>
                    </a:lnR>
                    <a:lnT w="6350">
                      <a:solidFill>
                        <a:srgbClr val="E3E7E9"/>
                      </a:solidFill>
                    </a:lnT>
                    <a:lnB w="6350">
                      <a:solidFill>
                        <a:srgbClr val="E3E7E9"/>
                      </a:solidFill>
                    </a:lnB>
                  </a:tcPr>
                </a:tc>
                <a:tc>
                  <a:txBody>
                    <a:bodyPr wrap="square" lIns="36576" tIns="18288" rIns="36576" bIns="18288" anchor="ctr"/>
                    <a:lstStyle/>
                    <a:p>
                      <a:pPr marL="0" indent="0" algn="l">
                        <a:buNone/>
                      </a:pPr>
                      <a:r>
                        <a:rPr lang="en-US" sz="950" dirty="0">
                          <a:solidFill>
                            <a:srgbClr val="2C3E50"/>
                          </a:solidFill>
                          <a:latin typeface="Calibri"/>
                          <a:cs typeface="Calibri"/>
                        </a:rPr>
                        <a:t>98% classification accuracy on UCI dataset</a:t>
                      </a:r>
                    </a:p>
                  </a:txBody>
                  <a:tcPr marL="36576" marR="36576" marT="18288" marB="18288" anchor="ctr">
                    <a:solidFill>
                      <a:srgbClr val="FFFFFF"/>
                    </a:solidFill>
                    <a:lnL w="6350">
                      <a:solidFill>
                        <a:srgbClr val="E3E7E9"/>
                      </a:solidFill>
                    </a:lnL>
                    <a:lnR w="6350">
                      <a:solidFill>
                        <a:srgbClr val="E3E7E9"/>
                      </a:solidFill>
                    </a:lnR>
                    <a:lnT w="6350">
                      <a:solidFill>
                        <a:srgbClr val="E3E7E9"/>
                      </a:solidFill>
                    </a:lnT>
                    <a:lnB w="6350">
                      <a:solidFill>
                        <a:srgbClr val="E3E7E9"/>
                      </a:solidFill>
                    </a:lnB>
                  </a:tcPr>
                </a:tc>
                <a:tc>
                  <a:txBody>
                    <a:bodyPr wrap="square" lIns="36576" tIns="18288" rIns="36576" bIns="18288" anchor="ctr"/>
                    <a:lstStyle/>
                    <a:p>
                      <a:pPr marL="0" indent="0" algn="l">
                        <a:buNone/>
                      </a:pPr>
                      <a:r>
                        <a:rPr lang="en-US" sz="950" dirty="0">
                          <a:solidFill>
                            <a:srgbClr val="2C3E50"/>
                          </a:solidFill>
                          <a:latin typeface="Calibri"/>
                          <a:cs typeface="Calibri"/>
                        </a:rPr>
                        <a:t>Static single-visit data, not longitudinal</a:t>
                      </a:r>
                    </a:p>
                  </a:txBody>
                  <a:tcPr marL="36576" marR="36576" marT="18288" marB="18288" anchor="ctr">
                    <a:solidFill>
                      <a:srgbClr val="FFFFFF"/>
                    </a:solidFill>
                    <a:lnL w="6350">
                      <a:solidFill>
                        <a:srgbClr val="E3E7E9"/>
                      </a:solidFill>
                    </a:lnL>
                    <a:lnR w="6350">
                      <a:solidFill>
                        <a:srgbClr val="E3E7E9"/>
                      </a:solidFill>
                    </a:lnR>
                    <a:lnT w="6350">
                      <a:solidFill>
                        <a:srgbClr val="E3E7E9"/>
                      </a:solidFill>
                    </a:lnT>
                    <a:lnB w="6350">
                      <a:solidFill>
                        <a:srgbClr val="E3E7E9"/>
                      </a:solidFill>
                    </a:lnB>
                  </a:tcPr>
                </a:tc>
              </a:tr>
              <a:tr h="476250">
                <a:tc>
                  <a:txBody>
                    <a:bodyPr wrap="square" lIns="36576" tIns="18288" rIns="36576" bIns="18288" anchor="ctr"/>
                    <a:lstStyle/>
                    <a:p>
                      <a:pPr marL="0" indent="0" algn="l">
                        <a:buNone/>
                      </a:pPr>
                      <a:r>
                        <a:rPr lang="en-US" sz="950" dirty="0">
                          <a:solidFill>
                            <a:srgbClr val="2C3E50"/>
                          </a:solidFill>
                          <a:latin typeface="Calibri"/>
                          <a:cs typeface="Calibri"/>
                        </a:rPr>
                        <a:t>Ravindranath et al., 2016</a:t>
                      </a:r>
                    </a:p>
                  </a:txBody>
                  <a:tcPr marL="36576" marR="36576" marT="18288" marB="18288" anchor="ctr">
                    <a:solidFill>
                      <a:srgbClr val="E3E7E9"/>
                    </a:solidFill>
                    <a:lnL w="6350">
                      <a:solidFill>
                        <a:srgbClr val="E3E7E9"/>
                      </a:solidFill>
                    </a:lnL>
                    <a:lnR w="6350">
                      <a:solidFill>
                        <a:srgbClr val="E3E7E9"/>
                      </a:solidFill>
                    </a:lnR>
                    <a:lnT w="6350">
                      <a:solidFill>
                        <a:srgbClr val="E3E7E9"/>
                      </a:solidFill>
                    </a:lnT>
                    <a:lnB w="6350">
                      <a:solidFill>
                        <a:srgbClr val="E3E7E9"/>
                      </a:solidFill>
                    </a:lnB>
                  </a:tcPr>
                </a:tc>
                <a:tc>
                  <a:txBody>
                    <a:bodyPr wrap="square" lIns="36576" tIns="18288" rIns="36576" bIns="18288" anchor="ctr"/>
                    <a:lstStyle/>
                    <a:p>
                      <a:pPr marL="0" indent="0" algn="l">
                        <a:buNone/>
                      </a:pPr>
                      <a:r>
                        <a:rPr lang="en-US" sz="950" dirty="0">
                          <a:solidFill>
                            <a:srgbClr val="2C3E50"/>
                          </a:solidFill>
                          <a:latin typeface="Calibri"/>
                          <a:cs typeface="Calibri"/>
                        </a:rPr>
                        <a:t>Diabetic nephropathy prevalence in South India</a:t>
                      </a:r>
                    </a:p>
                  </a:txBody>
                  <a:tcPr marL="36576" marR="36576" marT="18288" marB="18288" anchor="ctr">
                    <a:solidFill>
                      <a:srgbClr val="E3E7E9"/>
                    </a:solidFill>
                    <a:lnL w="6350">
                      <a:solidFill>
                        <a:srgbClr val="E3E7E9"/>
                      </a:solidFill>
                    </a:lnL>
                    <a:lnR w="6350">
                      <a:solidFill>
                        <a:srgbClr val="E3E7E9"/>
                      </a:solidFill>
                    </a:lnR>
                    <a:lnT w="6350">
                      <a:solidFill>
                        <a:srgbClr val="E3E7E9"/>
                      </a:solidFill>
                    </a:lnT>
                    <a:lnB w="6350">
                      <a:solidFill>
                        <a:srgbClr val="E3E7E9"/>
                      </a:solidFill>
                    </a:lnB>
                  </a:tcPr>
                </a:tc>
                <a:tc>
                  <a:txBody>
                    <a:bodyPr wrap="square" lIns="36576" tIns="18288" rIns="36576" bIns="18288" anchor="ctr"/>
                    <a:lstStyle/>
                    <a:p>
                      <a:pPr marL="0" indent="0" algn="l">
                        <a:buNone/>
                      </a:pPr>
                      <a:r>
                        <a:rPr lang="en-US" sz="950" dirty="0">
                          <a:solidFill>
                            <a:srgbClr val="2C3E50"/>
                          </a:solidFill>
                          <a:latin typeface="Calibri"/>
                          <a:cs typeface="Calibri"/>
                        </a:rPr>
                        <a:t>Clinical study, 500 diabetic patients</a:t>
                      </a:r>
                    </a:p>
                  </a:txBody>
                  <a:tcPr marL="36576" marR="36576" marT="18288" marB="18288" anchor="ctr">
                    <a:solidFill>
                      <a:srgbClr val="E3E7E9"/>
                    </a:solidFill>
                    <a:lnL w="6350">
                      <a:solidFill>
                        <a:srgbClr val="E3E7E9"/>
                      </a:solidFill>
                    </a:lnL>
                    <a:lnR w="6350">
                      <a:solidFill>
                        <a:srgbClr val="E3E7E9"/>
                      </a:solidFill>
                    </a:lnR>
                    <a:lnT w="6350">
                      <a:solidFill>
                        <a:srgbClr val="E3E7E9"/>
                      </a:solidFill>
                    </a:lnT>
                    <a:lnB w="6350">
                      <a:solidFill>
                        <a:srgbClr val="E3E7E9"/>
                      </a:solidFill>
                    </a:lnB>
                  </a:tcPr>
                </a:tc>
                <a:tc>
                  <a:txBody>
                    <a:bodyPr wrap="square" lIns="36576" tIns="18288" rIns="36576" bIns="18288" anchor="ctr"/>
                    <a:lstStyle/>
                    <a:p>
                      <a:pPr marL="0" indent="0" algn="l">
                        <a:buNone/>
                      </a:pPr>
                      <a:r>
                        <a:rPr lang="en-US" sz="950" dirty="0">
                          <a:solidFill>
                            <a:srgbClr val="2C3E50"/>
                          </a:solidFill>
                          <a:latin typeface="Calibri"/>
                          <a:cs typeface="Calibri"/>
                        </a:rPr>
                        <a:t>32% of South Indian diabetics develop nephropathy</a:t>
                      </a:r>
                    </a:p>
                  </a:txBody>
                  <a:tcPr marL="36576" marR="36576" marT="18288" marB="18288" anchor="ctr">
                    <a:solidFill>
                      <a:srgbClr val="E3E7E9"/>
                    </a:solidFill>
                    <a:lnL w="6350">
                      <a:solidFill>
                        <a:srgbClr val="E3E7E9"/>
                      </a:solidFill>
                    </a:lnL>
                    <a:lnR w="6350">
                      <a:solidFill>
                        <a:srgbClr val="E3E7E9"/>
                      </a:solidFill>
                    </a:lnR>
                    <a:lnT w="6350">
                      <a:solidFill>
                        <a:srgbClr val="E3E7E9"/>
                      </a:solidFill>
                    </a:lnT>
                    <a:lnB w="6350">
                      <a:solidFill>
                        <a:srgbClr val="E3E7E9"/>
                      </a:solidFill>
                    </a:lnB>
                  </a:tcPr>
                </a:tc>
                <a:tc>
                  <a:txBody>
                    <a:bodyPr wrap="square" lIns="36576" tIns="18288" rIns="36576" bIns="18288" anchor="ctr"/>
                    <a:lstStyle/>
                    <a:p>
                      <a:pPr marL="0" indent="0" algn="l">
                        <a:buNone/>
                      </a:pPr>
                      <a:r>
                        <a:rPr lang="en-US" sz="950" dirty="0">
                          <a:solidFill>
                            <a:srgbClr val="2C3E50"/>
                          </a:solidFill>
                          <a:latin typeface="Calibri"/>
                          <a:cs typeface="Calibri"/>
                        </a:rPr>
                        <a:t>No predictive model developed</a:t>
                      </a:r>
                    </a:p>
                  </a:txBody>
                  <a:tcPr marL="36576" marR="36576" marT="18288" marB="18288" anchor="ctr">
                    <a:solidFill>
                      <a:srgbClr val="E3E7E9"/>
                    </a:solidFill>
                    <a:lnL w="6350">
                      <a:solidFill>
                        <a:srgbClr val="E3E7E9"/>
                      </a:solidFill>
                    </a:lnL>
                    <a:lnR w="6350">
                      <a:solidFill>
                        <a:srgbClr val="E3E7E9"/>
                      </a:solidFill>
                    </a:lnR>
                    <a:lnT w="6350">
                      <a:solidFill>
                        <a:srgbClr val="E3E7E9"/>
                      </a:solidFill>
                    </a:lnT>
                    <a:lnB w="6350">
                      <a:solidFill>
                        <a:srgbClr val="E3E7E9"/>
                      </a:solidFill>
                    </a:lnB>
                  </a:tcPr>
                </a:tc>
              </a:tr>
              <a:tr h="476250">
                <a:tc>
                  <a:txBody>
                    <a:bodyPr wrap="square" lIns="36576" tIns="18288" rIns="36576" bIns="18288" anchor="ctr"/>
                    <a:lstStyle/>
                    <a:p>
                      <a:pPr marL="0" indent="0" algn="l">
                        <a:buNone/>
                      </a:pPr>
                      <a:r>
                        <a:rPr lang="en-US" sz="950" dirty="0">
                          <a:solidFill>
                            <a:srgbClr val="2C3E50"/>
                          </a:solidFill>
                          <a:latin typeface="Calibri"/>
                          <a:cs typeface="Calibri"/>
                        </a:rPr>
                        <a:t>Kato et al., 2019 (Diabetes Research)</a:t>
                      </a:r>
                    </a:p>
                  </a:txBody>
                  <a:tcPr marL="36576" marR="36576" marT="18288" marB="18288" anchor="ctr">
                    <a:solidFill>
                      <a:srgbClr val="FFFFFF"/>
                    </a:solidFill>
                    <a:lnL w="6350">
                      <a:solidFill>
                        <a:srgbClr val="E3E7E9"/>
                      </a:solidFill>
                    </a:lnL>
                    <a:lnR w="6350">
                      <a:solidFill>
                        <a:srgbClr val="E3E7E9"/>
                      </a:solidFill>
                    </a:lnR>
                    <a:lnT w="6350">
                      <a:solidFill>
                        <a:srgbClr val="E3E7E9"/>
                      </a:solidFill>
                    </a:lnT>
                    <a:lnB w="6350">
                      <a:solidFill>
                        <a:srgbClr val="E3E7E9"/>
                      </a:solidFill>
                    </a:lnB>
                  </a:tcPr>
                </a:tc>
                <a:tc>
                  <a:txBody>
                    <a:bodyPr wrap="square" lIns="36576" tIns="18288" rIns="36576" bIns="18288" anchor="ctr"/>
                    <a:lstStyle/>
                    <a:p>
                      <a:pPr marL="0" indent="0" algn="l">
                        <a:buNone/>
                      </a:pPr>
                      <a:r>
                        <a:rPr lang="en-US" sz="950" dirty="0">
                          <a:solidFill>
                            <a:srgbClr val="2C3E50"/>
                          </a:solidFill>
                          <a:latin typeface="Calibri"/>
                          <a:cs typeface="Calibri"/>
                        </a:rPr>
                        <a:t>HbA1c trajectory and kidney function decline</a:t>
                      </a:r>
                    </a:p>
                  </a:txBody>
                  <a:tcPr marL="36576" marR="36576" marT="18288" marB="18288" anchor="ctr">
                    <a:solidFill>
                      <a:srgbClr val="FFFFFF"/>
                    </a:solidFill>
                    <a:lnL w="6350">
                      <a:solidFill>
                        <a:srgbClr val="E3E7E9"/>
                      </a:solidFill>
                    </a:lnL>
                    <a:lnR w="6350">
                      <a:solidFill>
                        <a:srgbClr val="E3E7E9"/>
                      </a:solidFill>
                    </a:lnR>
                    <a:lnT w="6350">
                      <a:solidFill>
                        <a:srgbClr val="E3E7E9"/>
                      </a:solidFill>
                    </a:lnT>
                    <a:lnB w="6350">
                      <a:solidFill>
                        <a:srgbClr val="E3E7E9"/>
                      </a:solidFill>
                    </a:lnB>
                  </a:tcPr>
                </a:tc>
                <a:tc>
                  <a:txBody>
                    <a:bodyPr wrap="square" lIns="36576" tIns="18288" rIns="36576" bIns="18288" anchor="ctr"/>
                    <a:lstStyle/>
                    <a:p>
                      <a:pPr marL="0" indent="0" algn="l">
                        <a:buNone/>
                      </a:pPr>
                      <a:r>
                        <a:rPr lang="en-US" sz="950" dirty="0">
                          <a:solidFill>
                            <a:srgbClr val="2C3E50"/>
                          </a:solidFill>
                          <a:latin typeface="Calibri"/>
                          <a:cs typeface="Calibri"/>
                        </a:rPr>
                        <a:t>Longitudinal cohort, 1,200 patients, 5 years</a:t>
                      </a:r>
                    </a:p>
                  </a:txBody>
                  <a:tcPr marL="36576" marR="36576" marT="18288" marB="18288" anchor="ctr">
                    <a:solidFill>
                      <a:srgbClr val="FFFFFF"/>
                    </a:solidFill>
                    <a:lnL w="6350">
                      <a:solidFill>
                        <a:srgbClr val="E3E7E9"/>
                      </a:solidFill>
                    </a:lnL>
                    <a:lnR w="6350">
                      <a:solidFill>
                        <a:srgbClr val="E3E7E9"/>
                      </a:solidFill>
                    </a:lnR>
                    <a:lnT w="6350">
                      <a:solidFill>
                        <a:srgbClr val="E3E7E9"/>
                      </a:solidFill>
                    </a:lnT>
                    <a:lnB w="6350">
                      <a:solidFill>
                        <a:srgbClr val="E3E7E9"/>
                      </a:solidFill>
                    </a:lnB>
                  </a:tcPr>
                </a:tc>
                <a:tc>
                  <a:txBody>
                    <a:bodyPr wrap="square" lIns="36576" tIns="18288" rIns="36576" bIns="18288" anchor="ctr"/>
                    <a:lstStyle/>
                    <a:p>
                      <a:pPr marL="0" indent="0" algn="l">
                        <a:buNone/>
                      </a:pPr>
                      <a:r>
                        <a:rPr lang="en-US" sz="950" dirty="0">
                          <a:solidFill>
                            <a:srgbClr val="2C3E50"/>
                          </a:solidFill>
                          <a:latin typeface="Calibri"/>
                          <a:cs typeface="Calibri"/>
                        </a:rPr>
                        <a:t>HbA1c trend a stronger predictor than a single value</a:t>
                      </a:r>
                    </a:p>
                  </a:txBody>
                  <a:tcPr marL="36576" marR="36576" marT="18288" marB="18288" anchor="ctr">
                    <a:solidFill>
                      <a:srgbClr val="FFFFFF"/>
                    </a:solidFill>
                    <a:lnL w="6350">
                      <a:solidFill>
                        <a:srgbClr val="E3E7E9"/>
                      </a:solidFill>
                    </a:lnL>
                    <a:lnR w="6350">
                      <a:solidFill>
                        <a:srgbClr val="E3E7E9"/>
                      </a:solidFill>
                    </a:lnR>
                    <a:lnT w="6350">
                      <a:solidFill>
                        <a:srgbClr val="E3E7E9"/>
                      </a:solidFill>
                    </a:lnT>
                    <a:lnB w="6350">
                      <a:solidFill>
                        <a:srgbClr val="E3E7E9"/>
                      </a:solidFill>
                    </a:lnB>
                  </a:tcPr>
                </a:tc>
                <a:tc>
                  <a:txBody>
                    <a:bodyPr wrap="square" lIns="36576" tIns="18288" rIns="36576" bIns="18288" anchor="ctr"/>
                    <a:lstStyle/>
                    <a:p>
                      <a:pPr marL="0" indent="0" algn="l">
                        <a:buNone/>
                      </a:pPr>
                      <a:r>
                        <a:rPr lang="en-US" sz="950" dirty="0">
                          <a:solidFill>
                            <a:srgbClr val="2C3E50"/>
                          </a:solidFill>
                          <a:latin typeface="Calibri"/>
                          <a:cs typeface="Calibri"/>
                        </a:rPr>
                        <a:t>Japanese population, not validated for India</a:t>
                      </a:r>
                    </a:p>
                  </a:txBody>
                  <a:tcPr marL="36576" marR="36576" marT="18288" marB="18288" anchor="ctr">
                    <a:solidFill>
                      <a:srgbClr val="FFFFFF"/>
                    </a:solidFill>
                    <a:lnL w="6350">
                      <a:solidFill>
                        <a:srgbClr val="E3E7E9"/>
                      </a:solidFill>
                    </a:lnL>
                    <a:lnR w="6350">
                      <a:solidFill>
                        <a:srgbClr val="E3E7E9"/>
                      </a:solidFill>
                    </a:lnR>
                    <a:lnT w="6350">
                      <a:solidFill>
                        <a:srgbClr val="E3E7E9"/>
                      </a:solidFill>
                    </a:lnT>
                    <a:lnB w="6350">
                      <a:solidFill>
                        <a:srgbClr val="E3E7E9"/>
                      </a:solidFill>
                    </a:lnB>
                  </a:tcPr>
                </a:tc>
              </a:tr>
            </a:tbl>
          </a:graphicData>
        </a:graphic>
      </p:graphicFrame>
      <p:sp>
        <p:nvSpPr>
          <p:cNvPr id="5" name="Rect 5"/>
          <p:cNvSpPr/>
          <p:nvPr/>
        </p:nvSpPr>
        <p:spPr>
          <a:xfrm>
            <a:off x="533400" y="3905250"/>
            <a:ext cx="11125200" cy="800100"/>
          </a:xfrm>
          <a:prstGeom prst="rect">
            <a:avLst/>
          </a:prstGeom>
          <a:solidFill>
            <a:srgbClr val="E6F7F1"/>
          </a:solidFill>
          <a:ln w="19050">
            <a:solidFill>
              <a:srgbClr val="00A878"/>
            </a:solidFill>
          </a:ln>
        </p:spPr>
        <p:txBody>
          <a:bodyPr/>
          <a:lstStyle/>
          <a:p/>
        </p:txBody>
      </p:sp>
      <p:sp>
        <p:nvSpPr>
          <p:cNvPr id="6" name="TextBox 6"/>
          <p:cNvSpPr txBox="1"/>
          <p:nvPr/>
        </p:nvSpPr>
        <p:spPr>
          <a:xfrm>
            <a:off x="723900" y="4000500"/>
            <a:ext cx="3810000" cy="171450"/>
          </a:xfrm>
          <a:prstGeom prst="rect">
            <a:avLst/>
          </a:prstGeom>
          <a:noFill/>
        </p:spPr>
        <p:txBody>
          <a:bodyPr wrap="square" anchor="t" lIns="0" tIns="0" rIns="0" bIns="0">
            <a:noAutofit/>
          </a:bodyPr>
          <a:lstStyle/>
          <a:p>
            <a:pPr marL="0" indent="0" algn="l">
              <a:buNone/>
            </a:pPr>
            <a:r>
              <a:rPr lang="en-US" sz="1100" b="1" dirty="0">
                <a:solidFill>
                  <a:srgbClr val="1B4F72"/>
                </a:solidFill>
                <a:latin typeface="Calibri"/>
                <a:cs typeface="Calibri"/>
              </a:rPr>
              <a:t>IDENTIFIED RESEARCH GAP</a:t>
            </a:r>
          </a:p>
        </p:txBody>
      </p:sp>
      <p:sp>
        <p:nvSpPr>
          <p:cNvPr id="7" name="TextBox 7"/>
          <p:cNvSpPr txBox="1"/>
          <p:nvPr/>
        </p:nvSpPr>
        <p:spPr>
          <a:xfrm>
            <a:off x="723900" y="4210050"/>
            <a:ext cx="10744200" cy="438150"/>
          </a:xfrm>
          <a:prstGeom prst="rect">
            <a:avLst/>
          </a:prstGeom>
          <a:noFill/>
        </p:spPr>
        <p:txBody>
          <a:bodyPr wrap="square" anchor="t" lIns="0" tIns="0" rIns="0" bIns="0">
            <a:noAutofit/>
          </a:bodyPr>
          <a:lstStyle/>
          <a:p>
            <a:pPr marL="0" indent="0" algn="l">
              <a:lnSpc>
                <a:spcPct val="130000"/>
              </a:lnSpc>
              <a:buNone/>
            </a:pPr>
            <a:r>
              <a:rPr lang="en-US" sz="1250" dirty="0">
                <a:solidFill>
                  <a:srgbClr val="2C3E50"/>
                </a:solidFill>
                <a:latin typeface="Calibri"/>
                <a:cs typeface="Calibri"/>
              </a:rPr>
              <a:t>No existing study combines multi-biomarker longitudinal trajectory analysis with real-time clinical decision support specifically for Tamil Nadu PHC settings.</a:t>
            </a:r>
          </a:p>
        </p:txBody>
      </p:sp>
      <p:cxnSp>
        <p:nvCxnSpPr>
          <p:cNvPr id="8" name="Line 8"/>
          <p:cNvCxnSpPr/>
          <p:nvPr/>
        </p:nvCxnSpPr>
        <p:spPr>
          <a:xfrm flipH="0" flipV="0">
            <a:off x="533400" y="6667500"/>
            <a:ext cx="11125200" cy="9525"/>
          </a:xfrm>
          <a:prstGeom prst="line">
            <a:avLst/>
          </a:prstGeom>
          <a:ln w="12700">
            <a:solidFill>
              <a:srgbClr val="E3E7E9"/>
            </a:solidFill>
          </a:ln>
        </p:spPr>
      </p:cxnSp>
      <p:sp>
        <p:nvSpPr>
          <p:cNvPr id="9" name="TextBox 9"/>
          <p:cNvSpPr txBox="1"/>
          <p:nvPr/>
        </p:nvSpPr>
        <p:spPr>
          <a:xfrm>
            <a:off x="533400" y="6705600"/>
            <a:ext cx="8572500" cy="190500"/>
          </a:xfrm>
          <a:prstGeom prst="rect">
            <a:avLst/>
          </a:prstGeom>
          <a:noFill/>
        </p:spPr>
        <p:txBody>
          <a:bodyPr wrap="square" anchor="t" lIns="0" tIns="0" rIns="0" bIns="0">
            <a:noAutofit/>
          </a:bodyPr>
          <a:lstStyle/>
          <a:p>
            <a:pPr marL="0" indent="0" algn="l">
              <a:buNone/>
            </a:pPr>
            <a:r>
              <a:rPr lang="en-US" sz="850" dirty="0">
                <a:solidFill>
                  <a:srgbClr val="7A8B99"/>
                </a:solidFill>
                <a:latin typeface="Calibri"/>
                <a:cs typeface="Calibri"/>
              </a:rPr>
              <a:t>NephroAlert | ACS-AMRI Seed Grant Proposal 2026 | Dr. MGR Educational and Research Institute, Chennai</a:t>
            </a:r>
          </a:p>
        </p:txBody>
      </p:sp>
      <p:sp>
        <p:nvSpPr>
          <p:cNvPr id="10" name="TextBox 10"/>
          <p:cNvSpPr txBox="1"/>
          <p:nvPr/>
        </p:nvSpPr>
        <p:spPr>
          <a:xfrm>
            <a:off x="11277600" y="6667500"/>
            <a:ext cx="381000" cy="190500"/>
          </a:xfrm>
          <a:prstGeom prst="rect">
            <a:avLst/>
          </a:prstGeom>
          <a:noFill/>
        </p:spPr>
        <p:txBody>
          <a:bodyPr wrap="square" anchor="t" lIns="0" tIns="0" rIns="0" bIns="0">
            <a:noAutofit/>
          </a:bodyPr>
          <a:lstStyle/>
          <a:p>
            <a:pPr marL="0" indent="0" algn="r">
              <a:buNone/>
            </a:pPr>
            <a:r>
              <a:rPr lang="en-US" sz="1100" b="1" dirty="0">
                <a:solidFill>
                  <a:srgbClr val="1B4F72"/>
                </a:solidFill>
                <a:latin typeface="Calibri"/>
                <a:cs typeface="Calibri"/>
              </a:rPr>
              <a:t>4</a:t>
            </a:r>
          </a:p>
        </p:txBody>
      </p:sp>
    </p:spTree>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2"/>
          <p:cNvSpPr txBox="1"/>
          <p:nvPr/>
        </p:nvSpPr>
        <p:spPr>
          <a:xfrm>
            <a:off x="533400" y="285750"/>
            <a:ext cx="11125200" cy="381000"/>
          </a:xfrm>
          <a:prstGeom prst="rect">
            <a:avLst/>
          </a:prstGeom>
          <a:noFill/>
        </p:spPr>
        <p:txBody>
          <a:bodyPr wrap="square" anchor="t" lIns="0" tIns="0" rIns="0" bIns="0">
            <a:noAutofit/>
          </a:bodyPr>
          <a:lstStyle/>
          <a:p>
            <a:pPr marL="0" indent="0" algn="l">
              <a:buNone/>
            </a:pPr>
            <a:r>
              <a:rPr lang="en-US" sz="2500" b="1" dirty="0">
                <a:solidFill>
                  <a:srgbClr val="1B4F72"/>
                </a:solidFill>
                <a:latin typeface="Calibri"/>
                <a:cs typeface="Calibri"/>
              </a:rPr>
              <a:t>Proposed Methodology — NephroAlert System Architecture</a:t>
            </a:r>
          </a:p>
        </p:txBody>
      </p:sp>
      <p:sp>
        <p:nvSpPr>
          <p:cNvPr id="3" name="Rect 3"/>
          <p:cNvSpPr/>
          <p:nvPr/>
        </p:nvSpPr>
        <p:spPr>
          <a:xfrm>
            <a:off x="533400" y="666750"/>
            <a:ext cx="609600" cy="47625"/>
          </a:xfrm>
          <a:prstGeom prst="roundRect">
            <a:avLst/>
          </a:prstGeom>
          <a:solidFill>
            <a:srgbClr val="00A878"/>
          </a:solidFill>
          <a:ln>
            <a:noFill/>
          </a:ln>
        </p:spPr>
        <p:txBody>
          <a:bodyPr/>
          <a:lstStyle/>
          <a:p/>
        </p:txBody>
      </p:sp>
      <p:sp>
        <p:nvSpPr>
          <p:cNvPr id="4" name="Rect 4"/>
          <p:cNvSpPr/>
          <p:nvPr/>
        </p:nvSpPr>
        <p:spPr>
          <a:xfrm>
            <a:off x="533400" y="914400"/>
            <a:ext cx="2026920" cy="2857500"/>
          </a:xfrm>
          <a:prstGeom prst="roundRect">
            <a:avLst/>
          </a:prstGeom>
          <a:solidFill>
            <a:srgbClr val="EAF1F6"/>
          </a:solidFill>
          <a:ln w="12700">
            <a:solidFill>
              <a:srgbClr val="E3E7E9"/>
            </a:solidFill>
          </a:ln>
        </p:spPr>
        <p:txBody>
          <a:bodyPr/>
          <a:lstStyle/>
          <a:p/>
        </p:txBody>
      </p:sp>
      <p:sp>
        <p:nvSpPr>
          <p:cNvPr id="5" name="TextBox 5"/>
          <p:cNvSpPr txBox="1"/>
          <p:nvPr/>
        </p:nvSpPr>
        <p:spPr>
          <a:xfrm>
            <a:off x="628650" y="990600"/>
            <a:ext cx="1836420" cy="152400"/>
          </a:xfrm>
          <a:prstGeom prst="rect">
            <a:avLst/>
          </a:prstGeom>
          <a:noFill/>
        </p:spPr>
        <p:txBody>
          <a:bodyPr wrap="square" anchor="t" lIns="0" tIns="0" rIns="0" bIns="0">
            <a:noAutofit/>
          </a:bodyPr>
          <a:lstStyle/>
          <a:p>
            <a:pPr marL="0" indent="0" algn="l">
              <a:buNone/>
            </a:pPr>
            <a:r>
              <a:rPr lang="en-US" sz="950" b="1" dirty="0">
                <a:solidFill>
                  <a:srgbClr val="00A878"/>
                </a:solidFill>
                <a:latin typeface="Calibri"/>
                <a:cs typeface="Calibri"/>
              </a:rPr>
              <a:t>DATA INPUT</a:t>
            </a:r>
          </a:p>
        </p:txBody>
      </p:sp>
      <p:sp>
        <p:nvSpPr>
          <p:cNvPr id="6" name="TextBox 6"/>
          <p:cNvSpPr txBox="1"/>
          <p:nvPr/>
        </p:nvSpPr>
        <p:spPr>
          <a:xfrm>
            <a:off x="628650" y="1162050"/>
            <a:ext cx="1836420" cy="152400"/>
          </a:xfrm>
          <a:prstGeom prst="rect">
            <a:avLst/>
          </a:prstGeom>
          <a:noFill/>
        </p:spPr>
        <p:txBody>
          <a:bodyPr wrap="square" anchor="t" lIns="0" tIns="0" rIns="0" bIns="0">
            <a:noAutofit/>
          </a:bodyPr>
          <a:lstStyle/>
          <a:p>
            <a:pPr marL="0" indent="0" algn="l">
              <a:buNone/>
            </a:pPr>
            <a:r>
              <a:rPr lang="en-US" sz="1050" b="1" dirty="0">
                <a:solidFill>
                  <a:srgbClr val="1B4F72"/>
                </a:solidFill>
                <a:latin typeface="Calibri"/>
                <a:cs typeface="Calibri"/>
              </a:rPr>
              <a:t>Multi-Visit PHC Data</a:t>
            </a:r>
          </a:p>
        </p:txBody>
      </p:sp>
      <p:sp>
        <p:nvSpPr>
          <p:cNvPr id="7" name="TextBox 7"/>
          <p:cNvSpPr txBox="1"/>
          <p:nvPr/>
        </p:nvSpPr>
        <p:spPr>
          <a:xfrm>
            <a:off x="628650" y="1371600"/>
            <a:ext cx="1836420" cy="2286000"/>
          </a:xfrm>
          <a:prstGeom prst="rect">
            <a:avLst/>
          </a:prstGeom>
          <a:noFill/>
        </p:spPr>
        <p:txBody>
          <a:bodyPr wrap="square" anchor="t" lIns="0" tIns="0" rIns="0" bIns="0">
            <a:noAutofit/>
          </a:bodyPr>
          <a:lstStyle/>
          <a:p>
            <a:pPr marL="171450" indent="-171450" algn="l">
              <a:spcAft>
                <a:spcPts val="500"/>
              </a:spcAft>
              <a:buFont typeface="Arial"/>
              <a:buChar char="•"/>
            </a:pPr>
            <a:r>
              <a:rPr lang="en-US" sz="950" dirty="0">
                <a:solidFill>
                  <a:srgbClr val="2C3E50"/>
                </a:solidFill>
                <a:latin typeface="Calibri"/>
                <a:cs typeface="Calibri"/>
              </a:rPr>
              <a:t>Serum Creatinine</a:t>
            </a:r>
          </a:p>
          <a:p>
            <a:pPr marL="171450" indent="-171450" algn="l">
              <a:spcAft>
                <a:spcPts val="500"/>
              </a:spcAft>
              <a:buFont typeface="Arial"/>
              <a:buChar char="•"/>
            </a:pPr>
            <a:r>
              <a:rPr lang="en-US" sz="950" dirty="0">
                <a:solidFill>
                  <a:srgbClr val="2C3E50"/>
                </a:solidFill>
                <a:latin typeface="Calibri"/>
                <a:cs typeface="Calibri"/>
              </a:rPr>
              <a:t>eGFR (auto-calculated)</a:t>
            </a:r>
          </a:p>
          <a:p>
            <a:pPr marL="171450" indent="-171450" algn="l">
              <a:spcAft>
                <a:spcPts val="500"/>
              </a:spcAft>
              <a:buFont typeface="Arial"/>
              <a:buChar char="•"/>
            </a:pPr>
            <a:r>
              <a:rPr lang="en-US" sz="950" dirty="0">
                <a:solidFill>
                  <a:srgbClr val="2C3E50"/>
                </a:solidFill>
                <a:latin typeface="Calibri"/>
                <a:cs typeface="Calibri"/>
              </a:rPr>
              <a:t>HbA1c</a:t>
            </a:r>
          </a:p>
          <a:p>
            <a:pPr marL="171450" indent="-171450" algn="l">
              <a:spcAft>
                <a:spcPts val="500"/>
              </a:spcAft>
              <a:buFont typeface="Arial"/>
              <a:buChar char="•"/>
            </a:pPr>
            <a:r>
              <a:rPr lang="en-US" sz="950" dirty="0">
                <a:solidFill>
                  <a:srgbClr val="2C3E50"/>
                </a:solidFill>
                <a:latin typeface="Calibri"/>
                <a:cs typeface="Calibri"/>
              </a:rPr>
              <a:t>Blood Urea</a:t>
            </a:r>
          </a:p>
          <a:p>
            <a:pPr marL="171450" indent="-171450" algn="l">
              <a:spcAft>
                <a:spcPts val="500"/>
              </a:spcAft>
              <a:buFont typeface="Arial"/>
              <a:buChar char="•"/>
            </a:pPr>
            <a:r>
              <a:rPr lang="en-US" sz="950" dirty="0">
                <a:solidFill>
                  <a:srgbClr val="2C3E50"/>
                </a:solidFill>
                <a:latin typeface="Calibri"/>
                <a:cs typeface="Calibri"/>
              </a:rPr>
              <a:t>Urine ACR</a:t>
            </a:r>
          </a:p>
          <a:p>
            <a:pPr marL="171450" indent="-171450" algn="l">
              <a:spcAft>
                <a:spcPts val="500"/>
              </a:spcAft>
              <a:buFont typeface="Arial"/>
              <a:buChar char="•"/>
            </a:pPr>
            <a:r>
              <a:rPr lang="en-US" sz="950" dirty="0">
                <a:solidFill>
                  <a:srgbClr val="2C3E50"/>
                </a:solidFill>
                <a:latin typeface="Calibri"/>
                <a:cs typeface="Calibri"/>
              </a:rPr>
              <a:t>Systolic BP</a:t>
            </a:r>
          </a:p>
          <a:p>
            <a:pPr marL="171450" indent="-171450" algn="l">
              <a:spcAft>
                <a:spcPts val="500"/>
              </a:spcAft>
              <a:buFont typeface="Arial"/>
              <a:buChar char="•"/>
            </a:pPr>
            <a:r>
              <a:rPr lang="en-US" sz="950" dirty="0">
                <a:solidFill>
                  <a:srgbClr val="2C3E50"/>
                </a:solidFill>
                <a:latin typeface="Calibri"/>
                <a:cs typeface="Calibri"/>
              </a:rPr>
              <a:t>Visit dates</a:t>
            </a:r>
          </a:p>
        </p:txBody>
      </p:sp>
      <p:sp>
        <p:nvSpPr>
          <p:cNvPr id="8" name="TextBox 8"/>
          <p:cNvSpPr txBox="1"/>
          <p:nvPr/>
        </p:nvSpPr>
        <p:spPr>
          <a:xfrm>
            <a:off x="2541270" y="2190750"/>
            <a:ext cx="285750" cy="304800"/>
          </a:xfrm>
          <a:prstGeom prst="rect">
            <a:avLst/>
          </a:prstGeom>
          <a:noFill/>
        </p:spPr>
        <p:txBody>
          <a:bodyPr wrap="square" anchor="ctr" lIns="0" tIns="0" rIns="0" bIns="0">
            <a:noAutofit/>
          </a:bodyPr>
          <a:lstStyle/>
          <a:p>
            <a:pPr marL="0" indent="0" algn="ctr">
              <a:buNone/>
            </a:pPr>
            <a:r>
              <a:rPr lang="en-US" sz="1800" b="1" dirty="0">
                <a:solidFill>
                  <a:srgbClr val="1B4F72"/>
                </a:solidFill>
                <a:latin typeface="Calibri"/>
                <a:cs typeface="Calibri"/>
              </a:rPr>
              <a:t>→</a:t>
            </a:r>
          </a:p>
        </p:txBody>
      </p:sp>
      <p:sp>
        <p:nvSpPr>
          <p:cNvPr id="9" name="Rect 9"/>
          <p:cNvSpPr/>
          <p:nvPr/>
        </p:nvSpPr>
        <p:spPr>
          <a:xfrm>
            <a:off x="2807970" y="914400"/>
            <a:ext cx="2026920" cy="2857500"/>
          </a:xfrm>
          <a:prstGeom prst="roundRect">
            <a:avLst/>
          </a:prstGeom>
          <a:solidFill>
            <a:srgbClr val="EAF1F6"/>
          </a:solidFill>
          <a:ln w="12700">
            <a:solidFill>
              <a:srgbClr val="E3E7E9"/>
            </a:solidFill>
          </a:ln>
        </p:spPr>
        <p:txBody>
          <a:bodyPr/>
          <a:lstStyle/>
          <a:p/>
        </p:txBody>
      </p:sp>
      <p:sp>
        <p:nvSpPr>
          <p:cNvPr id="10" name="TextBox 10"/>
          <p:cNvSpPr txBox="1"/>
          <p:nvPr/>
        </p:nvSpPr>
        <p:spPr>
          <a:xfrm>
            <a:off x="2903220" y="990600"/>
            <a:ext cx="1836420" cy="152400"/>
          </a:xfrm>
          <a:prstGeom prst="rect">
            <a:avLst/>
          </a:prstGeom>
          <a:noFill/>
        </p:spPr>
        <p:txBody>
          <a:bodyPr wrap="square" anchor="t" lIns="0" tIns="0" rIns="0" bIns="0">
            <a:noAutofit/>
          </a:bodyPr>
          <a:lstStyle/>
          <a:p>
            <a:pPr marL="0" indent="0" algn="l">
              <a:buNone/>
            </a:pPr>
            <a:r>
              <a:rPr lang="en-US" sz="950" b="1" dirty="0">
                <a:solidFill>
                  <a:srgbClr val="00A878"/>
                </a:solidFill>
                <a:latin typeface="Calibri"/>
                <a:cs typeface="Calibri"/>
              </a:rPr>
              <a:t>PROCESSING</a:t>
            </a:r>
          </a:p>
        </p:txBody>
      </p:sp>
      <p:sp>
        <p:nvSpPr>
          <p:cNvPr id="11" name="TextBox 11"/>
          <p:cNvSpPr txBox="1"/>
          <p:nvPr/>
        </p:nvSpPr>
        <p:spPr>
          <a:xfrm>
            <a:off x="2903220" y="1162050"/>
            <a:ext cx="1836420" cy="152400"/>
          </a:xfrm>
          <a:prstGeom prst="rect">
            <a:avLst/>
          </a:prstGeom>
          <a:noFill/>
        </p:spPr>
        <p:txBody>
          <a:bodyPr wrap="square" anchor="t" lIns="0" tIns="0" rIns="0" bIns="0">
            <a:noAutofit/>
          </a:bodyPr>
          <a:lstStyle/>
          <a:p>
            <a:pPr marL="0" indent="0" algn="l">
              <a:buNone/>
            </a:pPr>
            <a:r>
              <a:rPr lang="en-US" sz="1050" b="1" dirty="0">
                <a:solidFill>
                  <a:srgbClr val="1B4F72"/>
                </a:solidFill>
                <a:latin typeface="Calibri"/>
                <a:cs typeface="Calibri"/>
              </a:rPr>
              <a:t>Feature Engineering</a:t>
            </a:r>
          </a:p>
        </p:txBody>
      </p:sp>
      <p:sp>
        <p:nvSpPr>
          <p:cNvPr id="12" name="TextBox 12"/>
          <p:cNvSpPr txBox="1"/>
          <p:nvPr/>
        </p:nvSpPr>
        <p:spPr>
          <a:xfrm>
            <a:off x="2903220" y="1371600"/>
            <a:ext cx="1836420" cy="2286000"/>
          </a:xfrm>
          <a:prstGeom prst="rect">
            <a:avLst/>
          </a:prstGeom>
          <a:noFill/>
        </p:spPr>
        <p:txBody>
          <a:bodyPr wrap="square" anchor="t" lIns="0" tIns="0" rIns="0" bIns="0">
            <a:noAutofit/>
          </a:bodyPr>
          <a:lstStyle/>
          <a:p>
            <a:pPr marL="171450" indent="-171450" algn="l">
              <a:lnSpc>
                <a:spcPct val="115000"/>
              </a:lnSpc>
              <a:spcAft>
                <a:spcPts val="600"/>
              </a:spcAft>
              <a:buFont typeface="Arial"/>
              <a:buChar char="•"/>
            </a:pPr>
            <a:r>
              <a:rPr lang="en-US" sz="950" dirty="0">
                <a:solidFill>
                  <a:srgbClr val="2C3E50"/>
                </a:solidFill>
                <a:latin typeface="Calibri"/>
                <a:cs typeface="Calibri"/>
              </a:rPr>
              <a:t>Linear regression slope per biomarker</a:t>
            </a:r>
          </a:p>
          <a:p>
            <a:pPr marL="171450" indent="-171450" algn="l">
              <a:lnSpc>
                <a:spcPct val="115000"/>
              </a:lnSpc>
              <a:spcAft>
                <a:spcPts val="600"/>
              </a:spcAft>
              <a:buFont typeface="Arial"/>
              <a:buChar char="•"/>
            </a:pPr>
            <a:r>
              <a:rPr lang="en-US" sz="950" dirty="0">
                <a:solidFill>
                  <a:srgbClr val="2C3E50"/>
                </a:solidFill>
                <a:latin typeface="Calibri"/>
                <a:cs typeface="Calibri"/>
              </a:rPr>
              <a:t>% change first to latest visit</a:t>
            </a:r>
          </a:p>
          <a:p>
            <a:pPr marL="171450" indent="-171450" algn="l">
              <a:lnSpc>
                <a:spcPct val="115000"/>
              </a:lnSpc>
              <a:spcAft>
                <a:spcPts val="600"/>
              </a:spcAft>
              <a:buFont typeface="Arial"/>
              <a:buChar char="•"/>
            </a:pPr>
            <a:r>
              <a:rPr lang="en-US" sz="950" dirty="0">
                <a:solidFill>
                  <a:srgbClr val="2C3E50"/>
                </a:solidFill>
                <a:latin typeface="Calibri"/>
                <a:cs typeface="Calibri"/>
              </a:rPr>
              <a:t>Trimester-adjusted normalisation</a:t>
            </a:r>
          </a:p>
          <a:p>
            <a:pPr marL="171450" indent="-171450" algn="l">
              <a:lnSpc>
                <a:spcPct val="115000"/>
              </a:lnSpc>
              <a:spcAft>
                <a:spcPts val="600"/>
              </a:spcAft>
              <a:buFont typeface="Arial"/>
              <a:buChar char="•"/>
            </a:pPr>
            <a:r>
              <a:rPr lang="en-US" sz="950" dirty="0">
                <a:solidFill>
                  <a:srgbClr val="2C3E50"/>
                </a:solidFill>
                <a:latin typeface="Calibri"/>
                <a:cs typeface="Calibri"/>
              </a:rPr>
              <a:t>CKD-EPI 2021 eGFR calculation</a:t>
            </a:r>
          </a:p>
          <a:p>
            <a:pPr marL="171450" indent="-171450" algn="l">
              <a:lnSpc>
                <a:spcPct val="115000"/>
              </a:lnSpc>
              <a:spcAft>
                <a:spcPts val="600"/>
              </a:spcAft>
              <a:buFont typeface="Arial"/>
              <a:buChar char="•"/>
            </a:pPr>
            <a:r>
              <a:rPr lang="en-US" sz="950" dirty="0">
                <a:solidFill>
                  <a:srgbClr val="2C3E50"/>
                </a:solidFill>
                <a:latin typeface="Calibri"/>
                <a:cs typeface="Calibri"/>
              </a:rPr>
              <a:t>Composite trajectory score</a:t>
            </a:r>
          </a:p>
        </p:txBody>
      </p:sp>
      <p:sp>
        <p:nvSpPr>
          <p:cNvPr id="13" name="TextBox 13"/>
          <p:cNvSpPr txBox="1"/>
          <p:nvPr/>
        </p:nvSpPr>
        <p:spPr>
          <a:xfrm>
            <a:off x="4815840" y="2190750"/>
            <a:ext cx="285750" cy="304800"/>
          </a:xfrm>
          <a:prstGeom prst="rect">
            <a:avLst/>
          </a:prstGeom>
          <a:noFill/>
        </p:spPr>
        <p:txBody>
          <a:bodyPr wrap="square" anchor="ctr" lIns="0" tIns="0" rIns="0" bIns="0">
            <a:noAutofit/>
          </a:bodyPr>
          <a:lstStyle/>
          <a:p>
            <a:pPr marL="0" indent="0" algn="ctr">
              <a:buNone/>
            </a:pPr>
            <a:r>
              <a:rPr lang="en-US" sz="1800" b="1" dirty="0">
                <a:solidFill>
                  <a:srgbClr val="1B4F72"/>
                </a:solidFill>
                <a:latin typeface="Calibri"/>
                <a:cs typeface="Calibri"/>
              </a:rPr>
              <a:t>→</a:t>
            </a:r>
          </a:p>
        </p:txBody>
      </p:sp>
      <p:sp>
        <p:nvSpPr>
          <p:cNvPr id="14" name="Rect 14"/>
          <p:cNvSpPr/>
          <p:nvPr/>
        </p:nvSpPr>
        <p:spPr>
          <a:xfrm>
            <a:off x="5082540" y="914400"/>
            <a:ext cx="2026920" cy="2857500"/>
          </a:xfrm>
          <a:prstGeom prst="roundRect">
            <a:avLst/>
          </a:prstGeom>
          <a:solidFill>
            <a:srgbClr val="1B4F72"/>
          </a:solidFill>
          <a:ln>
            <a:noFill/>
          </a:ln>
        </p:spPr>
        <p:txBody>
          <a:bodyPr/>
          <a:lstStyle/>
          <a:p/>
        </p:txBody>
      </p:sp>
      <p:sp>
        <p:nvSpPr>
          <p:cNvPr id="15" name="TextBox 15"/>
          <p:cNvSpPr txBox="1"/>
          <p:nvPr/>
        </p:nvSpPr>
        <p:spPr>
          <a:xfrm>
            <a:off x="5177790" y="990600"/>
            <a:ext cx="1836420" cy="152400"/>
          </a:xfrm>
          <a:prstGeom prst="rect">
            <a:avLst/>
          </a:prstGeom>
          <a:noFill/>
        </p:spPr>
        <p:txBody>
          <a:bodyPr wrap="square" anchor="t" lIns="0" tIns="0" rIns="0" bIns="0">
            <a:noAutofit/>
          </a:bodyPr>
          <a:lstStyle/>
          <a:p>
            <a:pPr marL="0" indent="0" algn="l">
              <a:buNone/>
            </a:pPr>
            <a:r>
              <a:rPr lang="en-US" sz="950" b="1" dirty="0">
                <a:solidFill>
                  <a:srgbClr val="00A878"/>
                </a:solidFill>
                <a:latin typeface="Calibri"/>
                <a:cs typeface="Calibri"/>
              </a:rPr>
              <a:t>AI ENGINE</a:t>
            </a:r>
          </a:p>
        </p:txBody>
      </p:sp>
      <p:sp>
        <p:nvSpPr>
          <p:cNvPr id="16" name="TextBox 16"/>
          <p:cNvSpPr txBox="1"/>
          <p:nvPr/>
        </p:nvSpPr>
        <p:spPr>
          <a:xfrm>
            <a:off x="5177790" y="1162050"/>
            <a:ext cx="1836420" cy="152400"/>
          </a:xfrm>
          <a:prstGeom prst="rect">
            <a:avLst/>
          </a:prstGeom>
          <a:noFill/>
        </p:spPr>
        <p:txBody>
          <a:bodyPr wrap="square" anchor="t" lIns="0" tIns="0" rIns="0" bIns="0">
            <a:noAutofit/>
          </a:bodyPr>
          <a:lstStyle/>
          <a:p>
            <a:pPr marL="0" indent="0" algn="l">
              <a:buNone/>
            </a:pPr>
            <a:r>
              <a:rPr lang="en-US" sz="1050" b="1" dirty="0">
                <a:solidFill>
                  <a:srgbClr val="FFFFFF"/>
                </a:solidFill>
                <a:latin typeface="Calibri"/>
                <a:cs typeface="Calibri"/>
              </a:rPr>
              <a:t>Risk Scoring Engine</a:t>
            </a:r>
          </a:p>
        </p:txBody>
      </p:sp>
      <p:sp>
        <p:nvSpPr>
          <p:cNvPr id="17" name="TextBox 17"/>
          <p:cNvSpPr txBox="1"/>
          <p:nvPr/>
        </p:nvSpPr>
        <p:spPr>
          <a:xfrm>
            <a:off x="5177790" y="1371600"/>
            <a:ext cx="1836420" cy="1333500"/>
          </a:xfrm>
          <a:prstGeom prst="rect">
            <a:avLst/>
          </a:prstGeom>
          <a:noFill/>
        </p:spPr>
        <p:txBody>
          <a:bodyPr wrap="square" anchor="t" lIns="0" tIns="0" rIns="0" bIns="0">
            <a:noAutofit/>
          </a:bodyPr>
          <a:lstStyle/>
          <a:p>
            <a:pPr marL="0" indent="0" algn="l">
              <a:spcAft>
                <a:spcPts val="600"/>
              </a:spcAft>
              <a:buNone/>
            </a:pPr>
            <a:r>
              <a:rPr lang="en-US" sz="950" dirty="0">
                <a:solidFill>
                  <a:srgbClr val="DCE7EF"/>
                </a:solidFill>
                <a:latin typeface="Calibri"/>
                <a:cs typeface="Calibri"/>
              </a:rPr>
              <a:t>① eGFR Level — 20 pts</a:t>
            </a:r>
          </a:p>
          <a:p>
            <a:pPr marL="0" indent="0" algn="l">
              <a:spcAft>
                <a:spcPts val="600"/>
              </a:spcAft>
              <a:buNone/>
            </a:pPr>
            <a:r>
              <a:rPr lang="en-US" sz="950" dirty="0">
                <a:solidFill>
                  <a:srgbClr val="DCE7EF"/>
                </a:solidFill>
                <a:latin typeface="Calibri"/>
                <a:cs typeface="Calibri"/>
              </a:rPr>
              <a:t>② eGFR Decline Rate — 20 pts</a:t>
            </a:r>
          </a:p>
          <a:p>
            <a:pPr marL="0" indent="0" algn="l">
              <a:spcAft>
                <a:spcPts val="600"/>
              </a:spcAft>
              <a:buNone/>
            </a:pPr>
            <a:r>
              <a:rPr lang="en-US" sz="950" dirty="0">
                <a:solidFill>
                  <a:srgbClr val="DCE7EF"/>
                </a:solidFill>
                <a:latin typeface="Calibri"/>
                <a:cs typeface="Calibri"/>
              </a:rPr>
              <a:t>③ Creatinine Rise — 20 pts</a:t>
            </a:r>
          </a:p>
          <a:p>
            <a:pPr marL="0" indent="0" algn="l">
              <a:spcAft>
                <a:spcPts val="600"/>
              </a:spcAft>
              <a:buNone/>
            </a:pPr>
            <a:r>
              <a:rPr lang="en-US" sz="950" dirty="0">
                <a:solidFill>
                  <a:srgbClr val="DCE7EF"/>
                </a:solidFill>
                <a:latin typeface="Calibri"/>
                <a:cs typeface="Calibri"/>
              </a:rPr>
              <a:t>④ HbA1c Control — 20 pts</a:t>
            </a:r>
          </a:p>
          <a:p>
            <a:pPr marL="0" indent="0" algn="l">
              <a:spcAft>
                <a:spcPts val="600"/>
              </a:spcAft>
              <a:buNone/>
            </a:pPr>
            <a:r>
              <a:rPr lang="en-US" sz="950" dirty="0">
                <a:solidFill>
                  <a:srgbClr val="DCE7EF"/>
                </a:solidFill>
                <a:latin typeface="Calibri"/>
                <a:cs typeface="Calibri"/>
              </a:rPr>
              <a:t>⑤ Urine ACR — 20 pts</a:t>
            </a:r>
          </a:p>
        </p:txBody>
      </p:sp>
      <p:sp>
        <p:nvSpPr>
          <p:cNvPr id="18" name="TextBox 18"/>
          <p:cNvSpPr txBox="1"/>
          <p:nvPr/>
        </p:nvSpPr>
        <p:spPr>
          <a:xfrm>
            <a:off x="5177790" y="3390900"/>
            <a:ext cx="1836420" cy="304800"/>
          </a:xfrm>
          <a:prstGeom prst="rect">
            <a:avLst/>
          </a:prstGeom>
          <a:noFill/>
        </p:spPr>
        <p:txBody>
          <a:bodyPr wrap="square" anchor="t" lIns="0" tIns="0" rIns="0" bIns="0">
            <a:noAutofit/>
          </a:bodyPr>
          <a:lstStyle/>
          <a:p>
            <a:pPr marL="0" indent="0" algn="l">
              <a:lnSpc>
                <a:spcPct val="115000"/>
              </a:lnSpc>
              <a:buNone/>
            </a:pPr>
            <a:r>
              <a:rPr lang="en-US" sz="880" dirty="0">
                <a:solidFill>
                  <a:srgbClr val="B9C6D0"/>
                </a:solidFill>
                <a:latin typeface="Calibri"/>
                <a:cs typeface="Calibri"/>
              </a:rPr>
              <a:t>+ Modifiers: smoking, BP, DM duration</a:t>
            </a:r>
          </a:p>
        </p:txBody>
      </p:sp>
      <p:sp>
        <p:nvSpPr>
          <p:cNvPr id="19" name="TextBox 19"/>
          <p:cNvSpPr txBox="1"/>
          <p:nvPr/>
        </p:nvSpPr>
        <p:spPr>
          <a:xfrm>
            <a:off x="7090410" y="2190750"/>
            <a:ext cx="285750" cy="304800"/>
          </a:xfrm>
          <a:prstGeom prst="rect">
            <a:avLst/>
          </a:prstGeom>
          <a:noFill/>
        </p:spPr>
        <p:txBody>
          <a:bodyPr wrap="square" anchor="ctr" lIns="0" tIns="0" rIns="0" bIns="0">
            <a:noAutofit/>
          </a:bodyPr>
          <a:lstStyle/>
          <a:p>
            <a:pPr marL="0" indent="0" algn="ctr">
              <a:buNone/>
            </a:pPr>
            <a:r>
              <a:rPr lang="en-US" sz="1800" b="1" dirty="0">
                <a:solidFill>
                  <a:srgbClr val="1B4F72"/>
                </a:solidFill>
                <a:latin typeface="Calibri"/>
                <a:cs typeface="Calibri"/>
              </a:rPr>
              <a:t>→</a:t>
            </a:r>
          </a:p>
        </p:txBody>
      </p:sp>
      <p:sp>
        <p:nvSpPr>
          <p:cNvPr id="20" name="Rect 20"/>
          <p:cNvSpPr/>
          <p:nvPr/>
        </p:nvSpPr>
        <p:spPr>
          <a:xfrm>
            <a:off x="7357110" y="914400"/>
            <a:ext cx="2026920" cy="2857500"/>
          </a:xfrm>
          <a:prstGeom prst="roundRect">
            <a:avLst/>
          </a:prstGeom>
          <a:solidFill>
            <a:srgbClr val="EAF1F6"/>
          </a:solidFill>
          <a:ln w="12700">
            <a:solidFill>
              <a:srgbClr val="E3E7E9"/>
            </a:solidFill>
          </a:ln>
        </p:spPr>
        <p:txBody>
          <a:bodyPr/>
          <a:lstStyle/>
          <a:p/>
        </p:txBody>
      </p:sp>
      <p:sp>
        <p:nvSpPr>
          <p:cNvPr id="21" name="TextBox 21"/>
          <p:cNvSpPr txBox="1"/>
          <p:nvPr/>
        </p:nvSpPr>
        <p:spPr>
          <a:xfrm>
            <a:off x="7452360" y="990600"/>
            <a:ext cx="1836420" cy="152400"/>
          </a:xfrm>
          <a:prstGeom prst="rect">
            <a:avLst/>
          </a:prstGeom>
          <a:noFill/>
        </p:spPr>
        <p:txBody>
          <a:bodyPr wrap="square" anchor="t" lIns="0" tIns="0" rIns="0" bIns="0">
            <a:noAutofit/>
          </a:bodyPr>
          <a:lstStyle/>
          <a:p>
            <a:pPr marL="0" indent="0" algn="l">
              <a:buNone/>
            </a:pPr>
            <a:r>
              <a:rPr lang="en-US" sz="950" b="1" dirty="0">
                <a:solidFill>
                  <a:srgbClr val="00A878"/>
                </a:solidFill>
                <a:latin typeface="Calibri"/>
                <a:cs typeface="Calibri"/>
              </a:rPr>
              <a:t>OUTPUT</a:t>
            </a:r>
          </a:p>
        </p:txBody>
      </p:sp>
      <p:sp>
        <p:nvSpPr>
          <p:cNvPr id="22" name="TextBox 22"/>
          <p:cNvSpPr txBox="1"/>
          <p:nvPr/>
        </p:nvSpPr>
        <p:spPr>
          <a:xfrm>
            <a:off x="7452360" y="1162050"/>
            <a:ext cx="1836420" cy="152400"/>
          </a:xfrm>
          <a:prstGeom prst="rect">
            <a:avLst/>
          </a:prstGeom>
          <a:noFill/>
        </p:spPr>
        <p:txBody>
          <a:bodyPr wrap="square" anchor="t" lIns="0" tIns="0" rIns="0" bIns="0">
            <a:noAutofit/>
          </a:bodyPr>
          <a:lstStyle/>
          <a:p>
            <a:pPr marL="0" indent="0" algn="l">
              <a:buNone/>
            </a:pPr>
            <a:r>
              <a:rPr lang="en-US" sz="1050" b="1" dirty="0">
                <a:solidFill>
                  <a:srgbClr val="1B4F72"/>
                </a:solidFill>
                <a:latin typeface="Calibri"/>
                <a:cs typeface="Calibri"/>
              </a:rPr>
              <a:t>Risk Classification</a:t>
            </a:r>
          </a:p>
        </p:txBody>
      </p:sp>
      <p:sp>
        <p:nvSpPr>
          <p:cNvPr id="23" name="Rect 23"/>
          <p:cNvSpPr/>
          <p:nvPr/>
        </p:nvSpPr>
        <p:spPr>
          <a:xfrm>
            <a:off x="7452360" y="1409700"/>
            <a:ext cx="1836420" cy="266700"/>
          </a:xfrm>
          <a:prstGeom prst="roundRect">
            <a:avLst/>
          </a:prstGeom>
          <a:solidFill>
            <a:srgbClr val="27AE60"/>
          </a:solidFill>
          <a:ln>
            <a:noFill/>
          </a:ln>
        </p:spPr>
        <p:txBody>
          <a:bodyPr wrap="square" anchor="ctr" lIns="45720" tIns="27432" rIns="45720" bIns="27432">
            <a:normAutofit/>
          </a:bodyPr>
          <a:lstStyle/>
          <a:p>
            <a:pPr marL="0" indent="0" algn="ctr">
              <a:buNone/>
            </a:pPr>
            <a:r>
              <a:rPr lang="en-US" sz="900" b="1" dirty="0">
                <a:solidFill>
                  <a:srgbClr val="FFFFFF"/>
                </a:solidFill>
                <a:latin typeface="Calibri"/>
                <a:cs typeface="Calibri"/>
              </a:rPr>
              <a:t>LOW (0–24)</a:t>
            </a:r>
          </a:p>
        </p:txBody>
      </p:sp>
      <p:sp>
        <p:nvSpPr>
          <p:cNvPr id="24" name="Rect 24"/>
          <p:cNvSpPr/>
          <p:nvPr/>
        </p:nvSpPr>
        <p:spPr>
          <a:xfrm>
            <a:off x="7452360" y="1752600"/>
            <a:ext cx="1836420" cy="266700"/>
          </a:xfrm>
          <a:prstGeom prst="roundRect">
            <a:avLst/>
          </a:prstGeom>
          <a:solidFill>
            <a:srgbClr val="D4AC0D"/>
          </a:solidFill>
          <a:ln>
            <a:noFill/>
          </a:ln>
        </p:spPr>
        <p:txBody>
          <a:bodyPr wrap="square" anchor="ctr" lIns="45720" tIns="27432" rIns="45720" bIns="27432">
            <a:normAutofit/>
          </a:bodyPr>
          <a:lstStyle/>
          <a:p>
            <a:pPr marL="0" indent="0" algn="ctr">
              <a:buNone/>
            </a:pPr>
            <a:r>
              <a:rPr lang="en-US" sz="900" b="1" dirty="0">
                <a:solidFill>
                  <a:srgbClr val="FFFFFF"/>
                </a:solidFill>
                <a:latin typeface="Calibri"/>
                <a:cs typeface="Calibri"/>
              </a:rPr>
              <a:t>MODERATE (25–49)</a:t>
            </a:r>
          </a:p>
        </p:txBody>
      </p:sp>
      <p:sp>
        <p:nvSpPr>
          <p:cNvPr id="25" name="Rect 25"/>
          <p:cNvSpPr/>
          <p:nvPr/>
        </p:nvSpPr>
        <p:spPr>
          <a:xfrm>
            <a:off x="7452360" y="2095500"/>
            <a:ext cx="1836420" cy="266700"/>
          </a:xfrm>
          <a:prstGeom prst="roundRect">
            <a:avLst/>
          </a:prstGeom>
          <a:solidFill>
            <a:srgbClr val="E67E22"/>
          </a:solidFill>
          <a:ln>
            <a:noFill/>
          </a:ln>
        </p:spPr>
        <p:txBody>
          <a:bodyPr wrap="square" anchor="ctr" lIns="45720" tIns="27432" rIns="45720" bIns="27432">
            <a:normAutofit/>
          </a:bodyPr>
          <a:lstStyle/>
          <a:p>
            <a:pPr marL="0" indent="0" algn="ctr">
              <a:buNone/>
            </a:pPr>
            <a:r>
              <a:rPr lang="en-US" sz="900" b="1" dirty="0">
                <a:solidFill>
                  <a:srgbClr val="FFFFFF"/>
                </a:solidFill>
                <a:latin typeface="Calibri"/>
                <a:cs typeface="Calibri"/>
              </a:rPr>
              <a:t>HIGH (50–74)</a:t>
            </a:r>
          </a:p>
        </p:txBody>
      </p:sp>
      <p:sp>
        <p:nvSpPr>
          <p:cNvPr id="26" name="Rect 26"/>
          <p:cNvSpPr/>
          <p:nvPr/>
        </p:nvSpPr>
        <p:spPr>
          <a:xfrm>
            <a:off x="7452360" y="2438400"/>
            <a:ext cx="1836420" cy="266700"/>
          </a:xfrm>
          <a:prstGeom prst="roundRect">
            <a:avLst/>
          </a:prstGeom>
          <a:solidFill>
            <a:srgbClr val="C0392B"/>
          </a:solidFill>
          <a:ln>
            <a:noFill/>
          </a:ln>
        </p:spPr>
        <p:txBody>
          <a:bodyPr wrap="square" anchor="ctr" lIns="45720" tIns="27432" rIns="45720" bIns="27432">
            <a:normAutofit/>
          </a:bodyPr>
          <a:lstStyle/>
          <a:p>
            <a:pPr marL="0" indent="0" algn="ctr">
              <a:buNone/>
            </a:pPr>
            <a:r>
              <a:rPr lang="en-US" sz="900" b="1" dirty="0">
                <a:solidFill>
                  <a:srgbClr val="FFFFFF"/>
                </a:solidFill>
                <a:latin typeface="Calibri"/>
                <a:cs typeface="Calibri"/>
              </a:rPr>
              <a:t>CRITICAL (75–100)</a:t>
            </a:r>
          </a:p>
        </p:txBody>
      </p:sp>
      <p:sp>
        <p:nvSpPr>
          <p:cNvPr id="27" name="TextBox 27"/>
          <p:cNvSpPr txBox="1"/>
          <p:nvPr/>
        </p:nvSpPr>
        <p:spPr>
          <a:xfrm>
            <a:off x="9364980" y="2190750"/>
            <a:ext cx="285750" cy="304800"/>
          </a:xfrm>
          <a:prstGeom prst="rect">
            <a:avLst/>
          </a:prstGeom>
          <a:noFill/>
        </p:spPr>
        <p:txBody>
          <a:bodyPr wrap="square" anchor="ctr" lIns="0" tIns="0" rIns="0" bIns="0">
            <a:noAutofit/>
          </a:bodyPr>
          <a:lstStyle/>
          <a:p>
            <a:pPr marL="0" indent="0" algn="ctr">
              <a:buNone/>
            </a:pPr>
            <a:r>
              <a:rPr lang="en-US" sz="1800" b="1" dirty="0">
                <a:solidFill>
                  <a:srgbClr val="1B4F72"/>
                </a:solidFill>
                <a:latin typeface="Calibri"/>
                <a:cs typeface="Calibri"/>
              </a:rPr>
              <a:t>→</a:t>
            </a:r>
          </a:p>
        </p:txBody>
      </p:sp>
      <p:sp>
        <p:nvSpPr>
          <p:cNvPr id="28" name="Rect 28"/>
          <p:cNvSpPr/>
          <p:nvPr/>
        </p:nvSpPr>
        <p:spPr>
          <a:xfrm>
            <a:off x="9631680" y="914400"/>
            <a:ext cx="2026920" cy="2857500"/>
          </a:xfrm>
          <a:prstGeom prst="roundRect">
            <a:avLst/>
          </a:prstGeom>
          <a:solidFill>
            <a:srgbClr val="EAF1F6"/>
          </a:solidFill>
          <a:ln w="12700">
            <a:solidFill>
              <a:srgbClr val="E3E7E9"/>
            </a:solidFill>
          </a:ln>
        </p:spPr>
        <p:txBody>
          <a:bodyPr/>
          <a:lstStyle/>
          <a:p/>
        </p:txBody>
      </p:sp>
      <p:sp>
        <p:nvSpPr>
          <p:cNvPr id="29" name="TextBox 29"/>
          <p:cNvSpPr txBox="1"/>
          <p:nvPr/>
        </p:nvSpPr>
        <p:spPr>
          <a:xfrm>
            <a:off x="9726930" y="990600"/>
            <a:ext cx="1836420" cy="152400"/>
          </a:xfrm>
          <a:prstGeom prst="rect">
            <a:avLst/>
          </a:prstGeom>
          <a:noFill/>
        </p:spPr>
        <p:txBody>
          <a:bodyPr wrap="square" anchor="t" lIns="0" tIns="0" rIns="0" bIns="0">
            <a:noAutofit/>
          </a:bodyPr>
          <a:lstStyle/>
          <a:p>
            <a:pPr marL="0" indent="0" algn="l">
              <a:buNone/>
            </a:pPr>
            <a:r>
              <a:rPr lang="en-US" sz="950" b="1" dirty="0">
                <a:solidFill>
                  <a:srgbClr val="00A878"/>
                </a:solidFill>
                <a:latin typeface="Calibri"/>
                <a:cs typeface="Calibri"/>
              </a:rPr>
              <a:t>ACTION</a:t>
            </a:r>
          </a:p>
        </p:txBody>
      </p:sp>
      <p:sp>
        <p:nvSpPr>
          <p:cNvPr id="30" name="TextBox 30"/>
          <p:cNvSpPr txBox="1"/>
          <p:nvPr/>
        </p:nvSpPr>
        <p:spPr>
          <a:xfrm>
            <a:off x="9726930" y="1162050"/>
            <a:ext cx="1836420" cy="152400"/>
          </a:xfrm>
          <a:prstGeom prst="rect">
            <a:avLst/>
          </a:prstGeom>
          <a:noFill/>
        </p:spPr>
        <p:txBody>
          <a:bodyPr wrap="square" anchor="t" lIns="0" tIns="0" rIns="0" bIns="0">
            <a:noAutofit/>
          </a:bodyPr>
          <a:lstStyle/>
          <a:p>
            <a:pPr marL="0" indent="0" algn="l">
              <a:buNone/>
            </a:pPr>
            <a:r>
              <a:rPr lang="en-US" sz="1050" b="1" dirty="0">
                <a:solidFill>
                  <a:srgbClr val="1B4F72"/>
                </a:solidFill>
                <a:latin typeface="Calibri"/>
                <a:cs typeface="Calibri"/>
              </a:rPr>
              <a:t>Clinical Decision Support</a:t>
            </a:r>
          </a:p>
        </p:txBody>
      </p:sp>
      <p:sp>
        <p:nvSpPr>
          <p:cNvPr id="31" name="TextBox 31"/>
          <p:cNvSpPr txBox="1"/>
          <p:nvPr/>
        </p:nvSpPr>
        <p:spPr>
          <a:xfrm>
            <a:off x="9726930" y="1371600"/>
            <a:ext cx="1836420" cy="2286000"/>
          </a:xfrm>
          <a:prstGeom prst="rect">
            <a:avLst/>
          </a:prstGeom>
          <a:noFill/>
        </p:spPr>
        <p:txBody>
          <a:bodyPr wrap="square" anchor="t" lIns="0" tIns="0" rIns="0" bIns="0">
            <a:noAutofit/>
          </a:bodyPr>
          <a:lstStyle/>
          <a:p>
            <a:pPr marL="171450" indent="-171450" algn="l">
              <a:spcAft>
                <a:spcPts val="600"/>
              </a:spcAft>
              <a:buFont typeface="Arial"/>
              <a:buChar char="•"/>
            </a:pPr>
            <a:r>
              <a:rPr lang="en-US" sz="950" dirty="0">
                <a:solidFill>
                  <a:srgbClr val="2C3E50"/>
                </a:solidFill>
                <a:latin typeface="Calibri"/>
                <a:cs typeface="Calibri"/>
              </a:rPr>
              <a:t>Plain English explanation</a:t>
            </a:r>
          </a:p>
          <a:p>
            <a:pPr marL="171450" indent="-171450" algn="l">
              <a:spcAft>
                <a:spcPts val="600"/>
              </a:spcAft>
              <a:buFont typeface="Arial"/>
              <a:buChar char="•"/>
            </a:pPr>
            <a:r>
              <a:rPr lang="en-US" sz="950" dirty="0">
                <a:solidFill>
                  <a:srgbClr val="2C3E50"/>
                </a:solidFill>
                <a:latin typeface="Calibri"/>
                <a:cs typeface="Calibri"/>
              </a:rPr>
              <a:t>Tamil language output</a:t>
            </a:r>
          </a:p>
          <a:p>
            <a:pPr marL="171450" indent="-171450" algn="l">
              <a:spcAft>
                <a:spcPts val="600"/>
              </a:spcAft>
              <a:buFont typeface="Arial"/>
              <a:buChar char="•"/>
            </a:pPr>
            <a:r>
              <a:rPr lang="en-US" sz="950" dirty="0">
                <a:solidFill>
                  <a:srgbClr val="2C3E50"/>
                </a:solidFill>
                <a:latin typeface="Calibri"/>
                <a:cs typeface="Calibri"/>
              </a:rPr>
              <a:t>Referral recommendation</a:t>
            </a:r>
          </a:p>
          <a:p>
            <a:pPr marL="171450" indent="-171450" algn="l">
              <a:spcAft>
                <a:spcPts val="600"/>
              </a:spcAft>
              <a:buFont typeface="Arial"/>
              <a:buChar char="•"/>
            </a:pPr>
            <a:r>
              <a:rPr lang="en-US" sz="950" dirty="0">
                <a:solidFill>
                  <a:srgbClr val="2C3E50"/>
                </a:solidFill>
                <a:latin typeface="Calibri"/>
                <a:cs typeface="Calibri"/>
              </a:rPr>
              <a:t>Urgency classification</a:t>
            </a:r>
          </a:p>
          <a:p>
            <a:pPr marL="171450" indent="-171450" algn="l">
              <a:spcAft>
                <a:spcPts val="600"/>
              </a:spcAft>
              <a:buFont typeface="Arial"/>
              <a:buChar char="•"/>
            </a:pPr>
            <a:r>
              <a:rPr lang="en-US" sz="950" dirty="0">
                <a:solidFill>
                  <a:srgbClr val="2C3E50"/>
                </a:solidFill>
                <a:latin typeface="Calibri"/>
                <a:cs typeface="Calibri"/>
              </a:rPr>
              <a:t>PDF report generation</a:t>
            </a:r>
          </a:p>
        </p:txBody>
      </p:sp>
      <p:sp>
        <p:nvSpPr>
          <p:cNvPr id="32" name="Rect 32"/>
          <p:cNvSpPr/>
          <p:nvPr/>
        </p:nvSpPr>
        <p:spPr>
          <a:xfrm>
            <a:off x="533400" y="4000500"/>
            <a:ext cx="5448300" cy="1238250"/>
          </a:xfrm>
          <a:prstGeom prst="roundRect">
            <a:avLst/>
          </a:prstGeom>
          <a:solidFill>
            <a:srgbClr val="F4F6F7"/>
          </a:solidFill>
          <a:ln w="12700">
            <a:solidFill>
              <a:srgbClr val="E3E7E9"/>
            </a:solidFill>
          </a:ln>
        </p:spPr>
        <p:txBody>
          <a:bodyPr/>
          <a:lstStyle/>
          <a:p/>
        </p:txBody>
      </p:sp>
      <p:sp>
        <p:nvSpPr>
          <p:cNvPr id="33" name="Rect 33"/>
          <p:cNvSpPr/>
          <p:nvPr/>
        </p:nvSpPr>
        <p:spPr>
          <a:xfrm>
            <a:off x="533400" y="4000500"/>
            <a:ext cx="5448300" cy="38100"/>
          </a:xfrm>
          <a:prstGeom prst="rect">
            <a:avLst/>
          </a:prstGeom>
          <a:solidFill>
            <a:srgbClr val="1B4F72"/>
          </a:solidFill>
          <a:ln>
            <a:noFill/>
          </a:ln>
        </p:spPr>
        <p:txBody>
          <a:bodyPr/>
          <a:lstStyle/>
          <a:p/>
        </p:txBody>
      </p:sp>
      <p:sp>
        <p:nvSpPr>
          <p:cNvPr id="34" name="TextBox 34"/>
          <p:cNvSpPr txBox="1"/>
          <p:nvPr/>
        </p:nvSpPr>
        <p:spPr>
          <a:xfrm>
            <a:off x="666750" y="4095750"/>
            <a:ext cx="5181600" cy="171450"/>
          </a:xfrm>
          <a:prstGeom prst="rect">
            <a:avLst/>
          </a:prstGeom>
          <a:noFill/>
        </p:spPr>
        <p:txBody>
          <a:bodyPr wrap="square" anchor="t" lIns="0" tIns="0" rIns="0" bIns="0">
            <a:noAutofit/>
          </a:bodyPr>
          <a:lstStyle/>
          <a:p>
            <a:pPr marL="0" indent="0" algn="l">
              <a:buNone/>
            </a:pPr>
            <a:r>
              <a:rPr lang="en-US" sz="1100" b="1" dirty="0">
                <a:solidFill>
                  <a:srgbClr val="1B4F72"/>
                </a:solidFill>
                <a:latin typeface="Calibri"/>
                <a:cs typeface="Calibri"/>
              </a:rPr>
              <a:t>TRAINING DATASET</a:t>
            </a:r>
          </a:p>
        </p:txBody>
      </p:sp>
      <p:sp>
        <p:nvSpPr>
          <p:cNvPr id="35" name="TextBox 35"/>
          <p:cNvSpPr txBox="1"/>
          <p:nvPr/>
        </p:nvSpPr>
        <p:spPr>
          <a:xfrm>
            <a:off x="666750" y="4305300"/>
            <a:ext cx="5181600" cy="857250"/>
          </a:xfrm>
          <a:prstGeom prst="rect">
            <a:avLst/>
          </a:prstGeom>
          <a:noFill/>
        </p:spPr>
        <p:txBody>
          <a:bodyPr wrap="square" anchor="t" lIns="0" tIns="0" rIns="0" bIns="0">
            <a:noAutofit/>
          </a:bodyPr>
          <a:lstStyle/>
          <a:p>
            <a:pPr marL="171450" indent="-171450" algn="l">
              <a:spcAft>
                <a:spcPts val="500"/>
              </a:spcAft>
              <a:buFont typeface="Arial"/>
              <a:buChar char="•"/>
            </a:pPr>
            <a:r>
              <a:rPr lang="en-US" sz="1050" dirty="0">
                <a:solidFill>
                  <a:srgbClr val="2C3E50"/>
                </a:solidFill>
                <a:latin typeface="Calibri"/>
                <a:cs typeface="Calibri"/>
              </a:rPr>
              <a:t>UCI CKD Dataset (400 instances)</a:t>
            </a:r>
          </a:p>
          <a:p>
            <a:pPr marL="171450" indent="-171450" algn="l">
              <a:spcAft>
                <a:spcPts val="500"/>
              </a:spcAft>
              <a:buFont typeface="Arial"/>
              <a:buChar char="•"/>
            </a:pPr>
            <a:r>
              <a:rPr lang="en-US" sz="1050" dirty="0">
                <a:solidFill>
                  <a:srgbClr val="2C3E50"/>
                </a:solidFill>
                <a:latin typeface="Calibri"/>
                <a:cs typeface="Calibri"/>
              </a:rPr>
              <a:t>NHANES Diabetic Subset (~3,000)</a:t>
            </a:r>
          </a:p>
          <a:p>
            <a:pPr marL="171450" indent="-171450" algn="l">
              <a:spcAft>
                <a:spcPts val="500"/>
              </a:spcAft>
              <a:buFont typeface="Arial"/>
              <a:buChar char="•"/>
            </a:pPr>
            <a:r>
              <a:rPr lang="en-US" sz="1050" dirty="0">
                <a:solidFill>
                  <a:srgbClr val="2C3E50"/>
                </a:solidFill>
                <a:latin typeface="Calibri"/>
                <a:cs typeface="Calibri"/>
              </a:rPr>
              <a:t>Local PHC data (50+ records)</a:t>
            </a:r>
          </a:p>
          <a:p>
            <a:pPr marL="171450" indent="-171450" algn="l">
              <a:spcAft>
                <a:spcPts val="500"/>
              </a:spcAft>
              <a:buFont typeface="Arial"/>
              <a:buChar char="•"/>
            </a:pPr>
            <a:r>
              <a:rPr lang="en-US" sz="1050" dirty="0">
                <a:solidFill>
                  <a:srgbClr val="2C3E50"/>
                </a:solidFill>
                <a:latin typeface="Calibri"/>
                <a:cs typeface="Calibri"/>
              </a:rPr>
              <a:t>Algorithm: Random Forest + OLS Regression</a:t>
            </a:r>
          </a:p>
        </p:txBody>
      </p:sp>
      <p:sp>
        <p:nvSpPr>
          <p:cNvPr id="36" name="Rect 36"/>
          <p:cNvSpPr/>
          <p:nvPr/>
        </p:nvSpPr>
        <p:spPr>
          <a:xfrm>
            <a:off x="6210300" y="4000500"/>
            <a:ext cx="5448300" cy="1238250"/>
          </a:xfrm>
          <a:prstGeom prst="roundRect">
            <a:avLst/>
          </a:prstGeom>
          <a:solidFill>
            <a:srgbClr val="F4F6F7"/>
          </a:solidFill>
          <a:ln w="12700">
            <a:solidFill>
              <a:srgbClr val="E3E7E9"/>
            </a:solidFill>
          </a:ln>
        </p:spPr>
        <p:txBody>
          <a:bodyPr/>
          <a:lstStyle/>
          <a:p/>
        </p:txBody>
      </p:sp>
      <p:sp>
        <p:nvSpPr>
          <p:cNvPr id="37" name="Rect 37"/>
          <p:cNvSpPr/>
          <p:nvPr/>
        </p:nvSpPr>
        <p:spPr>
          <a:xfrm>
            <a:off x="6210300" y="4000500"/>
            <a:ext cx="5448300" cy="38100"/>
          </a:xfrm>
          <a:prstGeom prst="rect">
            <a:avLst/>
          </a:prstGeom>
          <a:solidFill>
            <a:srgbClr val="00A878"/>
          </a:solidFill>
          <a:ln>
            <a:noFill/>
          </a:ln>
        </p:spPr>
        <p:txBody>
          <a:bodyPr/>
          <a:lstStyle/>
          <a:p/>
        </p:txBody>
      </p:sp>
      <p:sp>
        <p:nvSpPr>
          <p:cNvPr id="38" name="TextBox 38"/>
          <p:cNvSpPr txBox="1"/>
          <p:nvPr/>
        </p:nvSpPr>
        <p:spPr>
          <a:xfrm>
            <a:off x="6343650" y="4095750"/>
            <a:ext cx="5181600" cy="171450"/>
          </a:xfrm>
          <a:prstGeom prst="rect">
            <a:avLst/>
          </a:prstGeom>
          <a:noFill/>
        </p:spPr>
        <p:txBody>
          <a:bodyPr wrap="square" anchor="t" lIns="0" tIns="0" rIns="0" bIns="0">
            <a:noAutofit/>
          </a:bodyPr>
          <a:lstStyle/>
          <a:p>
            <a:pPr marL="0" indent="0" algn="l">
              <a:buNone/>
            </a:pPr>
            <a:r>
              <a:rPr lang="en-US" sz="1100" b="1" dirty="0">
                <a:solidFill>
                  <a:srgbClr val="1B4F72"/>
                </a:solidFill>
                <a:latin typeface="Calibri"/>
                <a:cs typeface="Calibri"/>
              </a:rPr>
              <a:t>VALIDATION METRICS</a:t>
            </a:r>
          </a:p>
        </p:txBody>
      </p:sp>
      <p:sp>
        <p:nvSpPr>
          <p:cNvPr id="39" name="TextBox 39"/>
          <p:cNvSpPr txBox="1"/>
          <p:nvPr/>
        </p:nvSpPr>
        <p:spPr>
          <a:xfrm>
            <a:off x="6343650" y="4305300"/>
            <a:ext cx="5181600" cy="857250"/>
          </a:xfrm>
          <a:prstGeom prst="rect">
            <a:avLst/>
          </a:prstGeom>
          <a:noFill/>
        </p:spPr>
        <p:txBody>
          <a:bodyPr wrap="square" anchor="t" lIns="0" tIns="0" rIns="0" bIns="0">
            <a:noAutofit/>
          </a:bodyPr>
          <a:lstStyle/>
          <a:p>
            <a:pPr marL="171450" indent="-171450" algn="l">
              <a:spcAft>
                <a:spcPts val="500"/>
              </a:spcAft>
              <a:buFont typeface="Arial"/>
              <a:buChar char="•"/>
            </a:pPr>
            <a:r>
              <a:rPr lang="en-US" sz="1050" dirty="0">
                <a:solidFill>
                  <a:srgbClr val="2C3E50"/>
                </a:solidFill>
                <a:latin typeface="Calibri"/>
                <a:cs typeface="Calibri"/>
              </a:rPr>
              <a:t>AUC-ROC target: ≥ 0.80</a:t>
            </a:r>
          </a:p>
          <a:p>
            <a:pPr marL="171450" indent="-171450" algn="l">
              <a:spcAft>
                <a:spcPts val="500"/>
              </a:spcAft>
              <a:buFont typeface="Arial"/>
              <a:buChar char="•"/>
            </a:pPr>
            <a:r>
              <a:rPr lang="en-US" sz="1050" dirty="0">
                <a:solidFill>
                  <a:srgbClr val="2C3E50"/>
                </a:solidFill>
                <a:latin typeface="Calibri"/>
                <a:cs typeface="Calibri"/>
              </a:rPr>
              <a:t>Sensitivity: ≥ 75%</a:t>
            </a:r>
          </a:p>
          <a:p>
            <a:pPr marL="171450" indent="-171450" algn="l">
              <a:spcAft>
                <a:spcPts val="500"/>
              </a:spcAft>
              <a:buFont typeface="Arial"/>
              <a:buChar char="•"/>
            </a:pPr>
            <a:r>
              <a:rPr lang="en-US" sz="1050" dirty="0">
                <a:solidFill>
                  <a:srgbClr val="2C3E50"/>
                </a:solidFill>
                <a:latin typeface="Calibri"/>
                <a:cs typeface="Calibri"/>
              </a:rPr>
              <a:t>Specificity: ≥ 80%</a:t>
            </a:r>
          </a:p>
          <a:p>
            <a:pPr marL="171450" indent="-171450" algn="l">
              <a:spcAft>
                <a:spcPts val="500"/>
              </a:spcAft>
              <a:buFont typeface="Arial"/>
              <a:buChar char="•"/>
            </a:pPr>
            <a:r>
              <a:rPr lang="en-US" sz="1050" dirty="0">
                <a:solidFill>
                  <a:srgbClr val="2C3E50"/>
                </a:solidFill>
                <a:latin typeface="Calibri"/>
                <a:cs typeface="Calibri"/>
              </a:rPr>
              <a:t>Confidence scaled by visit count</a:t>
            </a:r>
          </a:p>
        </p:txBody>
      </p:sp>
      <p:cxnSp>
        <p:nvCxnSpPr>
          <p:cNvPr id="40" name="Line 40"/>
          <p:cNvCxnSpPr/>
          <p:nvPr/>
        </p:nvCxnSpPr>
        <p:spPr>
          <a:xfrm flipH="0" flipV="0">
            <a:off x="533400" y="6667500"/>
            <a:ext cx="11125200" cy="9525"/>
          </a:xfrm>
          <a:prstGeom prst="line">
            <a:avLst/>
          </a:prstGeom>
          <a:ln w="12700">
            <a:solidFill>
              <a:srgbClr val="E3E7E9"/>
            </a:solidFill>
          </a:ln>
        </p:spPr>
      </p:cxnSp>
      <p:sp>
        <p:nvSpPr>
          <p:cNvPr id="41" name="TextBox 41"/>
          <p:cNvSpPr txBox="1"/>
          <p:nvPr/>
        </p:nvSpPr>
        <p:spPr>
          <a:xfrm>
            <a:off x="533400" y="6705600"/>
            <a:ext cx="8572500" cy="190500"/>
          </a:xfrm>
          <a:prstGeom prst="rect">
            <a:avLst/>
          </a:prstGeom>
          <a:noFill/>
        </p:spPr>
        <p:txBody>
          <a:bodyPr wrap="square" anchor="t" lIns="0" tIns="0" rIns="0" bIns="0">
            <a:noAutofit/>
          </a:bodyPr>
          <a:lstStyle/>
          <a:p>
            <a:pPr marL="0" indent="0" algn="l">
              <a:buNone/>
            </a:pPr>
            <a:r>
              <a:rPr lang="en-US" sz="850" dirty="0">
                <a:solidFill>
                  <a:srgbClr val="7A8B99"/>
                </a:solidFill>
                <a:latin typeface="Calibri"/>
                <a:cs typeface="Calibri"/>
              </a:rPr>
              <a:t>NephroAlert | ACS-AMRI Seed Grant Proposal 2026 | Dr. MGR Educational and Research Institute, Chennai</a:t>
            </a:r>
          </a:p>
        </p:txBody>
      </p:sp>
      <p:sp>
        <p:nvSpPr>
          <p:cNvPr id="42" name="TextBox 42"/>
          <p:cNvSpPr txBox="1"/>
          <p:nvPr/>
        </p:nvSpPr>
        <p:spPr>
          <a:xfrm>
            <a:off x="11277600" y="6667500"/>
            <a:ext cx="381000" cy="190500"/>
          </a:xfrm>
          <a:prstGeom prst="rect">
            <a:avLst/>
          </a:prstGeom>
          <a:noFill/>
        </p:spPr>
        <p:txBody>
          <a:bodyPr wrap="square" anchor="t" lIns="0" tIns="0" rIns="0" bIns="0">
            <a:noAutofit/>
          </a:bodyPr>
          <a:lstStyle/>
          <a:p>
            <a:pPr marL="0" indent="0" algn="r">
              <a:buNone/>
            </a:pPr>
            <a:r>
              <a:rPr lang="en-US" sz="1100" b="1" dirty="0">
                <a:solidFill>
                  <a:srgbClr val="1B4F72"/>
                </a:solidFill>
                <a:latin typeface="Calibri"/>
                <a:cs typeface="Calibri"/>
              </a:rPr>
              <a:t>5</a:t>
            </a:r>
          </a:p>
        </p:txBody>
      </p:sp>
    </p:spTree>
  </p:cSld>
  <p:clrMapOvr>
    <a:overrideClrMapping bg1="lt1" tx1="dk1" bg2="lt2" tx2="dk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2"/>
          <p:cNvSpPr txBox="1"/>
          <p:nvPr/>
        </p:nvSpPr>
        <p:spPr>
          <a:xfrm>
            <a:off x="533400" y="285750"/>
            <a:ext cx="11125200" cy="381000"/>
          </a:xfrm>
          <a:prstGeom prst="rect">
            <a:avLst/>
          </a:prstGeom>
          <a:noFill/>
        </p:spPr>
        <p:txBody>
          <a:bodyPr wrap="square" anchor="t" lIns="0" tIns="0" rIns="0" bIns="0">
            <a:noAutofit/>
          </a:bodyPr>
          <a:lstStyle/>
          <a:p>
            <a:pPr marL="0" indent="0" algn="l">
              <a:buNone/>
            </a:pPr>
            <a:r>
              <a:rPr lang="en-US" sz="2500" b="1" dirty="0">
                <a:solidFill>
                  <a:srgbClr val="1B4F72"/>
                </a:solidFill>
                <a:latin typeface="Calibri"/>
                <a:cs typeface="Calibri"/>
              </a:rPr>
              <a:t>Core Algorithms — The Mathematical Foundation</a:t>
            </a:r>
          </a:p>
        </p:txBody>
      </p:sp>
      <p:sp>
        <p:nvSpPr>
          <p:cNvPr id="3" name="Rect 3"/>
          <p:cNvSpPr/>
          <p:nvPr/>
        </p:nvSpPr>
        <p:spPr>
          <a:xfrm>
            <a:off x="533400" y="666750"/>
            <a:ext cx="609600" cy="47625"/>
          </a:xfrm>
          <a:prstGeom prst="roundRect">
            <a:avLst/>
          </a:prstGeom>
          <a:solidFill>
            <a:srgbClr val="00A878"/>
          </a:solidFill>
          <a:ln>
            <a:noFill/>
          </a:ln>
        </p:spPr>
        <p:txBody>
          <a:bodyPr/>
          <a:lstStyle/>
          <a:p/>
        </p:txBody>
      </p:sp>
      <p:sp>
        <p:nvSpPr>
          <p:cNvPr id="4" name="TextBox 4"/>
          <p:cNvSpPr txBox="1"/>
          <p:nvPr/>
        </p:nvSpPr>
        <p:spPr>
          <a:xfrm>
            <a:off x="533400" y="895350"/>
            <a:ext cx="6667500" cy="171450"/>
          </a:xfrm>
          <a:prstGeom prst="rect">
            <a:avLst/>
          </a:prstGeom>
          <a:noFill/>
        </p:spPr>
        <p:txBody>
          <a:bodyPr wrap="square" anchor="t" lIns="0" tIns="0" rIns="0" bIns="0">
            <a:noAutofit/>
          </a:bodyPr>
          <a:lstStyle/>
          <a:p>
            <a:pPr marL="0" indent="0" algn="l">
              <a:buNone/>
            </a:pPr>
            <a:r>
              <a:rPr lang="en-US" sz="1150" b="1" dirty="0">
                <a:solidFill>
                  <a:srgbClr val="1B4F72"/>
                </a:solidFill>
                <a:latin typeface="Calibri"/>
                <a:cs typeface="Calibri"/>
              </a:rPr>
              <a:t>ALGORITHM 1 — CKD-EPI 2021 REAL-TIME eGFR CALCULATION</a:t>
            </a:r>
          </a:p>
        </p:txBody>
      </p:sp>
      <p:sp>
        <p:nvSpPr>
          <p:cNvPr id="5" name="Rect 5"/>
          <p:cNvSpPr/>
          <p:nvPr/>
        </p:nvSpPr>
        <p:spPr>
          <a:xfrm>
            <a:off x="533400" y="1104900"/>
            <a:ext cx="6667500" cy="1143000"/>
          </a:xfrm>
          <a:prstGeom prst="roundRect">
            <a:avLst/>
          </a:prstGeom>
          <a:solidFill>
            <a:srgbClr val="EAF1F6"/>
          </a:solidFill>
          <a:ln w="12700">
            <a:solidFill>
              <a:srgbClr val="E3E7E9"/>
            </a:solidFill>
          </a:ln>
        </p:spPr>
        <p:txBody>
          <a:bodyPr/>
          <a:lstStyle/>
          <a:p/>
        </p:txBody>
      </p:sp>
      <p:sp>
        <p:nvSpPr>
          <p:cNvPr id="6" name="TextBox 6"/>
          <p:cNvSpPr txBox="1"/>
          <p:nvPr/>
        </p:nvSpPr>
        <p:spPr>
          <a:xfrm>
            <a:off x="723900" y="1200150"/>
            <a:ext cx="6286500" cy="857250"/>
          </a:xfrm>
          <a:prstGeom prst="rect">
            <a:avLst/>
          </a:prstGeom>
          <a:noFill/>
        </p:spPr>
        <p:txBody>
          <a:bodyPr wrap="square" anchor="t" lIns="0" tIns="0" rIns="0" bIns="0">
            <a:noAutofit/>
          </a:bodyPr>
          <a:lstStyle/>
          <a:p>
            <a:pPr marL="0" indent="0" algn="l">
              <a:spcAft>
                <a:spcPts val="600"/>
              </a:spcAft>
              <a:buNone/>
            </a:pPr>
            <a:r>
              <a:rPr lang="en-US" sz="1250" b="1" dirty="0">
                <a:solidFill>
                  <a:srgbClr val="1B4F72"/>
                </a:solidFill>
                <a:latin typeface="Calibri"/>
                <a:cs typeface="Calibri"/>
              </a:rPr>
              <a:t>For Scr / κ &lt; 1:   eGFR = 142 × (Scr/κ)^α × (0.9938)^Age</a:t>
            </a:r>
          </a:p>
          <a:p>
            <a:pPr marL="0" indent="0" algn="l">
              <a:spcAft>
                <a:spcPts val="800"/>
              </a:spcAft>
              <a:buNone/>
            </a:pPr>
            <a:r>
              <a:rPr lang="en-US" sz="1250" b="1" dirty="0">
                <a:solidFill>
                  <a:srgbClr val="1B4F72"/>
                </a:solidFill>
                <a:latin typeface="Calibri"/>
                <a:cs typeface="Calibri"/>
              </a:rPr>
              <a:t>For Scr / κ ≥ 1:   eGFR = 142 × (Scr/κ)^(−1.200) × (0.9938)^Age</a:t>
            </a:r>
          </a:p>
          <a:p>
            <a:pPr marL="0" indent="0" algn="l">
              <a:buNone/>
            </a:pPr>
            <a:r>
              <a:rPr lang="en-US" sz="950" dirty="0">
                <a:solidFill>
                  <a:srgbClr val="5B6B77"/>
                </a:solidFill>
                <a:latin typeface="Calibri"/>
                <a:cs typeface="Calibri"/>
              </a:rPr>
              <a:t>κ = 0.7 (Female) | 0.9 (Male)  ·  α = −0.241 (Female) | −0.302 (Male)  ·  Female multiplier ×1.012</a:t>
            </a:r>
          </a:p>
        </p:txBody>
      </p:sp>
      <p:sp>
        <p:nvSpPr>
          <p:cNvPr id="7" name="Rect 7"/>
          <p:cNvSpPr/>
          <p:nvPr/>
        </p:nvSpPr>
        <p:spPr>
          <a:xfrm>
            <a:off x="7429500" y="1104900"/>
            <a:ext cx="4229100" cy="1143000"/>
          </a:xfrm>
          <a:prstGeom prst="roundRect">
            <a:avLst/>
          </a:prstGeom>
          <a:solidFill>
            <a:srgbClr val="F4F6F7"/>
          </a:solidFill>
          <a:ln w="12700">
            <a:solidFill>
              <a:srgbClr val="E3E7E9"/>
            </a:solidFill>
          </a:ln>
        </p:spPr>
        <p:txBody>
          <a:bodyPr/>
          <a:lstStyle/>
          <a:p/>
        </p:txBody>
      </p:sp>
      <p:sp>
        <p:nvSpPr>
          <p:cNvPr id="8" name="TextBox 8"/>
          <p:cNvSpPr txBox="1"/>
          <p:nvPr/>
        </p:nvSpPr>
        <p:spPr>
          <a:xfrm>
            <a:off x="7562850" y="1181100"/>
            <a:ext cx="3962400" cy="152400"/>
          </a:xfrm>
          <a:prstGeom prst="rect">
            <a:avLst/>
          </a:prstGeom>
          <a:noFill/>
        </p:spPr>
        <p:txBody>
          <a:bodyPr wrap="square" anchor="t" lIns="0" tIns="0" rIns="0" bIns="0">
            <a:noAutofit/>
          </a:bodyPr>
          <a:lstStyle/>
          <a:p>
            <a:pPr marL="0" indent="0" algn="l">
              <a:buNone/>
            </a:pPr>
            <a:r>
              <a:rPr lang="en-US" sz="950" b="1" dirty="0">
                <a:solidFill>
                  <a:srgbClr val="1B4F72"/>
                </a:solidFill>
                <a:latin typeface="Calibri"/>
                <a:cs typeface="Calibri"/>
              </a:rPr>
              <a:t>CKD STAGE REFERENCE (eGFR, ml/min)</a:t>
            </a:r>
          </a:p>
        </p:txBody>
      </p:sp>
      <p:graphicFrame>
        <p:nvGraphicFramePr>
          <p:cNvPr id="9" name="Table 9"/>
          <p:cNvGraphicFramePr>
            <a:graphicFrameLocks noGrp="1"/>
          </p:cNvGraphicFramePr>
          <p:nvPr/>
        </p:nvGraphicFramePr>
        <p:xfrm>
          <a:off x="7562850" y="1371600"/>
          <a:ext cx="3962400" cy="800100"/>
        </p:xfrm>
        <a:graphic>
          <a:graphicData uri="http://schemas.openxmlformats.org/drawingml/2006/table">
            <a:tbl>
              <a:tblPr firstRow="1" bandRow="1"/>
              <a:tblGrid>
                <a:gridCol w="666750"/>
                <a:gridCol w="571500"/>
                <a:gridCol w="666750"/>
                <a:gridCol w="571500"/>
              </a:tblGrid>
              <a:tr h="266700">
                <a:tc>
                  <a:txBody>
                    <a:bodyPr wrap="square" lIns="36576" tIns="18288" rIns="36576" bIns="18288" anchor="ctr"/>
                    <a:lstStyle/>
                    <a:p>
                      <a:pPr marL="0" indent="0" algn="l">
                        <a:buNone/>
                      </a:pPr>
                      <a:r>
                        <a:rPr lang="en-US" sz="950" dirty="0">
                          <a:solidFill>
                            <a:srgbClr val="2C3E50"/>
                          </a:solidFill>
                          <a:latin typeface="Calibri"/>
                          <a:cs typeface="Calibri"/>
                        </a:rPr>
                        <a:t>Stage 1</a:t>
                      </a:r>
                    </a:p>
                  </a:txBody>
                  <a:tcPr marL="36576" marR="36576" marT="18288" marB="18288" anchor="ctr">
                    <a:solidFill>
                      <a:srgbClr val="FFFFFF"/>
                    </a:solidFill>
                    <a:lnL w="6350">
                      <a:solidFill>
                        <a:srgbClr val="E3E7E9"/>
                      </a:solidFill>
                    </a:lnL>
                    <a:lnR w="6350">
                      <a:solidFill>
                        <a:srgbClr val="E3E7E9"/>
                      </a:solidFill>
                    </a:lnR>
                    <a:lnT w="6350">
                      <a:solidFill>
                        <a:srgbClr val="E3E7E9"/>
                      </a:solidFill>
                    </a:lnT>
                    <a:lnB w="6350">
                      <a:solidFill>
                        <a:srgbClr val="E3E7E9"/>
                      </a:solidFill>
                    </a:lnB>
                  </a:tcPr>
                </a:tc>
                <a:tc>
                  <a:txBody>
                    <a:bodyPr wrap="square" lIns="36576" tIns="18288" rIns="36576" bIns="18288" anchor="ctr"/>
                    <a:lstStyle/>
                    <a:p>
                      <a:pPr marL="0" indent="0" algn="r">
                        <a:buNone/>
                      </a:pPr>
                      <a:r>
                        <a:rPr lang="en-US" sz="950" b="1" dirty="0">
                          <a:solidFill>
                            <a:srgbClr val="2C3E50"/>
                          </a:solidFill>
                          <a:latin typeface="Calibri"/>
                          <a:cs typeface="Calibri"/>
                        </a:rPr>
                        <a:t>≥ 90</a:t>
                      </a:r>
                    </a:p>
                  </a:txBody>
                  <a:tcPr marL="36576" marR="36576" marT="18288" marB="18288" anchor="ctr">
                    <a:solidFill>
                      <a:srgbClr val="FFFFFF"/>
                    </a:solidFill>
                    <a:lnL w="6350">
                      <a:solidFill>
                        <a:srgbClr val="E3E7E9"/>
                      </a:solidFill>
                    </a:lnL>
                    <a:lnR w="6350">
                      <a:solidFill>
                        <a:srgbClr val="E3E7E9"/>
                      </a:solidFill>
                    </a:lnR>
                    <a:lnT w="6350">
                      <a:solidFill>
                        <a:srgbClr val="E3E7E9"/>
                      </a:solidFill>
                    </a:lnT>
                    <a:lnB w="6350">
                      <a:solidFill>
                        <a:srgbClr val="E3E7E9"/>
                      </a:solidFill>
                    </a:lnB>
                  </a:tcPr>
                </a:tc>
                <a:tc>
                  <a:txBody>
                    <a:bodyPr wrap="square" lIns="36576" tIns="18288" rIns="36576" bIns="18288" anchor="ctr"/>
                    <a:lstStyle/>
                    <a:p>
                      <a:pPr marL="0" indent="0" algn="l">
                        <a:buNone/>
                      </a:pPr>
                      <a:r>
                        <a:rPr lang="en-US" sz="950" dirty="0">
                          <a:solidFill>
                            <a:srgbClr val="2C3E50"/>
                          </a:solidFill>
                          <a:latin typeface="Calibri"/>
                          <a:cs typeface="Calibri"/>
                        </a:rPr>
                        <a:t>Stage 3b</a:t>
                      </a:r>
                    </a:p>
                  </a:txBody>
                  <a:tcPr marL="36576" marR="36576" marT="18288" marB="18288" anchor="ctr">
                    <a:solidFill>
                      <a:srgbClr val="FFFFFF"/>
                    </a:solidFill>
                    <a:lnL w="6350">
                      <a:solidFill>
                        <a:srgbClr val="E3E7E9"/>
                      </a:solidFill>
                    </a:lnL>
                    <a:lnR w="6350">
                      <a:solidFill>
                        <a:srgbClr val="E3E7E9"/>
                      </a:solidFill>
                    </a:lnR>
                    <a:lnT w="6350">
                      <a:solidFill>
                        <a:srgbClr val="E3E7E9"/>
                      </a:solidFill>
                    </a:lnT>
                    <a:lnB w="6350">
                      <a:solidFill>
                        <a:srgbClr val="E3E7E9"/>
                      </a:solidFill>
                    </a:lnB>
                  </a:tcPr>
                </a:tc>
                <a:tc>
                  <a:txBody>
                    <a:bodyPr wrap="square" lIns="36576" tIns="18288" rIns="36576" bIns="18288" anchor="ctr"/>
                    <a:lstStyle/>
                    <a:p>
                      <a:pPr marL="0" indent="0" algn="r">
                        <a:buNone/>
                      </a:pPr>
                      <a:r>
                        <a:rPr lang="en-US" sz="950" b="1" dirty="0">
                          <a:solidFill>
                            <a:srgbClr val="2C3E50"/>
                          </a:solidFill>
                          <a:latin typeface="Calibri"/>
                          <a:cs typeface="Calibri"/>
                        </a:rPr>
                        <a:t>30–44</a:t>
                      </a:r>
                    </a:p>
                  </a:txBody>
                  <a:tcPr marL="36576" marR="36576" marT="18288" marB="18288" anchor="ctr">
                    <a:solidFill>
                      <a:srgbClr val="FFFFFF"/>
                    </a:solidFill>
                    <a:lnL w="6350">
                      <a:solidFill>
                        <a:srgbClr val="E3E7E9"/>
                      </a:solidFill>
                    </a:lnL>
                    <a:lnR w="6350">
                      <a:solidFill>
                        <a:srgbClr val="E3E7E9"/>
                      </a:solidFill>
                    </a:lnR>
                    <a:lnT w="6350">
                      <a:solidFill>
                        <a:srgbClr val="E3E7E9"/>
                      </a:solidFill>
                    </a:lnT>
                    <a:lnB w="6350">
                      <a:solidFill>
                        <a:srgbClr val="E3E7E9"/>
                      </a:solidFill>
                    </a:lnB>
                  </a:tcPr>
                </a:tc>
              </a:tr>
              <a:tr h="266700">
                <a:tc>
                  <a:txBody>
                    <a:bodyPr wrap="square" lIns="36576" tIns="18288" rIns="36576" bIns="18288" anchor="ctr"/>
                    <a:lstStyle/>
                    <a:p>
                      <a:pPr marL="0" indent="0" algn="l">
                        <a:buNone/>
                      </a:pPr>
                      <a:r>
                        <a:rPr lang="en-US" sz="950" dirty="0">
                          <a:solidFill>
                            <a:srgbClr val="2C3E50"/>
                          </a:solidFill>
                          <a:latin typeface="Calibri"/>
                          <a:cs typeface="Calibri"/>
                        </a:rPr>
                        <a:t>Stage 2</a:t>
                      </a:r>
                    </a:p>
                  </a:txBody>
                  <a:tcPr marL="36576" marR="36576" marT="18288" marB="18288" anchor="ctr">
                    <a:solidFill>
                      <a:srgbClr val="FFFFFF"/>
                    </a:solidFill>
                    <a:lnL w="6350">
                      <a:solidFill>
                        <a:srgbClr val="E3E7E9"/>
                      </a:solidFill>
                    </a:lnL>
                    <a:lnR w="6350">
                      <a:solidFill>
                        <a:srgbClr val="E3E7E9"/>
                      </a:solidFill>
                    </a:lnR>
                    <a:lnT w="6350">
                      <a:solidFill>
                        <a:srgbClr val="E3E7E9"/>
                      </a:solidFill>
                    </a:lnT>
                    <a:lnB w="6350">
                      <a:solidFill>
                        <a:srgbClr val="E3E7E9"/>
                      </a:solidFill>
                    </a:lnB>
                  </a:tcPr>
                </a:tc>
                <a:tc>
                  <a:txBody>
                    <a:bodyPr wrap="square" lIns="36576" tIns="18288" rIns="36576" bIns="18288" anchor="ctr"/>
                    <a:lstStyle/>
                    <a:p>
                      <a:pPr marL="0" indent="0" algn="r">
                        <a:buNone/>
                      </a:pPr>
                      <a:r>
                        <a:rPr lang="en-US" sz="950" b="1" dirty="0">
                          <a:solidFill>
                            <a:srgbClr val="2C3E50"/>
                          </a:solidFill>
                          <a:latin typeface="Calibri"/>
                          <a:cs typeface="Calibri"/>
                        </a:rPr>
                        <a:t>60–89</a:t>
                      </a:r>
                    </a:p>
                  </a:txBody>
                  <a:tcPr marL="36576" marR="36576" marT="18288" marB="18288" anchor="ctr">
                    <a:solidFill>
                      <a:srgbClr val="FFFFFF"/>
                    </a:solidFill>
                    <a:lnL w="6350">
                      <a:solidFill>
                        <a:srgbClr val="E3E7E9"/>
                      </a:solidFill>
                    </a:lnL>
                    <a:lnR w="6350">
                      <a:solidFill>
                        <a:srgbClr val="E3E7E9"/>
                      </a:solidFill>
                    </a:lnR>
                    <a:lnT w="6350">
                      <a:solidFill>
                        <a:srgbClr val="E3E7E9"/>
                      </a:solidFill>
                    </a:lnT>
                    <a:lnB w="6350">
                      <a:solidFill>
                        <a:srgbClr val="E3E7E9"/>
                      </a:solidFill>
                    </a:lnB>
                  </a:tcPr>
                </a:tc>
                <a:tc>
                  <a:txBody>
                    <a:bodyPr wrap="square" lIns="36576" tIns="18288" rIns="36576" bIns="18288" anchor="ctr"/>
                    <a:lstStyle/>
                    <a:p>
                      <a:pPr marL="0" indent="0" algn="l">
                        <a:buNone/>
                      </a:pPr>
                      <a:r>
                        <a:rPr lang="en-US" sz="950" dirty="0">
                          <a:solidFill>
                            <a:srgbClr val="2C3E50"/>
                          </a:solidFill>
                          <a:latin typeface="Calibri"/>
                          <a:cs typeface="Calibri"/>
                        </a:rPr>
                        <a:t>Stage 4</a:t>
                      </a:r>
                    </a:p>
                  </a:txBody>
                  <a:tcPr marL="36576" marR="36576" marT="18288" marB="18288" anchor="ctr">
                    <a:solidFill>
                      <a:srgbClr val="FFFFFF"/>
                    </a:solidFill>
                    <a:lnL w="6350">
                      <a:solidFill>
                        <a:srgbClr val="E3E7E9"/>
                      </a:solidFill>
                    </a:lnL>
                    <a:lnR w="6350">
                      <a:solidFill>
                        <a:srgbClr val="E3E7E9"/>
                      </a:solidFill>
                    </a:lnR>
                    <a:lnT w="6350">
                      <a:solidFill>
                        <a:srgbClr val="E3E7E9"/>
                      </a:solidFill>
                    </a:lnT>
                    <a:lnB w="6350">
                      <a:solidFill>
                        <a:srgbClr val="E3E7E9"/>
                      </a:solidFill>
                    </a:lnB>
                  </a:tcPr>
                </a:tc>
                <a:tc>
                  <a:txBody>
                    <a:bodyPr wrap="square" lIns="36576" tIns="18288" rIns="36576" bIns="18288" anchor="ctr"/>
                    <a:lstStyle/>
                    <a:p>
                      <a:pPr marL="0" indent="0" algn="r">
                        <a:buNone/>
                      </a:pPr>
                      <a:r>
                        <a:rPr lang="en-US" sz="950" b="1" dirty="0">
                          <a:solidFill>
                            <a:srgbClr val="2C3E50"/>
                          </a:solidFill>
                          <a:latin typeface="Calibri"/>
                          <a:cs typeface="Calibri"/>
                        </a:rPr>
                        <a:t>15–29</a:t>
                      </a:r>
                    </a:p>
                  </a:txBody>
                  <a:tcPr marL="36576" marR="36576" marT="18288" marB="18288" anchor="ctr">
                    <a:solidFill>
                      <a:srgbClr val="FFFFFF"/>
                    </a:solidFill>
                    <a:lnL w="6350">
                      <a:solidFill>
                        <a:srgbClr val="E3E7E9"/>
                      </a:solidFill>
                    </a:lnL>
                    <a:lnR w="6350">
                      <a:solidFill>
                        <a:srgbClr val="E3E7E9"/>
                      </a:solidFill>
                    </a:lnR>
                    <a:lnT w="6350">
                      <a:solidFill>
                        <a:srgbClr val="E3E7E9"/>
                      </a:solidFill>
                    </a:lnT>
                    <a:lnB w="6350">
                      <a:solidFill>
                        <a:srgbClr val="E3E7E9"/>
                      </a:solidFill>
                    </a:lnB>
                  </a:tcPr>
                </a:tc>
              </a:tr>
              <a:tr h="266700">
                <a:tc>
                  <a:txBody>
                    <a:bodyPr wrap="square" lIns="36576" tIns="18288" rIns="36576" bIns="18288" anchor="ctr"/>
                    <a:lstStyle/>
                    <a:p>
                      <a:pPr marL="0" indent="0" algn="l">
                        <a:buNone/>
                      </a:pPr>
                      <a:r>
                        <a:rPr lang="en-US" sz="950" dirty="0">
                          <a:solidFill>
                            <a:srgbClr val="2C3E50"/>
                          </a:solidFill>
                          <a:latin typeface="Calibri"/>
                          <a:cs typeface="Calibri"/>
                        </a:rPr>
                        <a:t>Stage 3a</a:t>
                      </a:r>
                    </a:p>
                  </a:txBody>
                  <a:tcPr marL="36576" marR="36576" marT="18288" marB="18288" anchor="ctr">
                    <a:solidFill>
                      <a:srgbClr val="FFFFFF"/>
                    </a:solidFill>
                    <a:lnL w="6350">
                      <a:solidFill>
                        <a:srgbClr val="E3E7E9"/>
                      </a:solidFill>
                    </a:lnL>
                    <a:lnR w="6350">
                      <a:solidFill>
                        <a:srgbClr val="E3E7E9"/>
                      </a:solidFill>
                    </a:lnR>
                    <a:lnT w="6350">
                      <a:solidFill>
                        <a:srgbClr val="E3E7E9"/>
                      </a:solidFill>
                    </a:lnT>
                    <a:lnB w="6350">
                      <a:solidFill>
                        <a:srgbClr val="E3E7E9"/>
                      </a:solidFill>
                    </a:lnB>
                  </a:tcPr>
                </a:tc>
                <a:tc>
                  <a:txBody>
                    <a:bodyPr wrap="square" lIns="36576" tIns="18288" rIns="36576" bIns="18288" anchor="ctr"/>
                    <a:lstStyle/>
                    <a:p>
                      <a:pPr marL="0" indent="0" algn="r">
                        <a:buNone/>
                      </a:pPr>
                      <a:r>
                        <a:rPr lang="en-US" sz="950" b="1" dirty="0">
                          <a:solidFill>
                            <a:srgbClr val="2C3E50"/>
                          </a:solidFill>
                          <a:latin typeface="Calibri"/>
                          <a:cs typeface="Calibri"/>
                        </a:rPr>
                        <a:t>45–59</a:t>
                      </a:r>
                    </a:p>
                  </a:txBody>
                  <a:tcPr marL="36576" marR="36576" marT="18288" marB="18288" anchor="ctr">
                    <a:solidFill>
                      <a:srgbClr val="FFFFFF"/>
                    </a:solidFill>
                    <a:lnL w="6350">
                      <a:solidFill>
                        <a:srgbClr val="E3E7E9"/>
                      </a:solidFill>
                    </a:lnL>
                    <a:lnR w="6350">
                      <a:solidFill>
                        <a:srgbClr val="E3E7E9"/>
                      </a:solidFill>
                    </a:lnR>
                    <a:lnT w="6350">
                      <a:solidFill>
                        <a:srgbClr val="E3E7E9"/>
                      </a:solidFill>
                    </a:lnT>
                    <a:lnB w="6350">
                      <a:solidFill>
                        <a:srgbClr val="E3E7E9"/>
                      </a:solidFill>
                    </a:lnB>
                  </a:tcPr>
                </a:tc>
                <a:tc>
                  <a:txBody>
                    <a:bodyPr wrap="square" lIns="36576" tIns="18288" rIns="36576" bIns="18288" anchor="ctr"/>
                    <a:lstStyle/>
                    <a:p>
                      <a:pPr marL="0" indent="0" algn="l">
                        <a:buNone/>
                      </a:pPr>
                      <a:r>
                        <a:rPr lang="en-US" sz="950" dirty="0">
                          <a:solidFill>
                            <a:srgbClr val="2C3E50"/>
                          </a:solidFill>
                          <a:latin typeface="Calibri"/>
                          <a:cs typeface="Calibri"/>
                        </a:rPr>
                        <a:t>Stage 5</a:t>
                      </a:r>
                    </a:p>
                  </a:txBody>
                  <a:tcPr marL="36576" marR="36576" marT="18288" marB="18288" anchor="ctr">
                    <a:solidFill>
                      <a:srgbClr val="FFFFFF"/>
                    </a:solidFill>
                    <a:lnL w="6350">
                      <a:solidFill>
                        <a:srgbClr val="E3E7E9"/>
                      </a:solidFill>
                    </a:lnL>
                    <a:lnR w="6350">
                      <a:solidFill>
                        <a:srgbClr val="E3E7E9"/>
                      </a:solidFill>
                    </a:lnR>
                    <a:lnT w="6350">
                      <a:solidFill>
                        <a:srgbClr val="E3E7E9"/>
                      </a:solidFill>
                    </a:lnT>
                    <a:lnB w="6350">
                      <a:solidFill>
                        <a:srgbClr val="E3E7E9"/>
                      </a:solidFill>
                    </a:lnB>
                  </a:tcPr>
                </a:tc>
                <a:tc>
                  <a:txBody>
                    <a:bodyPr wrap="square" lIns="36576" tIns="18288" rIns="36576" bIns="18288" anchor="ctr"/>
                    <a:lstStyle/>
                    <a:p>
                      <a:pPr marL="0" indent="0" algn="r">
                        <a:buNone/>
                      </a:pPr>
                      <a:r>
                        <a:rPr lang="en-US" sz="950" b="1" dirty="0">
                          <a:solidFill>
                            <a:srgbClr val="2C3E50"/>
                          </a:solidFill>
                          <a:latin typeface="Calibri"/>
                          <a:cs typeface="Calibri"/>
                        </a:rPr>
                        <a:t>&lt; 15</a:t>
                      </a:r>
                    </a:p>
                  </a:txBody>
                  <a:tcPr marL="36576" marR="36576" marT="18288" marB="18288" anchor="ctr">
                    <a:solidFill>
                      <a:srgbClr val="FFFFFF"/>
                    </a:solidFill>
                    <a:lnL w="6350">
                      <a:solidFill>
                        <a:srgbClr val="E3E7E9"/>
                      </a:solidFill>
                    </a:lnL>
                    <a:lnR w="6350">
                      <a:solidFill>
                        <a:srgbClr val="E3E7E9"/>
                      </a:solidFill>
                    </a:lnR>
                    <a:lnT w="6350">
                      <a:solidFill>
                        <a:srgbClr val="E3E7E9"/>
                      </a:solidFill>
                    </a:lnT>
                    <a:lnB w="6350">
                      <a:solidFill>
                        <a:srgbClr val="E3E7E9"/>
                      </a:solidFill>
                    </a:lnB>
                  </a:tcPr>
                </a:tc>
              </a:tr>
            </a:tbl>
          </a:graphicData>
        </a:graphic>
      </p:graphicFrame>
      <p:sp>
        <p:nvSpPr>
          <p:cNvPr id="10" name="TextBox 10"/>
          <p:cNvSpPr txBox="1"/>
          <p:nvPr/>
        </p:nvSpPr>
        <p:spPr>
          <a:xfrm>
            <a:off x="533400" y="2438400"/>
            <a:ext cx="5448300" cy="171450"/>
          </a:xfrm>
          <a:prstGeom prst="rect">
            <a:avLst/>
          </a:prstGeom>
          <a:noFill/>
        </p:spPr>
        <p:txBody>
          <a:bodyPr wrap="square" anchor="t" lIns="0" tIns="0" rIns="0" bIns="0">
            <a:noAutofit/>
          </a:bodyPr>
          <a:lstStyle/>
          <a:p>
            <a:pPr marL="0" indent="0" algn="l">
              <a:buNone/>
            </a:pPr>
            <a:r>
              <a:rPr lang="en-US" sz="1050" b="1" dirty="0">
                <a:solidFill>
                  <a:srgbClr val="1B4F72"/>
                </a:solidFill>
                <a:latin typeface="Calibri"/>
                <a:cs typeface="Calibri"/>
              </a:rPr>
              <a:t>ALGORITHM 2 — LINEAR REGRESSION SLOPE (TRAJECTORY DETECTION)</a:t>
            </a:r>
          </a:p>
        </p:txBody>
      </p:sp>
      <p:sp>
        <p:nvSpPr>
          <p:cNvPr id="11" name="Rect 11"/>
          <p:cNvSpPr/>
          <p:nvPr/>
        </p:nvSpPr>
        <p:spPr>
          <a:xfrm>
            <a:off x="533400" y="2647950"/>
            <a:ext cx="5448300" cy="457200"/>
          </a:xfrm>
          <a:prstGeom prst="roundRect">
            <a:avLst/>
          </a:prstGeom>
          <a:solidFill>
            <a:srgbClr val="EAF1F6"/>
          </a:solidFill>
          <a:ln w="12700">
            <a:solidFill>
              <a:srgbClr val="E3E7E9"/>
            </a:solidFill>
          </a:ln>
        </p:spPr>
        <p:txBody>
          <a:bodyPr/>
          <a:lstStyle/>
          <a:p/>
        </p:txBody>
      </p:sp>
      <p:sp>
        <p:nvSpPr>
          <p:cNvPr id="12" name="TextBox 12"/>
          <p:cNvSpPr txBox="1"/>
          <p:nvPr/>
        </p:nvSpPr>
        <p:spPr>
          <a:xfrm>
            <a:off x="628650" y="2705100"/>
            <a:ext cx="5257800" cy="342900"/>
          </a:xfrm>
          <a:prstGeom prst="rect">
            <a:avLst/>
          </a:prstGeom>
          <a:noFill/>
        </p:spPr>
        <p:txBody>
          <a:bodyPr wrap="square" anchor="t" lIns="0" tIns="0" rIns="0" bIns="0">
            <a:noAutofit/>
          </a:bodyPr>
          <a:lstStyle/>
          <a:p>
            <a:pPr marL="0" indent="0" algn="ctr">
              <a:buNone/>
            </a:pPr>
            <a:r>
              <a:rPr lang="en-US" sz="1150" b="1" dirty="0">
                <a:solidFill>
                  <a:srgbClr val="1B4F72"/>
                </a:solidFill>
                <a:latin typeface="Calibri"/>
                <a:cs typeface="Calibri"/>
              </a:rPr>
              <a:t>slope = (n·ΣXY − ΣX·ΣY) / (n·ΣX² − (ΣX)²)</a:t>
            </a:r>
          </a:p>
        </p:txBody>
      </p:sp>
      <p:cxnSp>
        <p:nvCxnSpPr>
          <p:cNvPr id="13" name="Line 13"/>
          <p:cNvCxnSpPr/>
          <p:nvPr/>
        </p:nvCxnSpPr>
        <p:spPr>
          <a:xfrm flipH="0" flipV="0">
            <a:off x="723900" y="4086225"/>
            <a:ext cx="5162550" cy="9525"/>
          </a:xfrm>
          <a:prstGeom prst="line">
            <a:avLst/>
          </a:prstGeom>
          <a:ln w="12700">
            <a:solidFill>
              <a:srgbClr val="E3E7E9"/>
            </a:solidFill>
          </a:ln>
        </p:spPr>
      </p:cxnSp>
      <p:cxnSp>
        <p:nvCxnSpPr>
          <p:cNvPr id="14" name="Line 14"/>
          <p:cNvCxnSpPr/>
          <p:nvPr/>
        </p:nvCxnSpPr>
        <p:spPr>
          <a:xfrm flipH="0" flipV="0">
            <a:off x="723900" y="3228975"/>
            <a:ext cx="9525" cy="857250"/>
          </a:xfrm>
          <a:prstGeom prst="line">
            <a:avLst/>
          </a:prstGeom>
          <a:ln w="12700">
            <a:solidFill>
              <a:srgbClr val="E3E7E9"/>
            </a:solidFill>
          </a:ln>
        </p:spPr>
      </p:cxnSp>
      <p:cxnSp>
        <p:nvCxnSpPr>
          <p:cNvPr id="15" name="Line 15"/>
          <p:cNvCxnSpPr/>
          <p:nvPr/>
        </p:nvCxnSpPr>
        <p:spPr>
          <a:xfrm flipH="0" flipV="1">
            <a:off x="819150" y="3800475"/>
            <a:ext cx="1219200" cy="142875"/>
          </a:xfrm>
          <a:prstGeom prst="line">
            <a:avLst/>
          </a:prstGeom>
          <a:ln w="27940">
            <a:solidFill>
              <a:srgbClr val="C0392B"/>
            </a:solidFill>
          </a:ln>
        </p:spPr>
      </p:cxnSp>
      <p:cxnSp>
        <p:nvCxnSpPr>
          <p:cNvPr id="16" name="Line 16"/>
          <p:cNvCxnSpPr/>
          <p:nvPr/>
        </p:nvCxnSpPr>
        <p:spPr>
          <a:xfrm flipH="0" flipV="1">
            <a:off x="2038350" y="3638550"/>
            <a:ext cx="1219200" cy="161925"/>
          </a:xfrm>
          <a:prstGeom prst="line">
            <a:avLst/>
          </a:prstGeom>
          <a:ln w="27940">
            <a:solidFill>
              <a:srgbClr val="C0392B"/>
            </a:solidFill>
          </a:ln>
        </p:spPr>
      </p:cxnSp>
      <p:cxnSp>
        <p:nvCxnSpPr>
          <p:cNvPr id="17" name="Line 17"/>
          <p:cNvCxnSpPr/>
          <p:nvPr/>
        </p:nvCxnSpPr>
        <p:spPr>
          <a:xfrm flipH="0" flipV="1">
            <a:off x="3257550" y="3448050"/>
            <a:ext cx="1219200" cy="190500"/>
          </a:xfrm>
          <a:prstGeom prst="line">
            <a:avLst/>
          </a:prstGeom>
          <a:ln w="27940">
            <a:solidFill>
              <a:srgbClr val="C0392B"/>
            </a:solidFill>
          </a:ln>
        </p:spPr>
      </p:cxnSp>
      <p:cxnSp>
        <p:nvCxnSpPr>
          <p:cNvPr id="18" name="Line 18"/>
          <p:cNvCxnSpPr/>
          <p:nvPr/>
        </p:nvCxnSpPr>
        <p:spPr>
          <a:xfrm flipH="0" flipV="1">
            <a:off x="4476750" y="3257550"/>
            <a:ext cx="1219200" cy="190500"/>
          </a:xfrm>
          <a:prstGeom prst="line">
            <a:avLst/>
          </a:prstGeom>
          <a:ln w="27940">
            <a:solidFill>
              <a:srgbClr val="C0392B"/>
            </a:solidFill>
          </a:ln>
        </p:spPr>
      </p:cxnSp>
      <p:sp>
        <p:nvSpPr>
          <p:cNvPr id="19" name="Oval 19"/>
          <p:cNvSpPr/>
          <p:nvPr/>
        </p:nvSpPr>
        <p:spPr>
          <a:xfrm>
            <a:off x="785812" y="3910012"/>
            <a:ext cx="66675" cy="66675"/>
          </a:xfrm>
          <a:prstGeom prst="ellipse">
            <a:avLst/>
          </a:prstGeom>
          <a:solidFill>
            <a:srgbClr val="C0392B"/>
          </a:solidFill>
          <a:ln>
            <a:noFill/>
          </a:ln>
        </p:spPr>
        <p:txBody>
          <a:bodyPr/>
          <a:lstStyle/>
          <a:p/>
        </p:txBody>
      </p:sp>
      <p:sp>
        <p:nvSpPr>
          <p:cNvPr id="20" name="Oval 20"/>
          <p:cNvSpPr/>
          <p:nvPr/>
        </p:nvSpPr>
        <p:spPr>
          <a:xfrm>
            <a:off x="2005012" y="3767138"/>
            <a:ext cx="66675" cy="66675"/>
          </a:xfrm>
          <a:prstGeom prst="ellipse">
            <a:avLst/>
          </a:prstGeom>
          <a:solidFill>
            <a:srgbClr val="C0392B"/>
          </a:solidFill>
          <a:ln>
            <a:noFill/>
          </a:ln>
        </p:spPr>
        <p:txBody>
          <a:bodyPr/>
          <a:lstStyle/>
          <a:p/>
        </p:txBody>
      </p:sp>
      <p:sp>
        <p:nvSpPr>
          <p:cNvPr id="21" name="Oval 21"/>
          <p:cNvSpPr/>
          <p:nvPr/>
        </p:nvSpPr>
        <p:spPr>
          <a:xfrm>
            <a:off x="3224212" y="3605212"/>
            <a:ext cx="66675" cy="66675"/>
          </a:xfrm>
          <a:prstGeom prst="ellipse">
            <a:avLst/>
          </a:prstGeom>
          <a:solidFill>
            <a:srgbClr val="C0392B"/>
          </a:solidFill>
          <a:ln>
            <a:noFill/>
          </a:ln>
        </p:spPr>
        <p:txBody>
          <a:bodyPr/>
          <a:lstStyle/>
          <a:p/>
        </p:txBody>
      </p:sp>
      <p:sp>
        <p:nvSpPr>
          <p:cNvPr id="22" name="Oval 22"/>
          <p:cNvSpPr/>
          <p:nvPr/>
        </p:nvSpPr>
        <p:spPr>
          <a:xfrm>
            <a:off x="4443412" y="3414712"/>
            <a:ext cx="66675" cy="66675"/>
          </a:xfrm>
          <a:prstGeom prst="ellipse">
            <a:avLst/>
          </a:prstGeom>
          <a:solidFill>
            <a:srgbClr val="C0392B"/>
          </a:solidFill>
          <a:ln>
            <a:noFill/>
          </a:ln>
        </p:spPr>
        <p:txBody>
          <a:bodyPr/>
          <a:lstStyle/>
          <a:p/>
        </p:txBody>
      </p:sp>
      <p:sp>
        <p:nvSpPr>
          <p:cNvPr id="23" name="Oval 23"/>
          <p:cNvSpPr/>
          <p:nvPr/>
        </p:nvSpPr>
        <p:spPr>
          <a:xfrm>
            <a:off x="5662612" y="3224212"/>
            <a:ext cx="66675" cy="66675"/>
          </a:xfrm>
          <a:prstGeom prst="ellipse">
            <a:avLst/>
          </a:prstGeom>
          <a:solidFill>
            <a:srgbClr val="C0392B"/>
          </a:solidFill>
          <a:ln>
            <a:noFill/>
          </a:ln>
        </p:spPr>
        <p:txBody>
          <a:bodyPr/>
          <a:lstStyle/>
          <a:p/>
        </p:txBody>
      </p:sp>
      <p:cxnSp>
        <p:nvCxnSpPr>
          <p:cNvPr id="24" name="Line 24"/>
          <p:cNvCxnSpPr/>
          <p:nvPr/>
        </p:nvCxnSpPr>
        <p:spPr>
          <a:xfrm flipH="0" flipV="1">
            <a:off x="819150" y="4038600"/>
            <a:ext cx="1219200" cy="19050"/>
          </a:xfrm>
          <a:prstGeom prst="line">
            <a:avLst/>
          </a:prstGeom>
          <a:ln w="27940">
            <a:solidFill>
              <a:srgbClr val="27AE60"/>
            </a:solidFill>
          </a:ln>
        </p:spPr>
      </p:cxnSp>
      <p:cxnSp>
        <p:nvCxnSpPr>
          <p:cNvPr id="25" name="Line 25"/>
          <p:cNvCxnSpPr/>
          <p:nvPr/>
        </p:nvCxnSpPr>
        <p:spPr>
          <a:xfrm flipH="0" flipV="0">
            <a:off x="2038350" y="4057650"/>
            <a:ext cx="1219200" cy="9525"/>
          </a:xfrm>
          <a:prstGeom prst="line">
            <a:avLst/>
          </a:prstGeom>
          <a:ln w="27940">
            <a:solidFill>
              <a:srgbClr val="27AE60"/>
            </a:solidFill>
          </a:ln>
        </p:spPr>
      </p:cxnSp>
      <p:cxnSp>
        <p:nvCxnSpPr>
          <p:cNvPr id="26" name="Line 26"/>
          <p:cNvCxnSpPr/>
          <p:nvPr/>
        </p:nvCxnSpPr>
        <p:spPr>
          <a:xfrm flipH="0" flipV="1">
            <a:off x="3257550" y="4038600"/>
            <a:ext cx="1219200" cy="19050"/>
          </a:xfrm>
          <a:prstGeom prst="line">
            <a:avLst/>
          </a:prstGeom>
          <a:ln w="27940">
            <a:solidFill>
              <a:srgbClr val="27AE60"/>
            </a:solidFill>
          </a:ln>
        </p:spPr>
      </p:cxnSp>
      <p:cxnSp>
        <p:nvCxnSpPr>
          <p:cNvPr id="27" name="Line 27"/>
          <p:cNvCxnSpPr/>
          <p:nvPr/>
        </p:nvCxnSpPr>
        <p:spPr>
          <a:xfrm flipH="0" flipV="0">
            <a:off x="4476750" y="4057650"/>
            <a:ext cx="1219200" cy="9525"/>
          </a:xfrm>
          <a:prstGeom prst="line">
            <a:avLst/>
          </a:prstGeom>
          <a:ln w="27940">
            <a:solidFill>
              <a:srgbClr val="27AE60"/>
            </a:solidFill>
          </a:ln>
        </p:spPr>
      </p:cxnSp>
      <p:sp>
        <p:nvSpPr>
          <p:cNvPr id="28" name="Oval 28"/>
          <p:cNvSpPr/>
          <p:nvPr/>
        </p:nvSpPr>
        <p:spPr>
          <a:xfrm>
            <a:off x="785812" y="4024312"/>
            <a:ext cx="66675" cy="66675"/>
          </a:xfrm>
          <a:prstGeom prst="ellipse">
            <a:avLst/>
          </a:prstGeom>
          <a:solidFill>
            <a:srgbClr val="27AE60"/>
          </a:solidFill>
          <a:ln>
            <a:noFill/>
          </a:ln>
        </p:spPr>
        <p:txBody>
          <a:bodyPr/>
          <a:lstStyle/>
          <a:p/>
        </p:txBody>
      </p:sp>
      <p:sp>
        <p:nvSpPr>
          <p:cNvPr id="29" name="Oval 29"/>
          <p:cNvSpPr/>
          <p:nvPr/>
        </p:nvSpPr>
        <p:spPr>
          <a:xfrm>
            <a:off x="2005012" y="4024312"/>
            <a:ext cx="66675" cy="66675"/>
          </a:xfrm>
          <a:prstGeom prst="ellipse">
            <a:avLst/>
          </a:prstGeom>
          <a:solidFill>
            <a:srgbClr val="27AE60"/>
          </a:solidFill>
          <a:ln>
            <a:noFill/>
          </a:ln>
        </p:spPr>
        <p:txBody>
          <a:bodyPr/>
          <a:lstStyle/>
          <a:p/>
        </p:txBody>
      </p:sp>
      <p:sp>
        <p:nvSpPr>
          <p:cNvPr id="30" name="Oval 30"/>
          <p:cNvSpPr/>
          <p:nvPr/>
        </p:nvSpPr>
        <p:spPr>
          <a:xfrm>
            <a:off x="3224212" y="4024312"/>
            <a:ext cx="66675" cy="66675"/>
          </a:xfrm>
          <a:prstGeom prst="ellipse">
            <a:avLst/>
          </a:prstGeom>
          <a:solidFill>
            <a:srgbClr val="27AE60"/>
          </a:solidFill>
          <a:ln>
            <a:noFill/>
          </a:ln>
        </p:spPr>
        <p:txBody>
          <a:bodyPr/>
          <a:lstStyle/>
          <a:p/>
        </p:txBody>
      </p:sp>
      <p:sp>
        <p:nvSpPr>
          <p:cNvPr id="31" name="Oval 31"/>
          <p:cNvSpPr/>
          <p:nvPr/>
        </p:nvSpPr>
        <p:spPr>
          <a:xfrm>
            <a:off x="4443412" y="4024312"/>
            <a:ext cx="66675" cy="66675"/>
          </a:xfrm>
          <a:prstGeom prst="ellipse">
            <a:avLst/>
          </a:prstGeom>
          <a:solidFill>
            <a:srgbClr val="27AE60"/>
          </a:solidFill>
          <a:ln>
            <a:noFill/>
          </a:ln>
        </p:spPr>
        <p:txBody>
          <a:bodyPr/>
          <a:lstStyle/>
          <a:p/>
        </p:txBody>
      </p:sp>
      <p:sp>
        <p:nvSpPr>
          <p:cNvPr id="32" name="Oval 32"/>
          <p:cNvSpPr/>
          <p:nvPr/>
        </p:nvSpPr>
        <p:spPr>
          <a:xfrm>
            <a:off x="5662612" y="4024312"/>
            <a:ext cx="66675" cy="66675"/>
          </a:xfrm>
          <a:prstGeom prst="ellipse">
            <a:avLst/>
          </a:prstGeom>
          <a:solidFill>
            <a:srgbClr val="27AE60"/>
          </a:solidFill>
          <a:ln>
            <a:noFill/>
          </a:ln>
        </p:spPr>
        <p:txBody>
          <a:bodyPr/>
          <a:lstStyle/>
          <a:p/>
        </p:txBody>
      </p:sp>
      <p:sp>
        <p:nvSpPr>
          <p:cNvPr id="33" name="TextBox 33"/>
          <p:cNvSpPr txBox="1"/>
          <p:nvPr/>
        </p:nvSpPr>
        <p:spPr>
          <a:xfrm>
            <a:off x="533400" y="4267200"/>
            <a:ext cx="5448300" cy="304800"/>
          </a:xfrm>
          <a:prstGeom prst="rect">
            <a:avLst/>
          </a:prstGeom>
          <a:noFill/>
        </p:spPr>
        <p:txBody>
          <a:bodyPr wrap="square" anchor="t" lIns="0" tIns="0" rIns="0" bIns="0">
            <a:noAutofit/>
          </a:bodyPr>
          <a:lstStyle/>
          <a:p>
            <a:pPr marL="0" indent="0" algn="l">
              <a:spcAft>
                <a:spcPts val="200"/>
              </a:spcAft>
              <a:buNone/>
            </a:pPr>
            <a:r>
              <a:rPr lang="en-US" sz="900" b="1" dirty="0">
                <a:solidFill>
                  <a:srgbClr val="C0392B"/>
                </a:solidFill>
                <a:latin typeface="Calibri"/>
                <a:cs typeface="Calibri"/>
              </a:rPr>
              <a:t>Creatinine 0.9→1.1→1.4→1.7→2.1 · slope +0.30/visit · RAPIDLY RISING</a:t>
            </a:r>
          </a:p>
          <a:p>
            <a:pPr marL="0" indent="0" algn="l">
              <a:buNone/>
            </a:pPr>
            <a:r>
              <a:rPr lang="en-US" sz="900" b="1" dirty="0">
                <a:solidFill>
                  <a:srgbClr val="27AE60"/>
                </a:solidFill>
                <a:latin typeface="Calibri"/>
                <a:cs typeface="Calibri"/>
              </a:rPr>
              <a:t>Creatinine 0.8→0.8→0.9→0.8→0.8 · slope +0.01/visit · STABLE</a:t>
            </a:r>
          </a:p>
        </p:txBody>
      </p:sp>
      <p:sp>
        <p:nvSpPr>
          <p:cNvPr id="34" name="TextBox 34"/>
          <p:cNvSpPr txBox="1"/>
          <p:nvPr/>
        </p:nvSpPr>
        <p:spPr>
          <a:xfrm>
            <a:off x="6210300" y="2438400"/>
            <a:ext cx="5448300" cy="171450"/>
          </a:xfrm>
          <a:prstGeom prst="rect">
            <a:avLst/>
          </a:prstGeom>
          <a:noFill/>
        </p:spPr>
        <p:txBody>
          <a:bodyPr wrap="square" anchor="t" lIns="0" tIns="0" rIns="0" bIns="0">
            <a:noAutofit/>
          </a:bodyPr>
          <a:lstStyle/>
          <a:p>
            <a:pPr marL="0" indent="0" algn="l">
              <a:buNone/>
            </a:pPr>
            <a:r>
              <a:rPr lang="en-US" sz="1050" b="1" dirty="0">
                <a:solidFill>
                  <a:srgbClr val="1B4F72"/>
                </a:solidFill>
                <a:latin typeface="Calibri"/>
                <a:cs typeface="Calibri"/>
              </a:rPr>
              <a:t>ALGORITHM 3 — WEIGHTED RISK SCORING</a:t>
            </a:r>
          </a:p>
        </p:txBody>
      </p:sp>
      <p:graphicFrame>
        <p:nvGraphicFramePr>
          <p:cNvPr id="35" name="Table 35"/>
          <p:cNvGraphicFramePr>
            <a:graphicFrameLocks noGrp="1"/>
          </p:cNvGraphicFramePr>
          <p:nvPr/>
        </p:nvGraphicFramePr>
        <p:xfrm>
          <a:off x="6210300" y="2647950"/>
          <a:ext cx="5448300" cy="2247900"/>
        </p:xfrm>
        <a:graphic>
          <a:graphicData uri="http://schemas.openxmlformats.org/drawingml/2006/table">
            <a:tbl>
              <a:tblPr firstRow="1" bandRow="1"/>
              <a:tblGrid>
                <a:gridCol w="1961388"/>
                <a:gridCol w="2179320"/>
                <a:gridCol w="1307592"/>
              </a:tblGrid>
              <a:tr h="187325">
                <a:tc>
                  <a:txBody>
                    <a:bodyPr wrap="square" lIns="36576" tIns="18288" rIns="36576" bIns="18288" anchor="ctr"/>
                    <a:lstStyle/>
                    <a:p>
                      <a:pPr marL="0" indent="0" algn="ctr">
                        <a:buNone/>
                      </a:pPr>
                      <a:r>
                        <a:rPr lang="en-US" sz="1000" b="1" dirty="0">
                          <a:solidFill>
                            <a:srgbClr val="FFFFFF"/>
                          </a:solidFill>
                          <a:latin typeface="Calibri"/>
                          <a:cs typeface="Calibri"/>
                        </a:rPr>
                        <a:t>Factor</a:t>
                      </a:r>
                    </a:p>
                  </a:txBody>
                  <a:tcPr marL="36576" marR="36576" marT="18288" marB="18288" anchor="ctr">
                    <a:solidFill>
                      <a:srgbClr val="1B4F72"/>
                    </a:solidFill>
                    <a:lnL w="6350">
                      <a:solidFill>
                        <a:srgbClr val="E3E7E9"/>
                      </a:solidFill>
                    </a:lnL>
                    <a:lnR w="6350">
                      <a:solidFill>
                        <a:srgbClr val="E3E7E9"/>
                      </a:solidFill>
                    </a:lnR>
                    <a:lnT w="6350">
                      <a:solidFill>
                        <a:srgbClr val="E3E7E9"/>
                      </a:solidFill>
                    </a:lnT>
                    <a:lnB w="6350">
                      <a:solidFill>
                        <a:srgbClr val="E3E7E9"/>
                      </a:solidFill>
                    </a:lnB>
                  </a:tcPr>
                </a:tc>
                <a:tc>
                  <a:txBody>
                    <a:bodyPr wrap="square" lIns="36576" tIns="18288" rIns="36576" bIns="18288" anchor="ctr"/>
                    <a:lstStyle/>
                    <a:p>
                      <a:pPr marL="0" indent="0" algn="ctr">
                        <a:buNone/>
                      </a:pPr>
                      <a:r>
                        <a:rPr lang="en-US" sz="1000" b="1" dirty="0">
                          <a:solidFill>
                            <a:srgbClr val="FFFFFF"/>
                          </a:solidFill>
                          <a:latin typeface="Calibri"/>
                          <a:cs typeface="Calibri"/>
                        </a:rPr>
                        <a:t>Condition</a:t>
                      </a:r>
                    </a:p>
                  </a:txBody>
                  <a:tcPr marL="36576" marR="36576" marT="18288" marB="18288" anchor="ctr">
                    <a:solidFill>
                      <a:srgbClr val="1B4F72"/>
                    </a:solidFill>
                    <a:lnL w="6350">
                      <a:solidFill>
                        <a:srgbClr val="E3E7E9"/>
                      </a:solidFill>
                    </a:lnL>
                    <a:lnR w="6350">
                      <a:solidFill>
                        <a:srgbClr val="E3E7E9"/>
                      </a:solidFill>
                    </a:lnR>
                    <a:lnT w="6350">
                      <a:solidFill>
                        <a:srgbClr val="E3E7E9"/>
                      </a:solidFill>
                    </a:lnT>
                    <a:lnB w="6350">
                      <a:solidFill>
                        <a:srgbClr val="E3E7E9"/>
                      </a:solidFill>
                    </a:lnB>
                  </a:tcPr>
                </a:tc>
                <a:tc>
                  <a:txBody>
                    <a:bodyPr wrap="square" lIns="36576" tIns="18288" rIns="36576" bIns="18288" anchor="ctr"/>
                    <a:lstStyle/>
                    <a:p>
                      <a:pPr marL="0" indent="0" algn="ctr">
                        <a:buNone/>
                      </a:pPr>
                      <a:r>
                        <a:rPr lang="en-US" sz="1000" b="1" dirty="0">
                          <a:solidFill>
                            <a:srgbClr val="FFFFFF"/>
                          </a:solidFill>
                          <a:latin typeface="Calibri"/>
                          <a:cs typeface="Calibri"/>
                        </a:rPr>
                        <a:t>Points</a:t>
                      </a:r>
                    </a:p>
                  </a:txBody>
                  <a:tcPr marL="36576" marR="36576" marT="18288" marB="18288" anchor="ctr">
                    <a:solidFill>
                      <a:srgbClr val="1B4F72"/>
                    </a:solidFill>
                    <a:lnL w="6350">
                      <a:solidFill>
                        <a:srgbClr val="E3E7E9"/>
                      </a:solidFill>
                    </a:lnL>
                    <a:lnR w="6350">
                      <a:solidFill>
                        <a:srgbClr val="E3E7E9"/>
                      </a:solidFill>
                    </a:lnR>
                    <a:lnT w="6350">
                      <a:solidFill>
                        <a:srgbClr val="E3E7E9"/>
                      </a:solidFill>
                    </a:lnT>
                    <a:lnB w="6350">
                      <a:solidFill>
                        <a:srgbClr val="E3E7E9"/>
                      </a:solidFill>
                    </a:lnB>
                  </a:tcPr>
                </a:tc>
              </a:tr>
              <a:tr h="187325">
                <a:tc>
                  <a:txBody>
                    <a:bodyPr wrap="square" lIns="36576" tIns="18288" rIns="36576" bIns="18288" anchor="ctr"/>
                    <a:lstStyle/>
                    <a:p>
                      <a:pPr marL="0" indent="0" algn="l">
                        <a:buNone/>
                      </a:pPr>
                      <a:r>
                        <a:rPr lang="en-US" sz="880" dirty="0">
                          <a:solidFill>
                            <a:srgbClr val="2C3E50"/>
                          </a:solidFill>
                          <a:latin typeface="Calibri"/>
                          <a:cs typeface="Calibri"/>
                        </a:rPr>
                        <a:t>eGFR Level</a:t>
                      </a:r>
                    </a:p>
                  </a:txBody>
                  <a:tcPr marL="36576" marR="36576" marT="18288" marB="18288" anchor="ctr">
                    <a:solidFill>
                      <a:srgbClr val="FFFFFF"/>
                    </a:solidFill>
                    <a:lnL w="6350">
                      <a:solidFill>
                        <a:srgbClr val="E3E7E9"/>
                      </a:solidFill>
                    </a:lnL>
                    <a:lnR w="6350">
                      <a:solidFill>
                        <a:srgbClr val="E3E7E9"/>
                      </a:solidFill>
                    </a:lnR>
                    <a:lnT w="6350">
                      <a:solidFill>
                        <a:srgbClr val="E3E7E9"/>
                      </a:solidFill>
                    </a:lnT>
                    <a:lnB w="6350">
                      <a:solidFill>
                        <a:srgbClr val="E3E7E9"/>
                      </a:solidFill>
                    </a:lnB>
                  </a:tcPr>
                </a:tc>
                <a:tc>
                  <a:txBody>
                    <a:bodyPr wrap="square" lIns="36576" tIns="18288" rIns="36576" bIns="18288" anchor="ctr"/>
                    <a:lstStyle/>
                    <a:p>
                      <a:pPr marL="0" indent="0" algn="l">
                        <a:buNone/>
                      </a:pPr>
                      <a:r>
                        <a:rPr lang="en-US" sz="880" dirty="0">
                          <a:solidFill>
                            <a:srgbClr val="2C3E50"/>
                          </a:solidFill>
                          <a:latin typeface="Calibri"/>
                          <a:cs typeface="Calibri"/>
                        </a:rPr>
                        <a:t>&lt; 30 ml/min</a:t>
                      </a:r>
                    </a:p>
                  </a:txBody>
                  <a:tcPr marL="36576" marR="36576" marT="18288" marB="18288" anchor="ctr">
                    <a:solidFill>
                      <a:srgbClr val="FFFFFF"/>
                    </a:solidFill>
                    <a:lnL w="6350">
                      <a:solidFill>
                        <a:srgbClr val="E3E7E9"/>
                      </a:solidFill>
                    </a:lnL>
                    <a:lnR w="6350">
                      <a:solidFill>
                        <a:srgbClr val="E3E7E9"/>
                      </a:solidFill>
                    </a:lnR>
                    <a:lnT w="6350">
                      <a:solidFill>
                        <a:srgbClr val="E3E7E9"/>
                      </a:solidFill>
                    </a:lnT>
                    <a:lnB w="6350">
                      <a:solidFill>
                        <a:srgbClr val="E3E7E9"/>
                      </a:solidFill>
                    </a:lnB>
                  </a:tcPr>
                </a:tc>
                <a:tc>
                  <a:txBody>
                    <a:bodyPr wrap="square" lIns="36576" tIns="18288" rIns="36576" bIns="18288" anchor="ctr"/>
                    <a:lstStyle/>
                    <a:p>
                      <a:pPr marL="0" indent="0" algn="r">
                        <a:buNone/>
                      </a:pPr>
                      <a:r>
                        <a:rPr lang="en-US" sz="880" b="1" dirty="0">
                          <a:solidFill>
                            <a:srgbClr val="2C3E50"/>
                          </a:solidFill>
                          <a:latin typeface="Calibri"/>
                          <a:cs typeface="Calibri"/>
                        </a:rPr>
                        <a:t>20</a:t>
                      </a:r>
                    </a:p>
                  </a:txBody>
                  <a:tcPr marL="36576" marR="36576" marT="18288" marB="18288" anchor="ctr">
                    <a:solidFill>
                      <a:srgbClr val="FFFFFF"/>
                    </a:solidFill>
                    <a:lnL w="6350">
                      <a:solidFill>
                        <a:srgbClr val="E3E7E9"/>
                      </a:solidFill>
                    </a:lnL>
                    <a:lnR w="6350">
                      <a:solidFill>
                        <a:srgbClr val="E3E7E9"/>
                      </a:solidFill>
                    </a:lnR>
                    <a:lnT w="6350">
                      <a:solidFill>
                        <a:srgbClr val="E3E7E9"/>
                      </a:solidFill>
                    </a:lnT>
                    <a:lnB w="6350">
                      <a:solidFill>
                        <a:srgbClr val="E3E7E9"/>
                      </a:solidFill>
                    </a:lnB>
                  </a:tcPr>
                </a:tc>
              </a:tr>
              <a:tr h="187325">
                <a:tc>
                  <a:txBody>
                    <a:bodyPr wrap="square" lIns="36576" tIns="18288" rIns="36576" bIns="18288" anchor="ctr"/>
                    <a:lstStyle/>
                    <a:p>
                      <a:pPr marL="0" indent="0" algn="l">
                        <a:buNone/>
                      </a:pPr>
                      <a:r>
                        <a:rPr lang="en-US" sz="880" dirty="0">
                          <a:solidFill>
                            <a:srgbClr val="2C3E50"/>
                          </a:solidFill>
                          <a:latin typeface="Calibri"/>
                          <a:cs typeface="Calibri"/>
                        </a:rPr>
                        <a:t>eGFR Level</a:t>
                      </a:r>
                    </a:p>
                  </a:txBody>
                  <a:tcPr marL="36576" marR="36576" marT="18288" marB="18288" anchor="ctr">
                    <a:solidFill>
                      <a:srgbClr val="E3E7E9"/>
                    </a:solidFill>
                    <a:lnL w="6350">
                      <a:solidFill>
                        <a:srgbClr val="E3E7E9"/>
                      </a:solidFill>
                    </a:lnL>
                    <a:lnR w="6350">
                      <a:solidFill>
                        <a:srgbClr val="E3E7E9"/>
                      </a:solidFill>
                    </a:lnR>
                    <a:lnT w="6350">
                      <a:solidFill>
                        <a:srgbClr val="E3E7E9"/>
                      </a:solidFill>
                    </a:lnT>
                    <a:lnB w="6350">
                      <a:solidFill>
                        <a:srgbClr val="E3E7E9"/>
                      </a:solidFill>
                    </a:lnB>
                  </a:tcPr>
                </a:tc>
                <a:tc>
                  <a:txBody>
                    <a:bodyPr wrap="square" lIns="36576" tIns="18288" rIns="36576" bIns="18288" anchor="ctr"/>
                    <a:lstStyle/>
                    <a:p>
                      <a:pPr marL="0" indent="0" algn="l">
                        <a:buNone/>
                      </a:pPr>
                      <a:r>
                        <a:rPr lang="en-US" sz="880" dirty="0">
                          <a:solidFill>
                            <a:srgbClr val="2C3E50"/>
                          </a:solidFill>
                          <a:latin typeface="Calibri"/>
                          <a:cs typeface="Calibri"/>
                        </a:rPr>
                        <a:t>30–44</a:t>
                      </a:r>
                    </a:p>
                  </a:txBody>
                  <a:tcPr marL="36576" marR="36576" marT="18288" marB="18288" anchor="ctr">
                    <a:solidFill>
                      <a:srgbClr val="E3E7E9"/>
                    </a:solidFill>
                    <a:lnL w="6350">
                      <a:solidFill>
                        <a:srgbClr val="E3E7E9"/>
                      </a:solidFill>
                    </a:lnL>
                    <a:lnR w="6350">
                      <a:solidFill>
                        <a:srgbClr val="E3E7E9"/>
                      </a:solidFill>
                    </a:lnR>
                    <a:lnT w="6350">
                      <a:solidFill>
                        <a:srgbClr val="E3E7E9"/>
                      </a:solidFill>
                    </a:lnT>
                    <a:lnB w="6350">
                      <a:solidFill>
                        <a:srgbClr val="E3E7E9"/>
                      </a:solidFill>
                    </a:lnB>
                  </a:tcPr>
                </a:tc>
                <a:tc>
                  <a:txBody>
                    <a:bodyPr wrap="square" lIns="36576" tIns="18288" rIns="36576" bIns="18288" anchor="ctr"/>
                    <a:lstStyle/>
                    <a:p>
                      <a:pPr marL="0" indent="0" algn="r">
                        <a:buNone/>
                      </a:pPr>
                      <a:r>
                        <a:rPr lang="en-US" sz="880" b="1" dirty="0">
                          <a:solidFill>
                            <a:srgbClr val="2C3E50"/>
                          </a:solidFill>
                          <a:latin typeface="Calibri"/>
                          <a:cs typeface="Calibri"/>
                        </a:rPr>
                        <a:t>17</a:t>
                      </a:r>
                    </a:p>
                  </a:txBody>
                  <a:tcPr marL="36576" marR="36576" marT="18288" marB="18288" anchor="ctr">
                    <a:solidFill>
                      <a:srgbClr val="E3E7E9"/>
                    </a:solidFill>
                    <a:lnL w="6350">
                      <a:solidFill>
                        <a:srgbClr val="E3E7E9"/>
                      </a:solidFill>
                    </a:lnL>
                    <a:lnR w="6350">
                      <a:solidFill>
                        <a:srgbClr val="E3E7E9"/>
                      </a:solidFill>
                    </a:lnR>
                    <a:lnT w="6350">
                      <a:solidFill>
                        <a:srgbClr val="E3E7E9"/>
                      </a:solidFill>
                    </a:lnT>
                    <a:lnB w="6350">
                      <a:solidFill>
                        <a:srgbClr val="E3E7E9"/>
                      </a:solidFill>
                    </a:lnB>
                  </a:tcPr>
                </a:tc>
              </a:tr>
              <a:tr h="187325">
                <a:tc>
                  <a:txBody>
                    <a:bodyPr wrap="square" lIns="36576" tIns="18288" rIns="36576" bIns="18288" anchor="ctr"/>
                    <a:lstStyle/>
                    <a:p>
                      <a:pPr marL="0" indent="0" algn="l">
                        <a:buNone/>
                      </a:pPr>
                      <a:r>
                        <a:rPr lang="en-US" sz="880" dirty="0">
                          <a:solidFill>
                            <a:srgbClr val="2C3E50"/>
                          </a:solidFill>
                          <a:latin typeface="Calibri"/>
                          <a:cs typeface="Calibri"/>
                        </a:rPr>
                        <a:t>eGFR Level</a:t>
                      </a:r>
                    </a:p>
                  </a:txBody>
                  <a:tcPr marL="36576" marR="36576" marT="18288" marB="18288" anchor="ctr">
                    <a:solidFill>
                      <a:srgbClr val="FFFFFF"/>
                    </a:solidFill>
                    <a:lnL w="6350">
                      <a:solidFill>
                        <a:srgbClr val="E3E7E9"/>
                      </a:solidFill>
                    </a:lnL>
                    <a:lnR w="6350">
                      <a:solidFill>
                        <a:srgbClr val="E3E7E9"/>
                      </a:solidFill>
                    </a:lnR>
                    <a:lnT w="6350">
                      <a:solidFill>
                        <a:srgbClr val="E3E7E9"/>
                      </a:solidFill>
                    </a:lnT>
                    <a:lnB w="6350">
                      <a:solidFill>
                        <a:srgbClr val="E3E7E9"/>
                      </a:solidFill>
                    </a:lnB>
                  </a:tcPr>
                </a:tc>
                <a:tc>
                  <a:txBody>
                    <a:bodyPr wrap="square" lIns="36576" tIns="18288" rIns="36576" bIns="18288" anchor="ctr"/>
                    <a:lstStyle/>
                    <a:p>
                      <a:pPr marL="0" indent="0" algn="l">
                        <a:buNone/>
                      </a:pPr>
                      <a:r>
                        <a:rPr lang="en-US" sz="880" dirty="0">
                          <a:solidFill>
                            <a:srgbClr val="2C3E50"/>
                          </a:solidFill>
                          <a:latin typeface="Calibri"/>
                          <a:cs typeface="Calibri"/>
                        </a:rPr>
                        <a:t>45–59</a:t>
                      </a:r>
                    </a:p>
                  </a:txBody>
                  <a:tcPr marL="36576" marR="36576" marT="18288" marB="18288" anchor="ctr">
                    <a:solidFill>
                      <a:srgbClr val="FFFFFF"/>
                    </a:solidFill>
                    <a:lnL w="6350">
                      <a:solidFill>
                        <a:srgbClr val="E3E7E9"/>
                      </a:solidFill>
                    </a:lnL>
                    <a:lnR w="6350">
                      <a:solidFill>
                        <a:srgbClr val="E3E7E9"/>
                      </a:solidFill>
                    </a:lnR>
                    <a:lnT w="6350">
                      <a:solidFill>
                        <a:srgbClr val="E3E7E9"/>
                      </a:solidFill>
                    </a:lnT>
                    <a:lnB w="6350">
                      <a:solidFill>
                        <a:srgbClr val="E3E7E9"/>
                      </a:solidFill>
                    </a:lnB>
                  </a:tcPr>
                </a:tc>
                <a:tc>
                  <a:txBody>
                    <a:bodyPr wrap="square" lIns="36576" tIns="18288" rIns="36576" bIns="18288" anchor="ctr"/>
                    <a:lstStyle/>
                    <a:p>
                      <a:pPr marL="0" indent="0" algn="r">
                        <a:buNone/>
                      </a:pPr>
                      <a:r>
                        <a:rPr lang="en-US" sz="880" b="1" dirty="0">
                          <a:solidFill>
                            <a:srgbClr val="2C3E50"/>
                          </a:solidFill>
                          <a:latin typeface="Calibri"/>
                          <a:cs typeface="Calibri"/>
                        </a:rPr>
                        <a:t>14</a:t>
                      </a:r>
                    </a:p>
                  </a:txBody>
                  <a:tcPr marL="36576" marR="36576" marT="18288" marB="18288" anchor="ctr">
                    <a:solidFill>
                      <a:srgbClr val="FFFFFF"/>
                    </a:solidFill>
                    <a:lnL w="6350">
                      <a:solidFill>
                        <a:srgbClr val="E3E7E9"/>
                      </a:solidFill>
                    </a:lnL>
                    <a:lnR w="6350">
                      <a:solidFill>
                        <a:srgbClr val="E3E7E9"/>
                      </a:solidFill>
                    </a:lnR>
                    <a:lnT w="6350">
                      <a:solidFill>
                        <a:srgbClr val="E3E7E9"/>
                      </a:solidFill>
                    </a:lnT>
                    <a:lnB w="6350">
                      <a:solidFill>
                        <a:srgbClr val="E3E7E9"/>
                      </a:solidFill>
                    </a:lnB>
                  </a:tcPr>
                </a:tc>
              </a:tr>
              <a:tr h="187325">
                <a:tc>
                  <a:txBody>
                    <a:bodyPr wrap="square" lIns="36576" tIns="18288" rIns="36576" bIns="18288" anchor="ctr"/>
                    <a:lstStyle/>
                    <a:p>
                      <a:pPr marL="0" indent="0" algn="l">
                        <a:buNone/>
                      </a:pPr>
                      <a:r>
                        <a:rPr lang="en-US" sz="880" dirty="0">
                          <a:solidFill>
                            <a:srgbClr val="2C3E50"/>
                          </a:solidFill>
                          <a:latin typeface="Calibri"/>
                          <a:cs typeface="Calibri"/>
                        </a:rPr>
                        <a:t>eGFR Decline</a:t>
                      </a:r>
                    </a:p>
                  </a:txBody>
                  <a:tcPr marL="36576" marR="36576" marT="18288" marB="18288" anchor="ctr">
                    <a:solidFill>
                      <a:srgbClr val="E3E7E9"/>
                    </a:solidFill>
                    <a:lnL w="6350">
                      <a:solidFill>
                        <a:srgbClr val="E3E7E9"/>
                      </a:solidFill>
                    </a:lnL>
                    <a:lnR w="6350">
                      <a:solidFill>
                        <a:srgbClr val="E3E7E9"/>
                      </a:solidFill>
                    </a:lnR>
                    <a:lnT w="6350">
                      <a:solidFill>
                        <a:srgbClr val="E3E7E9"/>
                      </a:solidFill>
                    </a:lnT>
                    <a:lnB w="6350">
                      <a:solidFill>
                        <a:srgbClr val="E3E7E9"/>
                      </a:solidFill>
                    </a:lnB>
                  </a:tcPr>
                </a:tc>
                <a:tc>
                  <a:txBody>
                    <a:bodyPr wrap="square" lIns="36576" tIns="18288" rIns="36576" bIns="18288" anchor="ctr"/>
                    <a:lstStyle/>
                    <a:p>
                      <a:pPr marL="0" indent="0" algn="l">
                        <a:buNone/>
                      </a:pPr>
                      <a:r>
                        <a:rPr lang="en-US" sz="880" dirty="0">
                          <a:solidFill>
                            <a:srgbClr val="2C3E50"/>
                          </a:solidFill>
                          <a:latin typeface="Calibri"/>
                          <a:cs typeface="Calibri"/>
                        </a:rPr>
                        <a:t>&gt; 40% drop</a:t>
                      </a:r>
                    </a:p>
                  </a:txBody>
                  <a:tcPr marL="36576" marR="36576" marT="18288" marB="18288" anchor="ctr">
                    <a:solidFill>
                      <a:srgbClr val="E3E7E9"/>
                    </a:solidFill>
                    <a:lnL w="6350">
                      <a:solidFill>
                        <a:srgbClr val="E3E7E9"/>
                      </a:solidFill>
                    </a:lnL>
                    <a:lnR w="6350">
                      <a:solidFill>
                        <a:srgbClr val="E3E7E9"/>
                      </a:solidFill>
                    </a:lnR>
                    <a:lnT w="6350">
                      <a:solidFill>
                        <a:srgbClr val="E3E7E9"/>
                      </a:solidFill>
                    </a:lnT>
                    <a:lnB w="6350">
                      <a:solidFill>
                        <a:srgbClr val="E3E7E9"/>
                      </a:solidFill>
                    </a:lnB>
                  </a:tcPr>
                </a:tc>
                <a:tc>
                  <a:txBody>
                    <a:bodyPr wrap="square" lIns="36576" tIns="18288" rIns="36576" bIns="18288" anchor="ctr"/>
                    <a:lstStyle/>
                    <a:p>
                      <a:pPr marL="0" indent="0" algn="r">
                        <a:buNone/>
                      </a:pPr>
                      <a:r>
                        <a:rPr lang="en-US" sz="880" b="1" dirty="0">
                          <a:solidFill>
                            <a:srgbClr val="2C3E50"/>
                          </a:solidFill>
                          <a:latin typeface="Calibri"/>
                          <a:cs typeface="Calibri"/>
                        </a:rPr>
                        <a:t>20</a:t>
                      </a:r>
                    </a:p>
                  </a:txBody>
                  <a:tcPr marL="36576" marR="36576" marT="18288" marB="18288" anchor="ctr">
                    <a:solidFill>
                      <a:srgbClr val="E3E7E9"/>
                    </a:solidFill>
                    <a:lnL w="6350">
                      <a:solidFill>
                        <a:srgbClr val="E3E7E9"/>
                      </a:solidFill>
                    </a:lnL>
                    <a:lnR w="6350">
                      <a:solidFill>
                        <a:srgbClr val="E3E7E9"/>
                      </a:solidFill>
                    </a:lnR>
                    <a:lnT w="6350">
                      <a:solidFill>
                        <a:srgbClr val="E3E7E9"/>
                      </a:solidFill>
                    </a:lnT>
                    <a:lnB w="6350">
                      <a:solidFill>
                        <a:srgbClr val="E3E7E9"/>
                      </a:solidFill>
                    </a:lnB>
                  </a:tcPr>
                </a:tc>
              </a:tr>
              <a:tr h="187325">
                <a:tc>
                  <a:txBody>
                    <a:bodyPr wrap="square" lIns="36576" tIns="18288" rIns="36576" bIns="18288" anchor="ctr"/>
                    <a:lstStyle/>
                    <a:p>
                      <a:pPr marL="0" indent="0" algn="l">
                        <a:buNone/>
                      </a:pPr>
                      <a:r>
                        <a:rPr lang="en-US" sz="880" dirty="0">
                          <a:solidFill>
                            <a:srgbClr val="2C3E50"/>
                          </a:solidFill>
                          <a:latin typeface="Calibri"/>
                          <a:cs typeface="Calibri"/>
                        </a:rPr>
                        <a:t>eGFR Decline</a:t>
                      </a:r>
                    </a:p>
                  </a:txBody>
                  <a:tcPr marL="36576" marR="36576" marT="18288" marB="18288" anchor="ctr">
                    <a:solidFill>
                      <a:srgbClr val="FFFFFF"/>
                    </a:solidFill>
                    <a:lnL w="6350">
                      <a:solidFill>
                        <a:srgbClr val="E3E7E9"/>
                      </a:solidFill>
                    </a:lnL>
                    <a:lnR w="6350">
                      <a:solidFill>
                        <a:srgbClr val="E3E7E9"/>
                      </a:solidFill>
                    </a:lnR>
                    <a:lnT w="6350">
                      <a:solidFill>
                        <a:srgbClr val="E3E7E9"/>
                      </a:solidFill>
                    </a:lnT>
                    <a:lnB w="6350">
                      <a:solidFill>
                        <a:srgbClr val="E3E7E9"/>
                      </a:solidFill>
                    </a:lnB>
                  </a:tcPr>
                </a:tc>
                <a:tc>
                  <a:txBody>
                    <a:bodyPr wrap="square" lIns="36576" tIns="18288" rIns="36576" bIns="18288" anchor="ctr"/>
                    <a:lstStyle/>
                    <a:p>
                      <a:pPr marL="0" indent="0" algn="l">
                        <a:buNone/>
                      </a:pPr>
                      <a:r>
                        <a:rPr lang="en-US" sz="880" dirty="0">
                          <a:solidFill>
                            <a:srgbClr val="2C3E50"/>
                          </a:solidFill>
                          <a:latin typeface="Calibri"/>
                          <a:cs typeface="Calibri"/>
                        </a:rPr>
                        <a:t>25–40% drop</a:t>
                      </a:r>
                    </a:p>
                  </a:txBody>
                  <a:tcPr marL="36576" marR="36576" marT="18288" marB="18288" anchor="ctr">
                    <a:solidFill>
                      <a:srgbClr val="FFFFFF"/>
                    </a:solidFill>
                    <a:lnL w="6350">
                      <a:solidFill>
                        <a:srgbClr val="E3E7E9"/>
                      </a:solidFill>
                    </a:lnL>
                    <a:lnR w="6350">
                      <a:solidFill>
                        <a:srgbClr val="E3E7E9"/>
                      </a:solidFill>
                    </a:lnR>
                    <a:lnT w="6350">
                      <a:solidFill>
                        <a:srgbClr val="E3E7E9"/>
                      </a:solidFill>
                    </a:lnT>
                    <a:lnB w="6350">
                      <a:solidFill>
                        <a:srgbClr val="E3E7E9"/>
                      </a:solidFill>
                    </a:lnB>
                  </a:tcPr>
                </a:tc>
                <a:tc>
                  <a:txBody>
                    <a:bodyPr wrap="square" lIns="36576" tIns="18288" rIns="36576" bIns="18288" anchor="ctr"/>
                    <a:lstStyle/>
                    <a:p>
                      <a:pPr marL="0" indent="0" algn="r">
                        <a:buNone/>
                      </a:pPr>
                      <a:r>
                        <a:rPr lang="en-US" sz="880" b="1" dirty="0">
                          <a:solidFill>
                            <a:srgbClr val="2C3E50"/>
                          </a:solidFill>
                          <a:latin typeface="Calibri"/>
                          <a:cs typeface="Calibri"/>
                        </a:rPr>
                        <a:t>14</a:t>
                      </a:r>
                    </a:p>
                  </a:txBody>
                  <a:tcPr marL="36576" marR="36576" marT="18288" marB="18288" anchor="ctr">
                    <a:solidFill>
                      <a:srgbClr val="FFFFFF"/>
                    </a:solidFill>
                    <a:lnL w="6350">
                      <a:solidFill>
                        <a:srgbClr val="E3E7E9"/>
                      </a:solidFill>
                    </a:lnL>
                    <a:lnR w="6350">
                      <a:solidFill>
                        <a:srgbClr val="E3E7E9"/>
                      </a:solidFill>
                    </a:lnR>
                    <a:lnT w="6350">
                      <a:solidFill>
                        <a:srgbClr val="E3E7E9"/>
                      </a:solidFill>
                    </a:lnT>
                    <a:lnB w="6350">
                      <a:solidFill>
                        <a:srgbClr val="E3E7E9"/>
                      </a:solidFill>
                    </a:lnB>
                  </a:tcPr>
                </a:tc>
              </a:tr>
              <a:tr h="187325">
                <a:tc>
                  <a:txBody>
                    <a:bodyPr wrap="square" lIns="36576" tIns="18288" rIns="36576" bIns="18288" anchor="ctr"/>
                    <a:lstStyle/>
                    <a:p>
                      <a:pPr marL="0" indent="0" algn="l">
                        <a:buNone/>
                      </a:pPr>
                      <a:r>
                        <a:rPr lang="en-US" sz="880" dirty="0">
                          <a:solidFill>
                            <a:srgbClr val="2C3E50"/>
                          </a:solidFill>
                          <a:latin typeface="Calibri"/>
                          <a:cs typeface="Calibri"/>
                        </a:rPr>
                        <a:t>Creatinine</a:t>
                      </a:r>
                    </a:p>
                  </a:txBody>
                  <a:tcPr marL="36576" marR="36576" marT="18288" marB="18288" anchor="ctr">
                    <a:solidFill>
                      <a:srgbClr val="E3E7E9"/>
                    </a:solidFill>
                    <a:lnL w="6350">
                      <a:solidFill>
                        <a:srgbClr val="E3E7E9"/>
                      </a:solidFill>
                    </a:lnL>
                    <a:lnR w="6350">
                      <a:solidFill>
                        <a:srgbClr val="E3E7E9"/>
                      </a:solidFill>
                    </a:lnR>
                    <a:lnT w="6350">
                      <a:solidFill>
                        <a:srgbClr val="E3E7E9"/>
                      </a:solidFill>
                    </a:lnT>
                    <a:lnB w="6350">
                      <a:solidFill>
                        <a:srgbClr val="E3E7E9"/>
                      </a:solidFill>
                    </a:lnB>
                  </a:tcPr>
                </a:tc>
                <a:tc>
                  <a:txBody>
                    <a:bodyPr wrap="square" lIns="36576" tIns="18288" rIns="36576" bIns="18288" anchor="ctr"/>
                    <a:lstStyle/>
                    <a:p>
                      <a:pPr marL="0" indent="0" algn="l">
                        <a:buNone/>
                      </a:pPr>
                      <a:r>
                        <a:rPr lang="en-US" sz="880" dirty="0">
                          <a:solidFill>
                            <a:srgbClr val="2C3E50"/>
                          </a:solidFill>
                          <a:latin typeface="Calibri"/>
                          <a:cs typeface="Calibri"/>
                        </a:rPr>
                        <a:t>Doubled</a:t>
                      </a:r>
                    </a:p>
                  </a:txBody>
                  <a:tcPr marL="36576" marR="36576" marT="18288" marB="18288" anchor="ctr">
                    <a:solidFill>
                      <a:srgbClr val="E3E7E9"/>
                    </a:solidFill>
                    <a:lnL w="6350">
                      <a:solidFill>
                        <a:srgbClr val="E3E7E9"/>
                      </a:solidFill>
                    </a:lnL>
                    <a:lnR w="6350">
                      <a:solidFill>
                        <a:srgbClr val="E3E7E9"/>
                      </a:solidFill>
                    </a:lnR>
                    <a:lnT w="6350">
                      <a:solidFill>
                        <a:srgbClr val="E3E7E9"/>
                      </a:solidFill>
                    </a:lnT>
                    <a:lnB w="6350">
                      <a:solidFill>
                        <a:srgbClr val="E3E7E9"/>
                      </a:solidFill>
                    </a:lnB>
                  </a:tcPr>
                </a:tc>
                <a:tc>
                  <a:txBody>
                    <a:bodyPr wrap="square" lIns="36576" tIns="18288" rIns="36576" bIns="18288" anchor="ctr"/>
                    <a:lstStyle/>
                    <a:p>
                      <a:pPr marL="0" indent="0" algn="r">
                        <a:buNone/>
                      </a:pPr>
                      <a:r>
                        <a:rPr lang="en-US" sz="880" b="1" dirty="0">
                          <a:solidFill>
                            <a:srgbClr val="2C3E50"/>
                          </a:solidFill>
                          <a:latin typeface="Calibri"/>
                          <a:cs typeface="Calibri"/>
                        </a:rPr>
                        <a:t>20</a:t>
                      </a:r>
                    </a:p>
                  </a:txBody>
                  <a:tcPr marL="36576" marR="36576" marT="18288" marB="18288" anchor="ctr">
                    <a:solidFill>
                      <a:srgbClr val="E3E7E9"/>
                    </a:solidFill>
                    <a:lnL w="6350">
                      <a:solidFill>
                        <a:srgbClr val="E3E7E9"/>
                      </a:solidFill>
                    </a:lnL>
                    <a:lnR w="6350">
                      <a:solidFill>
                        <a:srgbClr val="E3E7E9"/>
                      </a:solidFill>
                    </a:lnR>
                    <a:lnT w="6350">
                      <a:solidFill>
                        <a:srgbClr val="E3E7E9"/>
                      </a:solidFill>
                    </a:lnT>
                    <a:lnB w="6350">
                      <a:solidFill>
                        <a:srgbClr val="E3E7E9"/>
                      </a:solidFill>
                    </a:lnB>
                  </a:tcPr>
                </a:tc>
              </a:tr>
              <a:tr h="187325">
                <a:tc>
                  <a:txBody>
                    <a:bodyPr wrap="square" lIns="36576" tIns="18288" rIns="36576" bIns="18288" anchor="ctr"/>
                    <a:lstStyle/>
                    <a:p>
                      <a:pPr marL="0" indent="0" algn="l">
                        <a:buNone/>
                      </a:pPr>
                      <a:r>
                        <a:rPr lang="en-US" sz="880" dirty="0">
                          <a:solidFill>
                            <a:srgbClr val="2C3E50"/>
                          </a:solidFill>
                          <a:latin typeface="Calibri"/>
                          <a:cs typeface="Calibri"/>
                        </a:rPr>
                        <a:t>HbA1c</a:t>
                      </a:r>
                    </a:p>
                  </a:txBody>
                  <a:tcPr marL="36576" marR="36576" marT="18288" marB="18288" anchor="ctr">
                    <a:solidFill>
                      <a:srgbClr val="FFFFFF"/>
                    </a:solidFill>
                    <a:lnL w="6350">
                      <a:solidFill>
                        <a:srgbClr val="E3E7E9"/>
                      </a:solidFill>
                    </a:lnL>
                    <a:lnR w="6350">
                      <a:solidFill>
                        <a:srgbClr val="E3E7E9"/>
                      </a:solidFill>
                    </a:lnR>
                    <a:lnT w="6350">
                      <a:solidFill>
                        <a:srgbClr val="E3E7E9"/>
                      </a:solidFill>
                    </a:lnT>
                    <a:lnB w="6350">
                      <a:solidFill>
                        <a:srgbClr val="E3E7E9"/>
                      </a:solidFill>
                    </a:lnB>
                  </a:tcPr>
                </a:tc>
                <a:tc>
                  <a:txBody>
                    <a:bodyPr wrap="square" lIns="36576" tIns="18288" rIns="36576" bIns="18288" anchor="ctr"/>
                    <a:lstStyle/>
                    <a:p>
                      <a:pPr marL="0" indent="0" algn="l">
                        <a:buNone/>
                      </a:pPr>
                      <a:r>
                        <a:rPr lang="en-US" sz="880" dirty="0">
                          <a:solidFill>
                            <a:srgbClr val="2C3E50"/>
                          </a:solidFill>
                          <a:latin typeface="Calibri"/>
                          <a:cs typeface="Calibri"/>
                        </a:rPr>
                        <a:t>Average &gt; 9%</a:t>
                      </a:r>
                    </a:p>
                  </a:txBody>
                  <a:tcPr marL="36576" marR="36576" marT="18288" marB="18288" anchor="ctr">
                    <a:solidFill>
                      <a:srgbClr val="FFFFFF"/>
                    </a:solidFill>
                    <a:lnL w="6350">
                      <a:solidFill>
                        <a:srgbClr val="E3E7E9"/>
                      </a:solidFill>
                    </a:lnL>
                    <a:lnR w="6350">
                      <a:solidFill>
                        <a:srgbClr val="E3E7E9"/>
                      </a:solidFill>
                    </a:lnR>
                    <a:lnT w="6350">
                      <a:solidFill>
                        <a:srgbClr val="E3E7E9"/>
                      </a:solidFill>
                    </a:lnT>
                    <a:lnB w="6350">
                      <a:solidFill>
                        <a:srgbClr val="E3E7E9"/>
                      </a:solidFill>
                    </a:lnB>
                  </a:tcPr>
                </a:tc>
                <a:tc>
                  <a:txBody>
                    <a:bodyPr wrap="square" lIns="36576" tIns="18288" rIns="36576" bIns="18288" anchor="ctr"/>
                    <a:lstStyle/>
                    <a:p>
                      <a:pPr marL="0" indent="0" algn="r">
                        <a:buNone/>
                      </a:pPr>
                      <a:r>
                        <a:rPr lang="en-US" sz="880" b="1" dirty="0">
                          <a:solidFill>
                            <a:srgbClr val="2C3E50"/>
                          </a:solidFill>
                          <a:latin typeface="Calibri"/>
                          <a:cs typeface="Calibri"/>
                        </a:rPr>
                        <a:t>20</a:t>
                      </a:r>
                    </a:p>
                  </a:txBody>
                  <a:tcPr marL="36576" marR="36576" marT="18288" marB="18288" anchor="ctr">
                    <a:solidFill>
                      <a:srgbClr val="FFFFFF"/>
                    </a:solidFill>
                    <a:lnL w="6350">
                      <a:solidFill>
                        <a:srgbClr val="E3E7E9"/>
                      </a:solidFill>
                    </a:lnL>
                    <a:lnR w="6350">
                      <a:solidFill>
                        <a:srgbClr val="E3E7E9"/>
                      </a:solidFill>
                    </a:lnR>
                    <a:lnT w="6350">
                      <a:solidFill>
                        <a:srgbClr val="E3E7E9"/>
                      </a:solidFill>
                    </a:lnT>
                    <a:lnB w="6350">
                      <a:solidFill>
                        <a:srgbClr val="E3E7E9"/>
                      </a:solidFill>
                    </a:lnB>
                  </a:tcPr>
                </a:tc>
              </a:tr>
              <a:tr h="187325">
                <a:tc>
                  <a:txBody>
                    <a:bodyPr wrap="square" lIns="36576" tIns="18288" rIns="36576" bIns="18288" anchor="ctr"/>
                    <a:lstStyle/>
                    <a:p>
                      <a:pPr marL="0" indent="0" algn="l">
                        <a:buNone/>
                      </a:pPr>
                      <a:r>
                        <a:rPr lang="en-US" sz="880" dirty="0">
                          <a:solidFill>
                            <a:srgbClr val="2C3E50"/>
                          </a:solidFill>
                          <a:latin typeface="Calibri"/>
                          <a:cs typeface="Calibri"/>
                        </a:rPr>
                        <a:t>Urine ACR</a:t>
                      </a:r>
                    </a:p>
                  </a:txBody>
                  <a:tcPr marL="36576" marR="36576" marT="18288" marB="18288" anchor="ctr">
                    <a:solidFill>
                      <a:srgbClr val="E3E7E9"/>
                    </a:solidFill>
                    <a:lnL w="6350">
                      <a:solidFill>
                        <a:srgbClr val="E3E7E9"/>
                      </a:solidFill>
                    </a:lnL>
                    <a:lnR w="6350">
                      <a:solidFill>
                        <a:srgbClr val="E3E7E9"/>
                      </a:solidFill>
                    </a:lnR>
                    <a:lnT w="6350">
                      <a:solidFill>
                        <a:srgbClr val="E3E7E9"/>
                      </a:solidFill>
                    </a:lnT>
                    <a:lnB w="6350">
                      <a:solidFill>
                        <a:srgbClr val="E3E7E9"/>
                      </a:solidFill>
                    </a:lnB>
                  </a:tcPr>
                </a:tc>
                <a:tc>
                  <a:txBody>
                    <a:bodyPr wrap="square" lIns="36576" tIns="18288" rIns="36576" bIns="18288" anchor="ctr"/>
                    <a:lstStyle/>
                    <a:p>
                      <a:pPr marL="0" indent="0" algn="l">
                        <a:buNone/>
                      </a:pPr>
                      <a:r>
                        <a:rPr lang="en-US" sz="880" dirty="0">
                          <a:solidFill>
                            <a:srgbClr val="2C3E50"/>
                          </a:solidFill>
                          <a:latin typeface="Calibri"/>
                          <a:cs typeface="Calibri"/>
                        </a:rPr>
                        <a:t>&gt; 300 mg/g</a:t>
                      </a:r>
                    </a:p>
                  </a:txBody>
                  <a:tcPr marL="36576" marR="36576" marT="18288" marB="18288" anchor="ctr">
                    <a:solidFill>
                      <a:srgbClr val="E3E7E9"/>
                    </a:solidFill>
                    <a:lnL w="6350">
                      <a:solidFill>
                        <a:srgbClr val="E3E7E9"/>
                      </a:solidFill>
                    </a:lnL>
                    <a:lnR w="6350">
                      <a:solidFill>
                        <a:srgbClr val="E3E7E9"/>
                      </a:solidFill>
                    </a:lnR>
                    <a:lnT w="6350">
                      <a:solidFill>
                        <a:srgbClr val="E3E7E9"/>
                      </a:solidFill>
                    </a:lnT>
                    <a:lnB w="6350">
                      <a:solidFill>
                        <a:srgbClr val="E3E7E9"/>
                      </a:solidFill>
                    </a:lnB>
                  </a:tcPr>
                </a:tc>
                <a:tc>
                  <a:txBody>
                    <a:bodyPr wrap="square" lIns="36576" tIns="18288" rIns="36576" bIns="18288" anchor="ctr"/>
                    <a:lstStyle/>
                    <a:p>
                      <a:pPr marL="0" indent="0" algn="r">
                        <a:buNone/>
                      </a:pPr>
                      <a:r>
                        <a:rPr lang="en-US" sz="880" b="1" dirty="0">
                          <a:solidFill>
                            <a:srgbClr val="2C3E50"/>
                          </a:solidFill>
                          <a:latin typeface="Calibri"/>
                          <a:cs typeface="Calibri"/>
                        </a:rPr>
                        <a:t>20</a:t>
                      </a:r>
                    </a:p>
                  </a:txBody>
                  <a:tcPr marL="36576" marR="36576" marT="18288" marB="18288" anchor="ctr">
                    <a:solidFill>
                      <a:srgbClr val="E3E7E9"/>
                    </a:solidFill>
                    <a:lnL w="6350">
                      <a:solidFill>
                        <a:srgbClr val="E3E7E9"/>
                      </a:solidFill>
                    </a:lnL>
                    <a:lnR w="6350">
                      <a:solidFill>
                        <a:srgbClr val="E3E7E9"/>
                      </a:solidFill>
                    </a:lnR>
                    <a:lnT w="6350">
                      <a:solidFill>
                        <a:srgbClr val="E3E7E9"/>
                      </a:solidFill>
                    </a:lnT>
                    <a:lnB w="6350">
                      <a:solidFill>
                        <a:srgbClr val="E3E7E9"/>
                      </a:solidFill>
                    </a:lnB>
                  </a:tcPr>
                </a:tc>
              </a:tr>
              <a:tr h="187325">
                <a:tc>
                  <a:txBody>
                    <a:bodyPr wrap="square" lIns="36576" tIns="18288" rIns="36576" bIns="18288" anchor="ctr"/>
                    <a:lstStyle/>
                    <a:p>
                      <a:pPr marL="0" indent="0" algn="l">
                        <a:buNone/>
                      </a:pPr>
                      <a:r>
                        <a:rPr lang="en-US" sz="880" dirty="0">
                          <a:solidFill>
                            <a:srgbClr val="2C3E50"/>
                          </a:solidFill>
                          <a:latin typeface="Calibri"/>
                          <a:cs typeface="Calibri"/>
                        </a:rPr>
                        <a:t>BP</a:t>
                      </a:r>
                    </a:p>
                  </a:txBody>
                  <a:tcPr marL="36576" marR="36576" marT="18288" marB="18288" anchor="ctr">
                    <a:solidFill>
                      <a:srgbClr val="FFFFFF"/>
                    </a:solidFill>
                    <a:lnL w="6350">
                      <a:solidFill>
                        <a:srgbClr val="E3E7E9"/>
                      </a:solidFill>
                    </a:lnL>
                    <a:lnR w="6350">
                      <a:solidFill>
                        <a:srgbClr val="E3E7E9"/>
                      </a:solidFill>
                    </a:lnR>
                    <a:lnT w="6350">
                      <a:solidFill>
                        <a:srgbClr val="E3E7E9"/>
                      </a:solidFill>
                    </a:lnT>
                    <a:lnB w="6350">
                      <a:solidFill>
                        <a:srgbClr val="E3E7E9"/>
                      </a:solidFill>
                    </a:lnB>
                  </a:tcPr>
                </a:tc>
                <a:tc>
                  <a:txBody>
                    <a:bodyPr wrap="square" lIns="36576" tIns="18288" rIns="36576" bIns="18288" anchor="ctr"/>
                    <a:lstStyle/>
                    <a:p>
                      <a:pPr marL="0" indent="0" algn="l">
                        <a:buNone/>
                      </a:pPr>
                      <a:r>
                        <a:rPr lang="en-US" sz="880" dirty="0">
                          <a:solidFill>
                            <a:srgbClr val="2C3E50"/>
                          </a:solidFill>
                          <a:latin typeface="Calibri"/>
                          <a:cs typeface="Calibri"/>
                        </a:rPr>
                        <a:t>Avg &gt; 140</a:t>
                      </a:r>
                    </a:p>
                  </a:txBody>
                  <a:tcPr marL="36576" marR="36576" marT="18288" marB="18288" anchor="ctr">
                    <a:solidFill>
                      <a:srgbClr val="FFFFFF"/>
                    </a:solidFill>
                    <a:lnL w="6350">
                      <a:solidFill>
                        <a:srgbClr val="E3E7E9"/>
                      </a:solidFill>
                    </a:lnL>
                    <a:lnR w="6350">
                      <a:solidFill>
                        <a:srgbClr val="E3E7E9"/>
                      </a:solidFill>
                    </a:lnR>
                    <a:lnT w="6350">
                      <a:solidFill>
                        <a:srgbClr val="E3E7E9"/>
                      </a:solidFill>
                    </a:lnT>
                    <a:lnB w="6350">
                      <a:solidFill>
                        <a:srgbClr val="E3E7E9"/>
                      </a:solidFill>
                    </a:lnB>
                  </a:tcPr>
                </a:tc>
                <a:tc>
                  <a:txBody>
                    <a:bodyPr wrap="square" lIns="36576" tIns="18288" rIns="36576" bIns="18288" anchor="ctr"/>
                    <a:lstStyle/>
                    <a:p>
                      <a:pPr marL="0" indent="0" algn="r">
                        <a:buNone/>
                      </a:pPr>
                      <a:r>
                        <a:rPr lang="en-US" sz="880" b="1" dirty="0">
                          <a:solidFill>
                            <a:srgbClr val="2C3E50"/>
                          </a:solidFill>
                          <a:latin typeface="Calibri"/>
                          <a:cs typeface="Calibri"/>
                        </a:rPr>
                        <a:t>+5</a:t>
                      </a:r>
                    </a:p>
                  </a:txBody>
                  <a:tcPr marL="36576" marR="36576" marT="18288" marB="18288" anchor="ctr">
                    <a:solidFill>
                      <a:srgbClr val="FFFFFF"/>
                    </a:solidFill>
                    <a:lnL w="6350">
                      <a:solidFill>
                        <a:srgbClr val="E3E7E9"/>
                      </a:solidFill>
                    </a:lnL>
                    <a:lnR w="6350">
                      <a:solidFill>
                        <a:srgbClr val="E3E7E9"/>
                      </a:solidFill>
                    </a:lnR>
                    <a:lnT w="6350">
                      <a:solidFill>
                        <a:srgbClr val="E3E7E9"/>
                      </a:solidFill>
                    </a:lnT>
                    <a:lnB w="6350">
                      <a:solidFill>
                        <a:srgbClr val="E3E7E9"/>
                      </a:solidFill>
                    </a:lnB>
                  </a:tcPr>
                </a:tc>
              </a:tr>
              <a:tr h="187325">
                <a:tc>
                  <a:txBody>
                    <a:bodyPr wrap="square" lIns="36576" tIns="18288" rIns="36576" bIns="18288" anchor="ctr"/>
                    <a:lstStyle/>
                    <a:p>
                      <a:pPr marL="0" indent="0" algn="l">
                        <a:buNone/>
                      </a:pPr>
                      <a:r>
                        <a:rPr lang="en-US" sz="880" dirty="0">
                          <a:solidFill>
                            <a:srgbClr val="2C3E50"/>
                          </a:solidFill>
                          <a:latin typeface="Calibri"/>
                          <a:cs typeface="Calibri"/>
                        </a:rPr>
                        <a:t>Smoker</a:t>
                      </a:r>
                    </a:p>
                  </a:txBody>
                  <a:tcPr marL="36576" marR="36576" marT="18288" marB="18288" anchor="ctr">
                    <a:solidFill>
                      <a:srgbClr val="E3E7E9"/>
                    </a:solidFill>
                    <a:lnL w="6350">
                      <a:solidFill>
                        <a:srgbClr val="E3E7E9"/>
                      </a:solidFill>
                    </a:lnL>
                    <a:lnR w="6350">
                      <a:solidFill>
                        <a:srgbClr val="E3E7E9"/>
                      </a:solidFill>
                    </a:lnR>
                    <a:lnT w="6350">
                      <a:solidFill>
                        <a:srgbClr val="E3E7E9"/>
                      </a:solidFill>
                    </a:lnT>
                    <a:lnB w="6350">
                      <a:solidFill>
                        <a:srgbClr val="E3E7E9"/>
                      </a:solidFill>
                    </a:lnB>
                  </a:tcPr>
                </a:tc>
                <a:tc>
                  <a:txBody>
                    <a:bodyPr wrap="square" lIns="36576" tIns="18288" rIns="36576" bIns="18288" anchor="ctr"/>
                    <a:lstStyle/>
                    <a:p>
                      <a:pPr marL="0" indent="0" algn="l">
                        <a:buNone/>
                      </a:pPr>
                      <a:r>
                        <a:rPr lang="en-US" sz="880" dirty="0">
                          <a:solidFill>
                            <a:srgbClr val="2C3E50"/>
                          </a:solidFill>
                          <a:latin typeface="Calibri"/>
                          <a:cs typeface="Calibri"/>
                        </a:rPr>
                        <a:t>Yes</a:t>
                      </a:r>
                    </a:p>
                  </a:txBody>
                  <a:tcPr marL="36576" marR="36576" marT="18288" marB="18288" anchor="ctr">
                    <a:solidFill>
                      <a:srgbClr val="E3E7E9"/>
                    </a:solidFill>
                    <a:lnL w="6350">
                      <a:solidFill>
                        <a:srgbClr val="E3E7E9"/>
                      </a:solidFill>
                    </a:lnL>
                    <a:lnR w="6350">
                      <a:solidFill>
                        <a:srgbClr val="E3E7E9"/>
                      </a:solidFill>
                    </a:lnR>
                    <a:lnT w="6350">
                      <a:solidFill>
                        <a:srgbClr val="E3E7E9"/>
                      </a:solidFill>
                    </a:lnT>
                    <a:lnB w="6350">
                      <a:solidFill>
                        <a:srgbClr val="E3E7E9"/>
                      </a:solidFill>
                    </a:lnB>
                  </a:tcPr>
                </a:tc>
                <a:tc>
                  <a:txBody>
                    <a:bodyPr wrap="square" lIns="36576" tIns="18288" rIns="36576" bIns="18288" anchor="ctr"/>
                    <a:lstStyle/>
                    <a:p>
                      <a:pPr marL="0" indent="0" algn="r">
                        <a:buNone/>
                      </a:pPr>
                      <a:r>
                        <a:rPr lang="en-US" sz="880" b="1" dirty="0">
                          <a:solidFill>
                            <a:srgbClr val="2C3E50"/>
                          </a:solidFill>
                          <a:latin typeface="Calibri"/>
                          <a:cs typeface="Calibri"/>
                        </a:rPr>
                        <a:t>+5</a:t>
                      </a:r>
                    </a:p>
                  </a:txBody>
                  <a:tcPr marL="36576" marR="36576" marT="18288" marB="18288" anchor="ctr">
                    <a:solidFill>
                      <a:srgbClr val="E3E7E9"/>
                    </a:solidFill>
                    <a:lnL w="6350">
                      <a:solidFill>
                        <a:srgbClr val="E3E7E9"/>
                      </a:solidFill>
                    </a:lnL>
                    <a:lnR w="6350">
                      <a:solidFill>
                        <a:srgbClr val="E3E7E9"/>
                      </a:solidFill>
                    </a:lnR>
                    <a:lnT w="6350">
                      <a:solidFill>
                        <a:srgbClr val="E3E7E9"/>
                      </a:solidFill>
                    </a:lnT>
                    <a:lnB w="6350">
                      <a:solidFill>
                        <a:srgbClr val="E3E7E9"/>
                      </a:solidFill>
                    </a:lnB>
                  </a:tcPr>
                </a:tc>
              </a:tr>
              <a:tr h="187325">
                <a:tc>
                  <a:txBody>
                    <a:bodyPr wrap="square" lIns="36576" tIns="18288" rIns="36576" bIns="18288" anchor="ctr"/>
                    <a:lstStyle/>
                    <a:p>
                      <a:pPr marL="0" indent="0" algn="l">
                        <a:buNone/>
                      </a:pPr>
                      <a:r>
                        <a:rPr lang="en-US" sz="880" dirty="0">
                          <a:solidFill>
                            <a:srgbClr val="2C3E50"/>
                          </a:solidFill>
                          <a:latin typeface="Calibri"/>
                          <a:cs typeface="Calibri"/>
                        </a:rPr>
                        <a:t>DM Duration</a:t>
                      </a:r>
                    </a:p>
                  </a:txBody>
                  <a:tcPr marL="36576" marR="36576" marT="18288" marB="18288" anchor="ctr">
                    <a:solidFill>
                      <a:srgbClr val="FFFFFF"/>
                    </a:solidFill>
                    <a:lnL w="6350">
                      <a:solidFill>
                        <a:srgbClr val="E3E7E9"/>
                      </a:solidFill>
                    </a:lnL>
                    <a:lnR w="6350">
                      <a:solidFill>
                        <a:srgbClr val="E3E7E9"/>
                      </a:solidFill>
                    </a:lnR>
                    <a:lnT w="6350">
                      <a:solidFill>
                        <a:srgbClr val="E3E7E9"/>
                      </a:solidFill>
                    </a:lnT>
                    <a:lnB w="6350">
                      <a:solidFill>
                        <a:srgbClr val="E3E7E9"/>
                      </a:solidFill>
                    </a:lnB>
                  </a:tcPr>
                </a:tc>
                <a:tc>
                  <a:txBody>
                    <a:bodyPr wrap="square" lIns="36576" tIns="18288" rIns="36576" bIns="18288" anchor="ctr"/>
                    <a:lstStyle/>
                    <a:p>
                      <a:pPr marL="0" indent="0" algn="l">
                        <a:buNone/>
                      </a:pPr>
                      <a:r>
                        <a:rPr lang="en-US" sz="880" dirty="0">
                          <a:solidFill>
                            <a:srgbClr val="2C3E50"/>
                          </a:solidFill>
                          <a:latin typeface="Calibri"/>
                          <a:cs typeface="Calibri"/>
                        </a:rPr>
                        <a:t>&gt; 10 years</a:t>
                      </a:r>
                    </a:p>
                  </a:txBody>
                  <a:tcPr marL="36576" marR="36576" marT="18288" marB="18288" anchor="ctr">
                    <a:solidFill>
                      <a:srgbClr val="FFFFFF"/>
                    </a:solidFill>
                    <a:lnL w="6350">
                      <a:solidFill>
                        <a:srgbClr val="E3E7E9"/>
                      </a:solidFill>
                    </a:lnL>
                    <a:lnR w="6350">
                      <a:solidFill>
                        <a:srgbClr val="E3E7E9"/>
                      </a:solidFill>
                    </a:lnR>
                    <a:lnT w="6350">
                      <a:solidFill>
                        <a:srgbClr val="E3E7E9"/>
                      </a:solidFill>
                    </a:lnT>
                    <a:lnB w="6350">
                      <a:solidFill>
                        <a:srgbClr val="E3E7E9"/>
                      </a:solidFill>
                    </a:lnB>
                  </a:tcPr>
                </a:tc>
                <a:tc>
                  <a:txBody>
                    <a:bodyPr wrap="square" lIns="36576" tIns="18288" rIns="36576" bIns="18288" anchor="ctr"/>
                    <a:lstStyle/>
                    <a:p>
                      <a:pPr marL="0" indent="0" algn="r">
                        <a:buNone/>
                      </a:pPr>
                      <a:r>
                        <a:rPr lang="en-US" sz="880" b="1" dirty="0">
                          <a:solidFill>
                            <a:srgbClr val="2C3E50"/>
                          </a:solidFill>
                          <a:latin typeface="Calibri"/>
                          <a:cs typeface="Calibri"/>
                        </a:rPr>
                        <a:t>+5</a:t>
                      </a:r>
                    </a:p>
                  </a:txBody>
                  <a:tcPr marL="36576" marR="36576" marT="18288" marB="18288" anchor="ctr">
                    <a:solidFill>
                      <a:srgbClr val="FFFFFF"/>
                    </a:solidFill>
                    <a:lnL w="6350">
                      <a:solidFill>
                        <a:srgbClr val="E3E7E9"/>
                      </a:solidFill>
                    </a:lnL>
                    <a:lnR w="6350">
                      <a:solidFill>
                        <a:srgbClr val="E3E7E9"/>
                      </a:solidFill>
                    </a:lnR>
                    <a:lnT w="6350">
                      <a:solidFill>
                        <a:srgbClr val="E3E7E9"/>
                      </a:solidFill>
                    </a:lnT>
                    <a:lnB w="6350">
                      <a:solidFill>
                        <a:srgbClr val="E3E7E9"/>
                      </a:solidFill>
                    </a:lnB>
                  </a:tcPr>
                </a:tc>
              </a:tr>
            </a:tbl>
          </a:graphicData>
        </a:graphic>
      </p:graphicFrame>
      <p:sp>
        <p:nvSpPr>
          <p:cNvPr id="36" name="TextBox 36"/>
          <p:cNvSpPr txBox="1"/>
          <p:nvPr/>
        </p:nvSpPr>
        <p:spPr>
          <a:xfrm>
            <a:off x="6210300" y="4933950"/>
            <a:ext cx="5448300" cy="152400"/>
          </a:xfrm>
          <a:prstGeom prst="rect">
            <a:avLst/>
          </a:prstGeom>
          <a:noFill/>
        </p:spPr>
        <p:txBody>
          <a:bodyPr wrap="square" anchor="t" lIns="0" tIns="0" rIns="0" bIns="0">
            <a:noAutofit/>
          </a:bodyPr>
          <a:lstStyle/>
          <a:p>
            <a:pPr marL="0" indent="0" algn="r">
              <a:buNone/>
            </a:pPr>
            <a:r>
              <a:rPr lang="en-US" sz="900" dirty="0">
                <a:solidFill>
                  <a:srgbClr val="5B6B77"/>
                </a:solidFill>
                <a:latin typeface="Calibri"/>
                <a:cs typeface="Calibri"/>
              </a:rPr>
              <a:t>Score capped at 100.</a:t>
            </a:r>
          </a:p>
        </p:txBody>
      </p:sp>
      <p:cxnSp>
        <p:nvCxnSpPr>
          <p:cNvPr id="37" name="Line 37"/>
          <p:cNvCxnSpPr/>
          <p:nvPr/>
        </p:nvCxnSpPr>
        <p:spPr>
          <a:xfrm flipH="0" flipV="0">
            <a:off x="533400" y="6667500"/>
            <a:ext cx="11125200" cy="9525"/>
          </a:xfrm>
          <a:prstGeom prst="line">
            <a:avLst/>
          </a:prstGeom>
          <a:ln w="12700">
            <a:solidFill>
              <a:srgbClr val="E3E7E9"/>
            </a:solidFill>
          </a:ln>
        </p:spPr>
      </p:cxnSp>
      <p:sp>
        <p:nvSpPr>
          <p:cNvPr id="38" name="TextBox 38"/>
          <p:cNvSpPr txBox="1"/>
          <p:nvPr/>
        </p:nvSpPr>
        <p:spPr>
          <a:xfrm>
            <a:off x="533400" y="6705600"/>
            <a:ext cx="8572500" cy="190500"/>
          </a:xfrm>
          <a:prstGeom prst="rect">
            <a:avLst/>
          </a:prstGeom>
          <a:noFill/>
        </p:spPr>
        <p:txBody>
          <a:bodyPr wrap="square" anchor="t" lIns="0" tIns="0" rIns="0" bIns="0">
            <a:noAutofit/>
          </a:bodyPr>
          <a:lstStyle/>
          <a:p>
            <a:pPr marL="0" indent="0" algn="l">
              <a:buNone/>
            </a:pPr>
            <a:r>
              <a:rPr lang="en-US" sz="850" dirty="0">
                <a:solidFill>
                  <a:srgbClr val="7A8B99"/>
                </a:solidFill>
                <a:latin typeface="Calibri"/>
                <a:cs typeface="Calibri"/>
              </a:rPr>
              <a:t>NephroAlert | ACS-AMRI Seed Grant Proposal 2026 | Dr. MGR Educational and Research Institute, Chennai</a:t>
            </a:r>
          </a:p>
        </p:txBody>
      </p:sp>
      <p:sp>
        <p:nvSpPr>
          <p:cNvPr id="39" name="TextBox 39"/>
          <p:cNvSpPr txBox="1"/>
          <p:nvPr/>
        </p:nvSpPr>
        <p:spPr>
          <a:xfrm>
            <a:off x="11277600" y="6667500"/>
            <a:ext cx="381000" cy="190500"/>
          </a:xfrm>
          <a:prstGeom prst="rect">
            <a:avLst/>
          </a:prstGeom>
          <a:noFill/>
        </p:spPr>
        <p:txBody>
          <a:bodyPr wrap="square" anchor="t" lIns="0" tIns="0" rIns="0" bIns="0">
            <a:noAutofit/>
          </a:bodyPr>
          <a:lstStyle/>
          <a:p>
            <a:pPr marL="0" indent="0" algn="r">
              <a:buNone/>
            </a:pPr>
            <a:r>
              <a:rPr lang="en-US" sz="1100" b="1" dirty="0">
                <a:solidFill>
                  <a:srgbClr val="1B4F72"/>
                </a:solidFill>
                <a:latin typeface="Calibri"/>
                <a:cs typeface="Calibri"/>
              </a:rPr>
              <a:t>6</a:t>
            </a:r>
          </a:p>
        </p:txBody>
      </p:sp>
    </p:spTree>
  </p:cSld>
  <p:clrMapOvr>
    <a:overrideClrMapping bg1="lt1" tx1="dk1" bg2="lt2" tx2="dk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2"/>
          <p:cNvSpPr txBox="1"/>
          <p:nvPr/>
        </p:nvSpPr>
        <p:spPr>
          <a:xfrm>
            <a:off x="533400" y="285750"/>
            <a:ext cx="11125200" cy="381000"/>
          </a:xfrm>
          <a:prstGeom prst="rect">
            <a:avLst/>
          </a:prstGeom>
          <a:noFill/>
        </p:spPr>
        <p:txBody>
          <a:bodyPr wrap="square" anchor="t" lIns="0" tIns="0" rIns="0" bIns="0">
            <a:noAutofit/>
          </a:bodyPr>
          <a:lstStyle/>
          <a:p>
            <a:pPr marL="0" indent="0" algn="l">
              <a:buNone/>
            </a:pPr>
            <a:r>
              <a:rPr lang="en-US" sz="2500" b="1" dirty="0">
                <a:solidFill>
                  <a:srgbClr val="1B4F72"/>
                </a:solidFill>
                <a:latin typeface="Calibri"/>
                <a:cs typeface="Calibri"/>
              </a:rPr>
              <a:t>System Design — NephroAlert Web Application</a:t>
            </a:r>
          </a:p>
        </p:txBody>
      </p:sp>
      <p:sp>
        <p:nvSpPr>
          <p:cNvPr id="3" name="Rect 3"/>
          <p:cNvSpPr/>
          <p:nvPr/>
        </p:nvSpPr>
        <p:spPr>
          <a:xfrm>
            <a:off x="533400" y="666750"/>
            <a:ext cx="609600" cy="47625"/>
          </a:xfrm>
          <a:prstGeom prst="roundRect">
            <a:avLst/>
          </a:prstGeom>
          <a:solidFill>
            <a:srgbClr val="00A878"/>
          </a:solidFill>
          <a:ln>
            <a:noFill/>
          </a:ln>
        </p:spPr>
        <p:txBody>
          <a:bodyPr/>
          <a:lstStyle/>
          <a:p/>
        </p:txBody>
      </p:sp>
      <p:sp>
        <p:nvSpPr>
          <p:cNvPr id="4" name="Rect 4"/>
          <p:cNvSpPr/>
          <p:nvPr/>
        </p:nvSpPr>
        <p:spPr>
          <a:xfrm>
            <a:off x="533400" y="876300"/>
            <a:ext cx="6667500" cy="1028700"/>
          </a:xfrm>
          <a:prstGeom prst="roundRect">
            <a:avLst/>
          </a:prstGeom>
          <a:solidFill>
            <a:srgbClr val="1B4F72"/>
          </a:solidFill>
          <a:ln>
            <a:noFill/>
          </a:ln>
        </p:spPr>
        <p:txBody>
          <a:bodyPr/>
          <a:lstStyle/>
          <a:p/>
        </p:txBody>
      </p:sp>
      <p:sp>
        <p:nvSpPr>
          <p:cNvPr id="5" name="TextBox 5"/>
          <p:cNvSpPr txBox="1"/>
          <p:nvPr/>
        </p:nvSpPr>
        <p:spPr>
          <a:xfrm>
            <a:off x="685800" y="952500"/>
            <a:ext cx="6362700" cy="152400"/>
          </a:xfrm>
          <a:prstGeom prst="rect">
            <a:avLst/>
          </a:prstGeom>
          <a:noFill/>
        </p:spPr>
        <p:txBody>
          <a:bodyPr wrap="square" anchor="t" lIns="0" tIns="0" rIns="0" bIns="0">
            <a:noAutofit/>
          </a:bodyPr>
          <a:lstStyle/>
          <a:p>
            <a:pPr marL="0" indent="0" algn="l">
              <a:buNone/>
            </a:pPr>
            <a:r>
              <a:rPr lang="en-US" sz="1000" b="1" dirty="0">
                <a:solidFill>
                  <a:srgbClr val="FFFFFF"/>
                </a:solidFill>
                <a:latin typeface="Calibri"/>
                <a:cs typeface="Calibri"/>
              </a:rPr>
              <a:t>TIER 1 · PRESENTATION LAYER</a:t>
            </a:r>
          </a:p>
        </p:txBody>
      </p:sp>
      <p:sp>
        <p:nvSpPr>
          <p:cNvPr id="6" name="TextBox 6"/>
          <p:cNvSpPr txBox="1"/>
          <p:nvPr/>
        </p:nvSpPr>
        <p:spPr>
          <a:xfrm>
            <a:off x="685800" y="1123950"/>
            <a:ext cx="6362700" cy="152400"/>
          </a:xfrm>
          <a:prstGeom prst="rect">
            <a:avLst/>
          </a:prstGeom>
          <a:noFill/>
        </p:spPr>
        <p:txBody>
          <a:bodyPr wrap="square" anchor="t" lIns="0" tIns="0" rIns="0" bIns="0">
            <a:noAutofit/>
          </a:bodyPr>
          <a:lstStyle/>
          <a:p>
            <a:pPr marL="0" indent="0" algn="l">
              <a:buNone/>
            </a:pPr>
            <a:r>
              <a:rPr lang="en-US" sz="1100" b="1" dirty="0">
                <a:solidFill>
                  <a:srgbClr val="00A878"/>
                </a:solidFill>
                <a:latin typeface="Calibri"/>
                <a:cs typeface="Calibri"/>
              </a:rPr>
              <a:t>React.js + Vite Frontend</a:t>
            </a:r>
          </a:p>
        </p:txBody>
      </p:sp>
      <p:sp>
        <p:nvSpPr>
          <p:cNvPr id="7" name="TextBox 7"/>
          <p:cNvSpPr txBox="1"/>
          <p:nvPr/>
        </p:nvSpPr>
        <p:spPr>
          <a:xfrm>
            <a:off x="685800" y="1314450"/>
            <a:ext cx="6362700" cy="514350"/>
          </a:xfrm>
          <a:prstGeom prst="rect">
            <a:avLst/>
          </a:prstGeom>
          <a:noFill/>
        </p:spPr>
        <p:txBody>
          <a:bodyPr wrap="square" anchor="t" lIns="0" tIns="0" rIns="0" bIns="0">
            <a:noAutofit/>
          </a:bodyPr>
          <a:lstStyle/>
          <a:p>
            <a:pPr marL="0" indent="0" algn="l">
              <a:lnSpc>
                <a:spcPct val="135000"/>
              </a:lnSpc>
              <a:buNone/>
            </a:pPr>
            <a:r>
              <a:rPr lang="en-US" sz="969" dirty="0">
                <a:solidFill>
                  <a:srgbClr val="DCE7EF"/>
                </a:solidFill>
                <a:latin typeface="Calibri"/>
                <a:cs typeface="Calibri"/>
              </a:rPr>
              <a:t>Patient Dashboard · Visit Entry Form (eGFR auto-calc) · Biomarker Trend Charts (6 charts) · Risk Gauge (animated SVG) · Alert System · PDF Report Generator · Tamil Language Support</a:t>
            </a:r>
          </a:p>
        </p:txBody>
      </p:sp>
      <p:sp>
        <p:nvSpPr>
          <p:cNvPr id="8" name="TextBox 8"/>
          <p:cNvSpPr txBox="1"/>
          <p:nvPr/>
        </p:nvSpPr>
        <p:spPr>
          <a:xfrm>
            <a:off x="533400" y="1962150"/>
            <a:ext cx="6667500" cy="152400"/>
          </a:xfrm>
          <a:prstGeom prst="rect">
            <a:avLst/>
          </a:prstGeom>
          <a:noFill/>
        </p:spPr>
        <p:txBody>
          <a:bodyPr wrap="square" anchor="t" lIns="0" tIns="0" rIns="0" bIns="0">
            <a:noAutofit/>
          </a:bodyPr>
          <a:lstStyle/>
          <a:p>
            <a:pPr marL="0" indent="0" algn="ctr">
              <a:buNone/>
            </a:pPr>
            <a:r>
              <a:rPr lang="en-US" sz="950" b="1" dirty="0">
                <a:solidFill>
                  <a:srgbClr val="1B4F72"/>
                </a:solidFill>
                <a:latin typeface="Calibri"/>
                <a:cs typeface="Calibri"/>
              </a:rPr>
              <a:t>↕  REST API (HTTPS) · Spring Boot 3.2 + JWT Auth</a:t>
            </a:r>
          </a:p>
        </p:txBody>
      </p:sp>
      <p:sp>
        <p:nvSpPr>
          <p:cNvPr id="9" name="Rect 9"/>
          <p:cNvSpPr/>
          <p:nvPr/>
        </p:nvSpPr>
        <p:spPr>
          <a:xfrm>
            <a:off x="533400" y="2171700"/>
            <a:ext cx="6667500" cy="1028700"/>
          </a:xfrm>
          <a:prstGeom prst="roundRect">
            <a:avLst/>
          </a:prstGeom>
          <a:solidFill>
            <a:srgbClr val="5D8AA8"/>
          </a:solidFill>
          <a:ln>
            <a:noFill/>
          </a:ln>
        </p:spPr>
        <p:txBody>
          <a:bodyPr/>
          <a:lstStyle/>
          <a:p/>
        </p:txBody>
      </p:sp>
      <p:sp>
        <p:nvSpPr>
          <p:cNvPr id="10" name="TextBox 10"/>
          <p:cNvSpPr txBox="1"/>
          <p:nvPr/>
        </p:nvSpPr>
        <p:spPr>
          <a:xfrm>
            <a:off x="685800" y="2247900"/>
            <a:ext cx="6362700" cy="152400"/>
          </a:xfrm>
          <a:prstGeom prst="rect">
            <a:avLst/>
          </a:prstGeom>
          <a:noFill/>
        </p:spPr>
        <p:txBody>
          <a:bodyPr wrap="square" anchor="t" lIns="0" tIns="0" rIns="0" bIns="0">
            <a:noAutofit/>
          </a:bodyPr>
          <a:lstStyle/>
          <a:p>
            <a:pPr marL="0" indent="0" algn="l">
              <a:buNone/>
            </a:pPr>
            <a:r>
              <a:rPr lang="en-US" sz="1000" b="1" dirty="0">
                <a:solidFill>
                  <a:srgbClr val="FFFFFF"/>
                </a:solidFill>
                <a:latin typeface="Calibri"/>
                <a:cs typeface="Calibri"/>
              </a:rPr>
              <a:t>TIER 2 · BUSINESS LOGIC</a:t>
            </a:r>
          </a:p>
        </p:txBody>
      </p:sp>
      <p:sp>
        <p:nvSpPr>
          <p:cNvPr id="11" name="TextBox 11"/>
          <p:cNvSpPr txBox="1"/>
          <p:nvPr/>
        </p:nvSpPr>
        <p:spPr>
          <a:xfrm>
            <a:off x="685800" y="2419350"/>
            <a:ext cx="6362700" cy="152400"/>
          </a:xfrm>
          <a:prstGeom prst="rect">
            <a:avLst/>
          </a:prstGeom>
          <a:noFill/>
        </p:spPr>
        <p:txBody>
          <a:bodyPr wrap="square" anchor="t" lIns="0" tIns="0" rIns="0" bIns="0">
            <a:noAutofit/>
          </a:bodyPr>
          <a:lstStyle/>
          <a:p>
            <a:pPr marL="0" indent="0" algn="l">
              <a:buNone/>
            </a:pPr>
            <a:r>
              <a:rPr lang="en-US" sz="1100" b="1" dirty="0">
                <a:solidFill>
                  <a:srgbClr val="FFFFFF"/>
                </a:solidFill>
                <a:latin typeface="Calibri"/>
                <a:cs typeface="Calibri"/>
              </a:rPr>
              <a:t>Spring Boot 3.2 Backend (Java 17)</a:t>
            </a:r>
          </a:p>
        </p:txBody>
      </p:sp>
      <p:sp>
        <p:nvSpPr>
          <p:cNvPr id="12" name="TextBox 12"/>
          <p:cNvSpPr txBox="1"/>
          <p:nvPr/>
        </p:nvSpPr>
        <p:spPr>
          <a:xfrm>
            <a:off x="685800" y="2609850"/>
            <a:ext cx="6362700" cy="514350"/>
          </a:xfrm>
          <a:prstGeom prst="rect">
            <a:avLst/>
          </a:prstGeom>
          <a:noFill/>
        </p:spPr>
        <p:txBody>
          <a:bodyPr wrap="square" anchor="t" lIns="0" tIns="0" rIns="0" bIns="0">
            <a:noAutofit/>
          </a:bodyPr>
          <a:lstStyle/>
          <a:p>
            <a:pPr marL="0" indent="0" algn="l">
              <a:lnSpc>
                <a:spcPct val="135000"/>
              </a:lnSpc>
              <a:buNone/>
            </a:pPr>
            <a:r>
              <a:rPr lang="en-US" sz="969" dirty="0">
                <a:solidFill>
                  <a:srgbClr val="FFFFFF"/>
                </a:solidFill>
                <a:latin typeface="Calibri"/>
                <a:cs typeface="Calibri"/>
              </a:rPr>
              <a:t>CKD-EPI Calculator Service · Risk Engine Service · Linear Regression Service · CKD Stage Classifier · Report Generator Service · Translation Service (Tamil) · Alert Notification Service</a:t>
            </a:r>
          </a:p>
        </p:txBody>
      </p:sp>
      <p:sp>
        <p:nvSpPr>
          <p:cNvPr id="13" name="TextBox 13"/>
          <p:cNvSpPr txBox="1"/>
          <p:nvPr/>
        </p:nvSpPr>
        <p:spPr>
          <a:xfrm>
            <a:off x="533400" y="3257550"/>
            <a:ext cx="6667500" cy="152400"/>
          </a:xfrm>
          <a:prstGeom prst="rect">
            <a:avLst/>
          </a:prstGeom>
          <a:noFill/>
        </p:spPr>
        <p:txBody>
          <a:bodyPr wrap="square" anchor="t" lIns="0" tIns="0" rIns="0" bIns="0">
            <a:noAutofit/>
          </a:bodyPr>
          <a:lstStyle/>
          <a:p>
            <a:pPr marL="0" indent="0" algn="ctr">
              <a:buNone/>
            </a:pPr>
            <a:r>
              <a:rPr lang="en-US" sz="950" b="1" dirty="0">
                <a:solidFill>
                  <a:srgbClr val="1B4F72"/>
                </a:solidFill>
                <a:latin typeface="Calibri"/>
                <a:cs typeface="Calibri"/>
              </a:rPr>
              <a:t>↕  JPA / Hibernate</a:t>
            </a:r>
          </a:p>
        </p:txBody>
      </p:sp>
      <p:sp>
        <p:nvSpPr>
          <p:cNvPr id="14" name="Rect 14"/>
          <p:cNvSpPr/>
          <p:nvPr/>
        </p:nvSpPr>
        <p:spPr>
          <a:xfrm>
            <a:off x="533400" y="3467100"/>
            <a:ext cx="6667500" cy="857250"/>
          </a:xfrm>
          <a:prstGeom prst="roundRect">
            <a:avLst/>
          </a:prstGeom>
          <a:solidFill>
            <a:srgbClr val="34495E"/>
          </a:solidFill>
          <a:ln>
            <a:noFill/>
          </a:ln>
        </p:spPr>
        <p:txBody>
          <a:bodyPr/>
          <a:lstStyle/>
          <a:p/>
        </p:txBody>
      </p:sp>
      <p:sp>
        <p:nvSpPr>
          <p:cNvPr id="15" name="TextBox 15"/>
          <p:cNvSpPr txBox="1"/>
          <p:nvPr/>
        </p:nvSpPr>
        <p:spPr>
          <a:xfrm>
            <a:off x="685800" y="3543300"/>
            <a:ext cx="6362700" cy="152400"/>
          </a:xfrm>
          <a:prstGeom prst="rect">
            <a:avLst/>
          </a:prstGeom>
          <a:noFill/>
        </p:spPr>
        <p:txBody>
          <a:bodyPr wrap="square" anchor="t" lIns="0" tIns="0" rIns="0" bIns="0">
            <a:noAutofit/>
          </a:bodyPr>
          <a:lstStyle/>
          <a:p>
            <a:pPr marL="0" indent="0" algn="l">
              <a:buNone/>
            </a:pPr>
            <a:r>
              <a:rPr lang="en-US" sz="1000" b="1" dirty="0">
                <a:solidFill>
                  <a:srgbClr val="FFFFFF"/>
                </a:solidFill>
                <a:latin typeface="Calibri"/>
                <a:cs typeface="Calibri"/>
              </a:rPr>
              <a:t>TIER 3 · DATA LAYER</a:t>
            </a:r>
          </a:p>
        </p:txBody>
      </p:sp>
      <p:sp>
        <p:nvSpPr>
          <p:cNvPr id="16" name="TextBox 16"/>
          <p:cNvSpPr txBox="1"/>
          <p:nvPr/>
        </p:nvSpPr>
        <p:spPr>
          <a:xfrm>
            <a:off x="685800" y="3714750"/>
            <a:ext cx="6362700" cy="152400"/>
          </a:xfrm>
          <a:prstGeom prst="rect">
            <a:avLst/>
          </a:prstGeom>
          <a:noFill/>
        </p:spPr>
        <p:txBody>
          <a:bodyPr wrap="square" anchor="t" lIns="0" tIns="0" rIns="0" bIns="0">
            <a:noAutofit/>
          </a:bodyPr>
          <a:lstStyle/>
          <a:p>
            <a:pPr marL="0" indent="0" algn="l">
              <a:buNone/>
            </a:pPr>
            <a:r>
              <a:rPr lang="en-US" sz="1100" b="1" dirty="0">
                <a:solidFill>
                  <a:srgbClr val="FFFFFF"/>
                </a:solidFill>
                <a:latin typeface="Calibri"/>
                <a:cs typeface="Calibri"/>
              </a:rPr>
              <a:t>MySQL Database</a:t>
            </a:r>
          </a:p>
        </p:txBody>
      </p:sp>
      <p:sp>
        <p:nvSpPr>
          <p:cNvPr id="17" name="Rect 17"/>
          <p:cNvSpPr/>
          <p:nvPr/>
        </p:nvSpPr>
        <p:spPr>
          <a:xfrm>
            <a:off x="685800" y="3943350"/>
            <a:ext cx="590550" cy="228600"/>
          </a:xfrm>
          <a:prstGeom prst="roundRect">
            <a:avLst/>
          </a:prstGeom>
          <a:solidFill>
            <a:srgbClr val="46607A"/>
          </a:solidFill>
          <a:ln>
            <a:noFill/>
          </a:ln>
        </p:spPr>
        <p:txBody>
          <a:bodyPr wrap="square" anchor="ctr" lIns="45720" tIns="27432" rIns="45720" bIns="27432">
            <a:normAutofit/>
          </a:bodyPr>
          <a:lstStyle/>
          <a:p>
            <a:pPr marL="0" indent="0" algn="ctr">
              <a:buNone/>
            </a:pPr>
            <a:r>
              <a:rPr lang="en-US" sz="900" dirty="0">
                <a:solidFill>
                  <a:srgbClr val="FFFFFF"/>
                </a:solidFill>
                <a:latin typeface="Calibri"/>
                <a:cs typeface="Calibri"/>
              </a:rPr>
              <a:t>doctors</a:t>
            </a:r>
          </a:p>
        </p:txBody>
      </p:sp>
      <p:sp>
        <p:nvSpPr>
          <p:cNvPr id="18" name="Rect 18"/>
          <p:cNvSpPr/>
          <p:nvPr/>
        </p:nvSpPr>
        <p:spPr>
          <a:xfrm>
            <a:off x="1333500" y="3943350"/>
            <a:ext cx="590550" cy="228600"/>
          </a:xfrm>
          <a:prstGeom prst="roundRect">
            <a:avLst/>
          </a:prstGeom>
          <a:solidFill>
            <a:srgbClr val="46607A"/>
          </a:solidFill>
          <a:ln>
            <a:noFill/>
          </a:ln>
        </p:spPr>
        <p:txBody>
          <a:bodyPr wrap="square" anchor="ctr" lIns="45720" tIns="27432" rIns="45720" bIns="27432">
            <a:normAutofit/>
          </a:bodyPr>
          <a:lstStyle/>
          <a:p>
            <a:pPr marL="0" indent="0" algn="ctr">
              <a:buNone/>
            </a:pPr>
            <a:r>
              <a:rPr lang="en-US" sz="900" dirty="0">
                <a:solidFill>
                  <a:srgbClr val="FFFFFF"/>
                </a:solidFill>
                <a:latin typeface="Calibri"/>
                <a:cs typeface="Calibri"/>
              </a:rPr>
              <a:t>patients</a:t>
            </a:r>
          </a:p>
        </p:txBody>
      </p:sp>
      <p:sp>
        <p:nvSpPr>
          <p:cNvPr id="19" name="Rect 19"/>
          <p:cNvSpPr/>
          <p:nvPr/>
        </p:nvSpPr>
        <p:spPr>
          <a:xfrm>
            <a:off x="1981200" y="3943350"/>
            <a:ext cx="590550" cy="228600"/>
          </a:xfrm>
          <a:prstGeom prst="roundRect">
            <a:avLst/>
          </a:prstGeom>
          <a:solidFill>
            <a:srgbClr val="46607A"/>
          </a:solidFill>
          <a:ln>
            <a:noFill/>
          </a:ln>
        </p:spPr>
        <p:txBody>
          <a:bodyPr wrap="square" anchor="ctr" lIns="45720" tIns="27432" rIns="45720" bIns="27432">
            <a:normAutofit/>
          </a:bodyPr>
          <a:lstStyle/>
          <a:p>
            <a:pPr marL="0" indent="0" algn="ctr">
              <a:buNone/>
            </a:pPr>
            <a:r>
              <a:rPr lang="en-US" sz="900" dirty="0">
                <a:solidFill>
                  <a:srgbClr val="FFFFFF"/>
                </a:solidFill>
                <a:latin typeface="Calibri"/>
                <a:cs typeface="Calibri"/>
              </a:rPr>
              <a:t>visits</a:t>
            </a:r>
          </a:p>
        </p:txBody>
      </p:sp>
      <p:sp>
        <p:nvSpPr>
          <p:cNvPr id="20" name="Rect 20"/>
          <p:cNvSpPr/>
          <p:nvPr/>
        </p:nvSpPr>
        <p:spPr>
          <a:xfrm>
            <a:off x="2628900" y="3943350"/>
            <a:ext cx="590550" cy="228600"/>
          </a:xfrm>
          <a:prstGeom prst="roundRect">
            <a:avLst/>
          </a:prstGeom>
          <a:solidFill>
            <a:srgbClr val="46607A"/>
          </a:solidFill>
          <a:ln>
            <a:noFill/>
          </a:ln>
        </p:spPr>
        <p:txBody>
          <a:bodyPr wrap="square" anchor="ctr" lIns="45720" tIns="27432" rIns="45720" bIns="27432">
            <a:normAutofit/>
          </a:bodyPr>
          <a:lstStyle/>
          <a:p>
            <a:pPr marL="0" indent="0" algn="ctr">
              <a:buNone/>
            </a:pPr>
            <a:r>
              <a:rPr lang="en-US" sz="900" dirty="0">
                <a:solidFill>
                  <a:srgbClr val="FFFFFF"/>
                </a:solidFill>
                <a:latin typeface="Calibri"/>
                <a:cs typeface="Calibri"/>
              </a:rPr>
              <a:t>alerts</a:t>
            </a:r>
          </a:p>
        </p:txBody>
      </p:sp>
      <p:sp>
        <p:nvSpPr>
          <p:cNvPr id="21" name="Rect 21"/>
          <p:cNvSpPr/>
          <p:nvPr/>
        </p:nvSpPr>
        <p:spPr>
          <a:xfrm>
            <a:off x="3276600" y="3943350"/>
            <a:ext cx="590550" cy="228600"/>
          </a:xfrm>
          <a:prstGeom prst="roundRect">
            <a:avLst/>
          </a:prstGeom>
          <a:solidFill>
            <a:srgbClr val="46607A"/>
          </a:solidFill>
          <a:ln>
            <a:noFill/>
          </a:ln>
        </p:spPr>
        <p:txBody>
          <a:bodyPr wrap="square" anchor="ctr" lIns="45720" tIns="27432" rIns="45720" bIns="27432">
            <a:normAutofit/>
          </a:bodyPr>
          <a:lstStyle/>
          <a:p>
            <a:pPr marL="0" indent="0" algn="ctr">
              <a:buNone/>
            </a:pPr>
            <a:r>
              <a:rPr lang="en-US" sz="900" dirty="0">
                <a:solidFill>
                  <a:srgbClr val="FFFFFF"/>
                </a:solidFill>
                <a:latin typeface="Calibri"/>
                <a:cs typeface="Calibri"/>
              </a:rPr>
              <a:t>reports</a:t>
            </a:r>
          </a:p>
        </p:txBody>
      </p:sp>
      <p:sp>
        <p:nvSpPr>
          <p:cNvPr id="22" name="Rect 22"/>
          <p:cNvSpPr/>
          <p:nvPr/>
        </p:nvSpPr>
        <p:spPr>
          <a:xfrm>
            <a:off x="533400" y="4419600"/>
            <a:ext cx="6667500" cy="628650"/>
          </a:xfrm>
          <a:prstGeom prst="roundRect">
            <a:avLst/>
          </a:prstGeom>
          <a:solidFill>
            <a:srgbClr val="F4F6F7"/>
          </a:solidFill>
          <a:ln w="12700">
            <a:solidFill>
              <a:srgbClr val="E3E7E9"/>
            </a:solidFill>
          </a:ln>
        </p:spPr>
        <p:txBody>
          <a:bodyPr/>
          <a:lstStyle/>
          <a:p/>
        </p:txBody>
      </p:sp>
      <p:sp>
        <p:nvSpPr>
          <p:cNvPr id="23" name="Rect 23"/>
          <p:cNvSpPr/>
          <p:nvPr/>
        </p:nvSpPr>
        <p:spPr>
          <a:xfrm>
            <a:off x="533400" y="4419600"/>
            <a:ext cx="6667500" cy="38100"/>
          </a:xfrm>
          <a:prstGeom prst="rect">
            <a:avLst/>
          </a:prstGeom>
          <a:solidFill>
            <a:srgbClr val="00A878"/>
          </a:solidFill>
          <a:ln>
            <a:noFill/>
          </a:ln>
        </p:spPr>
        <p:txBody>
          <a:bodyPr/>
          <a:lstStyle/>
          <a:p/>
        </p:txBody>
      </p:sp>
      <p:sp>
        <p:nvSpPr>
          <p:cNvPr id="24" name="TextBox 24"/>
          <p:cNvSpPr txBox="1"/>
          <p:nvPr/>
        </p:nvSpPr>
        <p:spPr>
          <a:xfrm>
            <a:off x="666750" y="4495800"/>
            <a:ext cx="6400800" cy="514350"/>
          </a:xfrm>
          <a:prstGeom prst="rect">
            <a:avLst/>
          </a:prstGeom>
          <a:noFill/>
        </p:spPr>
        <p:txBody>
          <a:bodyPr wrap="square" anchor="t" lIns="0" tIns="0" rIns="0" bIns="0">
            <a:noAutofit/>
          </a:bodyPr>
          <a:lstStyle/>
          <a:p>
            <a:pPr marL="0" indent="0" algn="l">
              <a:lnSpc>
                <a:spcPct val="125000"/>
              </a:lnSpc>
              <a:buNone/>
            </a:pPr>
            <a:r>
              <a:rPr lang="en-US" sz="950" dirty="0">
                <a:solidFill>
                  <a:srgbClr val="2C3E50"/>
                </a:solidFill>
                <a:latin typeface="Calibri"/>
                <a:cs typeface="Calibri"/>
              </a:rPr>
              <a:t>Security: All patient data stored with de-identification compliance. JWT authentication + HTTPS encryption. No patient identifiers in the ML training pipeline.</a:t>
            </a:r>
          </a:p>
        </p:txBody>
      </p:sp>
      <p:sp>
        <p:nvSpPr>
          <p:cNvPr id="25" name="TextBox 25"/>
          <p:cNvSpPr txBox="1"/>
          <p:nvPr/>
        </p:nvSpPr>
        <p:spPr>
          <a:xfrm>
            <a:off x="7429500" y="876300"/>
            <a:ext cx="4229100" cy="171450"/>
          </a:xfrm>
          <a:prstGeom prst="rect">
            <a:avLst/>
          </a:prstGeom>
          <a:noFill/>
        </p:spPr>
        <p:txBody>
          <a:bodyPr wrap="square" anchor="t" lIns="0" tIns="0" rIns="0" bIns="0">
            <a:noAutofit/>
          </a:bodyPr>
          <a:lstStyle/>
          <a:p>
            <a:pPr marL="0" indent="0" algn="l">
              <a:buNone/>
            </a:pPr>
            <a:r>
              <a:rPr lang="en-US" sz="1150" b="1" dirty="0">
                <a:solidFill>
                  <a:srgbClr val="1B4F72"/>
                </a:solidFill>
                <a:latin typeface="Calibri"/>
                <a:cs typeface="Calibri"/>
              </a:rPr>
              <a:t>FREE EXTERNAL APIs</a:t>
            </a:r>
          </a:p>
        </p:txBody>
      </p:sp>
      <p:sp>
        <p:nvSpPr>
          <p:cNvPr id="26" name="Rect 26"/>
          <p:cNvSpPr/>
          <p:nvPr/>
        </p:nvSpPr>
        <p:spPr>
          <a:xfrm>
            <a:off x="7429500" y="1085850"/>
            <a:ext cx="4229100" cy="533400"/>
          </a:xfrm>
          <a:prstGeom prst="roundRect">
            <a:avLst/>
          </a:prstGeom>
          <a:solidFill>
            <a:srgbClr val="F4F6F7"/>
          </a:solidFill>
          <a:ln w="12700">
            <a:solidFill>
              <a:srgbClr val="E3E7E9"/>
            </a:solidFill>
          </a:ln>
        </p:spPr>
        <p:txBody>
          <a:bodyPr/>
          <a:lstStyle/>
          <a:p/>
        </p:txBody>
      </p:sp>
      <p:sp>
        <p:nvSpPr>
          <p:cNvPr id="27" name="Rect 27"/>
          <p:cNvSpPr/>
          <p:nvPr/>
        </p:nvSpPr>
        <p:spPr>
          <a:xfrm>
            <a:off x="7429500" y="1085850"/>
            <a:ext cx="4229100" cy="38100"/>
          </a:xfrm>
          <a:prstGeom prst="rect">
            <a:avLst/>
          </a:prstGeom>
          <a:solidFill>
            <a:srgbClr val="1B4F72"/>
          </a:solidFill>
          <a:ln>
            <a:noFill/>
          </a:ln>
        </p:spPr>
        <p:txBody>
          <a:bodyPr/>
          <a:lstStyle/>
          <a:p/>
        </p:txBody>
      </p:sp>
      <p:sp>
        <p:nvSpPr>
          <p:cNvPr id="28" name="TextBox 28"/>
          <p:cNvSpPr txBox="1"/>
          <p:nvPr/>
        </p:nvSpPr>
        <p:spPr>
          <a:xfrm>
            <a:off x="7543800" y="1162050"/>
            <a:ext cx="4000500" cy="171450"/>
          </a:xfrm>
          <a:prstGeom prst="rect">
            <a:avLst/>
          </a:prstGeom>
          <a:noFill/>
        </p:spPr>
        <p:txBody>
          <a:bodyPr wrap="square" anchor="t" lIns="0" tIns="0" rIns="0" bIns="0">
            <a:noAutofit/>
          </a:bodyPr>
          <a:lstStyle/>
          <a:p>
            <a:pPr marL="0" indent="0" algn="l">
              <a:buNone/>
            </a:pPr>
            <a:r>
              <a:rPr lang="en-US" sz="1030" b="1" dirty="0">
                <a:solidFill>
                  <a:srgbClr val="2C3E50"/>
                </a:solidFill>
                <a:latin typeface="Calibri"/>
                <a:cs typeface="Calibri"/>
              </a:rPr>
              <a:t>Nominatim (OpenStreetMap)</a:t>
            </a:r>
          </a:p>
        </p:txBody>
      </p:sp>
      <p:sp>
        <p:nvSpPr>
          <p:cNvPr id="29" name="TextBox 29"/>
          <p:cNvSpPr txBox="1"/>
          <p:nvPr/>
        </p:nvSpPr>
        <p:spPr>
          <a:xfrm>
            <a:off x="7543800" y="1352550"/>
            <a:ext cx="4000500" cy="171450"/>
          </a:xfrm>
          <a:prstGeom prst="rect">
            <a:avLst/>
          </a:prstGeom>
          <a:noFill/>
        </p:spPr>
        <p:txBody>
          <a:bodyPr wrap="square" anchor="t" lIns="0" tIns="0" rIns="0" bIns="0">
            <a:noAutofit/>
          </a:bodyPr>
          <a:lstStyle/>
          <a:p>
            <a:pPr marL="0" indent="0" algn="l">
              <a:buNone/>
            </a:pPr>
            <a:r>
              <a:rPr lang="en-US" sz="930" dirty="0">
                <a:solidFill>
                  <a:srgbClr val="5B6B77"/>
                </a:solidFill>
                <a:latin typeface="Calibri"/>
                <a:cs typeface="Calibri"/>
              </a:rPr>
              <a:t>Nearest PHC locator</a:t>
            </a:r>
          </a:p>
        </p:txBody>
      </p:sp>
      <p:sp>
        <p:nvSpPr>
          <p:cNvPr id="30" name="Rect 30"/>
          <p:cNvSpPr/>
          <p:nvPr/>
        </p:nvSpPr>
        <p:spPr>
          <a:xfrm>
            <a:off x="7429500" y="1695450"/>
            <a:ext cx="4229100" cy="533400"/>
          </a:xfrm>
          <a:prstGeom prst="roundRect">
            <a:avLst/>
          </a:prstGeom>
          <a:solidFill>
            <a:srgbClr val="F4F6F7"/>
          </a:solidFill>
          <a:ln w="12700">
            <a:solidFill>
              <a:srgbClr val="E3E7E9"/>
            </a:solidFill>
          </a:ln>
        </p:spPr>
        <p:txBody>
          <a:bodyPr/>
          <a:lstStyle/>
          <a:p/>
        </p:txBody>
      </p:sp>
      <p:sp>
        <p:nvSpPr>
          <p:cNvPr id="31" name="Rect 31"/>
          <p:cNvSpPr/>
          <p:nvPr/>
        </p:nvSpPr>
        <p:spPr>
          <a:xfrm>
            <a:off x="7429500" y="1695450"/>
            <a:ext cx="4229100" cy="38100"/>
          </a:xfrm>
          <a:prstGeom prst="rect">
            <a:avLst/>
          </a:prstGeom>
          <a:solidFill>
            <a:srgbClr val="00A878"/>
          </a:solidFill>
          <a:ln>
            <a:noFill/>
          </a:ln>
        </p:spPr>
        <p:txBody>
          <a:bodyPr/>
          <a:lstStyle/>
          <a:p/>
        </p:txBody>
      </p:sp>
      <p:sp>
        <p:nvSpPr>
          <p:cNvPr id="32" name="TextBox 32"/>
          <p:cNvSpPr txBox="1"/>
          <p:nvPr/>
        </p:nvSpPr>
        <p:spPr>
          <a:xfrm>
            <a:off x="7543800" y="1771650"/>
            <a:ext cx="4000500" cy="171450"/>
          </a:xfrm>
          <a:prstGeom prst="rect">
            <a:avLst/>
          </a:prstGeom>
          <a:noFill/>
        </p:spPr>
        <p:txBody>
          <a:bodyPr wrap="square" anchor="t" lIns="0" tIns="0" rIns="0" bIns="0">
            <a:noAutofit/>
          </a:bodyPr>
          <a:lstStyle/>
          <a:p>
            <a:pPr marL="0" indent="0" algn="l">
              <a:buNone/>
            </a:pPr>
            <a:r>
              <a:rPr lang="en-US" sz="1030" b="1" dirty="0">
                <a:solidFill>
                  <a:srgbClr val="2C3E50"/>
                </a:solidFill>
                <a:latin typeface="Calibri"/>
                <a:cs typeface="Calibri"/>
              </a:rPr>
              <a:t>Google Translate (free endpoint)</a:t>
            </a:r>
          </a:p>
        </p:txBody>
      </p:sp>
      <p:sp>
        <p:nvSpPr>
          <p:cNvPr id="33" name="TextBox 33"/>
          <p:cNvSpPr txBox="1"/>
          <p:nvPr/>
        </p:nvSpPr>
        <p:spPr>
          <a:xfrm>
            <a:off x="7543800" y="1962150"/>
            <a:ext cx="4000500" cy="171450"/>
          </a:xfrm>
          <a:prstGeom prst="rect">
            <a:avLst/>
          </a:prstGeom>
          <a:noFill/>
        </p:spPr>
        <p:txBody>
          <a:bodyPr wrap="square" anchor="t" lIns="0" tIns="0" rIns="0" bIns="0">
            <a:noAutofit/>
          </a:bodyPr>
          <a:lstStyle/>
          <a:p>
            <a:pPr marL="0" indent="0" algn="l">
              <a:buNone/>
            </a:pPr>
            <a:r>
              <a:rPr lang="en-US" sz="930" dirty="0">
                <a:solidFill>
                  <a:srgbClr val="5B6B77"/>
                </a:solidFill>
                <a:latin typeface="Calibri"/>
                <a:cs typeface="Calibri"/>
              </a:rPr>
              <a:t>Tamil language output</a:t>
            </a:r>
          </a:p>
        </p:txBody>
      </p:sp>
      <p:sp>
        <p:nvSpPr>
          <p:cNvPr id="34" name="Rect 34"/>
          <p:cNvSpPr/>
          <p:nvPr/>
        </p:nvSpPr>
        <p:spPr>
          <a:xfrm>
            <a:off x="7429500" y="2305050"/>
            <a:ext cx="4229100" cy="533400"/>
          </a:xfrm>
          <a:prstGeom prst="roundRect">
            <a:avLst/>
          </a:prstGeom>
          <a:solidFill>
            <a:srgbClr val="F4F6F7"/>
          </a:solidFill>
          <a:ln w="12700">
            <a:solidFill>
              <a:srgbClr val="E3E7E9"/>
            </a:solidFill>
          </a:ln>
        </p:spPr>
        <p:txBody>
          <a:bodyPr/>
          <a:lstStyle/>
          <a:p/>
        </p:txBody>
      </p:sp>
      <p:sp>
        <p:nvSpPr>
          <p:cNvPr id="35" name="Rect 35"/>
          <p:cNvSpPr/>
          <p:nvPr/>
        </p:nvSpPr>
        <p:spPr>
          <a:xfrm>
            <a:off x="7429500" y="2305050"/>
            <a:ext cx="4229100" cy="38100"/>
          </a:xfrm>
          <a:prstGeom prst="rect">
            <a:avLst/>
          </a:prstGeom>
          <a:solidFill>
            <a:srgbClr val="E67E22"/>
          </a:solidFill>
          <a:ln>
            <a:noFill/>
          </a:ln>
        </p:spPr>
        <p:txBody>
          <a:bodyPr/>
          <a:lstStyle/>
          <a:p/>
        </p:txBody>
      </p:sp>
      <p:sp>
        <p:nvSpPr>
          <p:cNvPr id="36" name="TextBox 36"/>
          <p:cNvSpPr txBox="1"/>
          <p:nvPr/>
        </p:nvSpPr>
        <p:spPr>
          <a:xfrm>
            <a:off x="7543800" y="2381250"/>
            <a:ext cx="4000500" cy="171450"/>
          </a:xfrm>
          <a:prstGeom prst="rect">
            <a:avLst/>
          </a:prstGeom>
          <a:noFill/>
        </p:spPr>
        <p:txBody>
          <a:bodyPr wrap="square" anchor="t" lIns="0" tIns="0" rIns="0" bIns="0">
            <a:noAutofit/>
          </a:bodyPr>
          <a:lstStyle/>
          <a:p>
            <a:pPr marL="0" indent="0" algn="l">
              <a:buNone/>
            </a:pPr>
            <a:r>
              <a:rPr lang="en-US" sz="1030" b="1" dirty="0">
                <a:solidFill>
                  <a:srgbClr val="2C3E50"/>
                </a:solidFill>
                <a:latin typeface="Calibri"/>
                <a:cs typeface="Calibri"/>
              </a:rPr>
              <a:t>data.gov.in</a:t>
            </a:r>
          </a:p>
        </p:txBody>
      </p:sp>
      <p:sp>
        <p:nvSpPr>
          <p:cNvPr id="37" name="TextBox 37"/>
          <p:cNvSpPr txBox="1"/>
          <p:nvPr/>
        </p:nvSpPr>
        <p:spPr>
          <a:xfrm>
            <a:off x="7543800" y="2571750"/>
            <a:ext cx="4000500" cy="171450"/>
          </a:xfrm>
          <a:prstGeom prst="rect">
            <a:avLst/>
          </a:prstGeom>
          <a:noFill/>
        </p:spPr>
        <p:txBody>
          <a:bodyPr wrap="square" anchor="t" lIns="0" tIns="0" rIns="0" bIns="0">
            <a:noAutofit/>
          </a:bodyPr>
          <a:lstStyle/>
          <a:p>
            <a:pPr marL="0" indent="0" algn="l">
              <a:buNone/>
            </a:pPr>
            <a:r>
              <a:rPr lang="en-US" sz="930" dirty="0">
                <a:solidFill>
                  <a:srgbClr val="5B6B77"/>
                </a:solidFill>
                <a:latin typeface="Calibri"/>
                <a:cs typeface="Calibri"/>
              </a:rPr>
              <a:t>Tamil Nadu CKD statistics</a:t>
            </a:r>
          </a:p>
        </p:txBody>
      </p:sp>
      <p:sp>
        <p:nvSpPr>
          <p:cNvPr id="38" name="TextBox 38"/>
          <p:cNvSpPr txBox="1"/>
          <p:nvPr/>
        </p:nvSpPr>
        <p:spPr>
          <a:xfrm>
            <a:off x="7429500" y="2971800"/>
            <a:ext cx="4229100" cy="171450"/>
          </a:xfrm>
          <a:prstGeom prst="rect">
            <a:avLst/>
          </a:prstGeom>
          <a:noFill/>
        </p:spPr>
        <p:txBody>
          <a:bodyPr wrap="square" anchor="t" lIns="0" tIns="0" rIns="0" bIns="0">
            <a:noAutofit/>
          </a:bodyPr>
          <a:lstStyle/>
          <a:p>
            <a:pPr marL="0" indent="0" algn="l">
              <a:buNone/>
            </a:pPr>
            <a:r>
              <a:rPr lang="en-US" sz="1100" b="1" dirty="0">
                <a:solidFill>
                  <a:srgbClr val="1B4F72"/>
                </a:solidFill>
                <a:latin typeface="Calibri"/>
                <a:cs typeface="Calibri"/>
              </a:rPr>
              <a:t>DATABASE SCHEMA (KEY FIELDS)</a:t>
            </a:r>
          </a:p>
        </p:txBody>
      </p:sp>
      <p:sp>
        <p:nvSpPr>
          <p:cNvPr id="39" name="Rect 39"/>
          <p:cNvSpPr/>
          <p:nvPr/>
        </p:nvSpPr>
        <p:spPr>
          <a:xfrm>
            <a:off x="7429500" y="3181350"/>
            <a:ext cx="4229100" cy="381000"/>
          </a:xfrm>
          <a:prstGeom prst="roundRect">
            <a:avLst/>
          </a:prstGeom>
          <a:solidFill>
            <a:srgbClr val="F4F6F7"/>
          </a:solidFill>
          <a:ln w="12700">
            <a:solidFill>
              <a:srgbClr val="E3E7E9"/>
            </a:solidFill>
          </a:ln>
        </p:spPr>
        <p:txBody>
          <a:bodyPr/>
          <a:lstStyle/>
          <a:p/>
        </p:txBody>
      </p:sp>
      <p:sp>
        <p:nvSpPr>
          <p:cNvPr id="40" name="TextBox 40"/>
          <p:cNvSpPr txBox="1"/>
          <p:nvPr/>
        </p:nvSpPr>
        <p:spPr>
          <a:xfrm>
            <a:off x="7524750" y="3238500"/>
            <a:ext cx="4038600" cy="285750"/>
          </a:xfrm>
          <a:prstGeom prst="rect">
            <a:avLst/>
          </a:prstGeom>
          <a:noFill/>
        </p:spPr>
        <p:txBody>
          <a:bodyPr wrap="square" anchor="t" lIns="0" tIns="0" rIns="0" bIns="0">
            <a:noAutofit/>
          </a:bodyPr>
          <a:lstStyle/>
          <a:p>
            <a:pPr marL="0" indent="0" algn="l">
              <a:lnSpc>
                <a:spcPct val="115000"/>
              </a:lnSpc>
              <a:buNone/>
            </a:pPr>
            <a:r>
              <a:rPr lang="en-US" sz="950" b="1" dirty="0">
                <a:solidFill>
                  <a:srgbClr val="1B4F72"/>
                </a:solidFill>
                <a:latin typeface="Calibri"/>
                <a:cs typeface="Calibri"/>
              </a:rPr>
              <a:t>doctors  </a:t>
            </a:r>
            <a:r>
              <a:rPr lang="en-US" sz="850" dirty="0">
                <a:solidFill>
                  <a:srgbClr val="5B6B77"/>
                </a:solidFill>
                <a:latin typeface="Calibri"/>
                <a:cs typeface="Calibri"/>
              </a:rPr>
              <a:t>id, name, phc_id, email, password_hash</a:t>
            </a:r>
          </a:p>
        </p:txBody>
      </p:sp>
      <p:sp>
        <p:nvSpPr>
          <p:cNvPr id="41" name="Rect 41"/>
          <p:cNvSpPr/>
          <p:nvPr/>
        </p:nvSpPr>
        <p:spPr>
          <a:xfrm>
            <a:off x="7429500" y="3619500"/>
            <a:ext cx="4229100" cy="381000"/>
          </a:xfrm>
          <a:prstGeom prst="roundRect">
            <a:avLst/>
          </a:prstGeom>
          <a:solidFill>
            <a:srgbClr val="F4F6F7"/>
          </a:solidFill>
          <a:ln w="12700">
            <a:solidFill>
              <a:srgbClr val="E3E7E9"/>
            </a:solidFill>
          </a:ln>
        </p:spPr>
        <p:txBody>
          <a:bodyPr/>
          <a:lstStyle/>
          <a:p/>
        </p:txBody>
      </p:sp>
      <p:sp>
        <p:nvSpPr>
          <p:cNvPr id="42" name="TextBox 42"/>
          <p:cNvSpPr txBox="1"/>
          <p:nvPr/>
        </p:nvSpPr>
        <p:spPr>
          <a:xfrm>
            <a:off x="7524750" y="3676650"/>
            <a:ext cx="4038600" cy="285750"/>
          </a:xfrm>
          <a:prstGeom prst="rect">
            <a:avLst/>
          </a:prstGeom>
          <a:noFill/>
        </p:spPr>
        <p:txBody>
          <a:bodyPr wrap="square" anchor="t" lIns="0" tIns="0" rIns="0" bIns="0">
            <a:noAutofit/>
          </a:bodyPr>
          <a:lstStyle/>
          <a:p>
            <a:pPr marL="0" indent="0" algn="l">
              <a:lnSpc>
                <a:spcPct val="115000"/>
              </a:lnSpc>
              <a:buNone/>
            </a:pPr>
            <a:r>
              <a:rPr lang="en-US" sz="950" b="1" dirty="0">
                <a:solidFill>
                  <a:srgbClr val="1B4F72"/>
                </a:solidFill>
                <a:latin typeface="Calibri"/>
                <a:cs typeface="Calibri"/>
              </a:rPr>
              <a:t>patients  </a:t>
            </a:r>
            <a:r>
              <a:rPr lang="en-US" sz="850" dirty="0">
                <a:solidFill>
                  <a:srgbClr val="5B6B77"/>
                </a:solidFill>
                <a:latin typeface="Calibri"/>
                <a:cs typeface="Calibri"/>
              </a:rPr>
              <a:t>id, age, gender, dm_duration, doctor_id</a:t>
            </a:r>
          </a:p>
        </p:txBody>
      </p:sp>
      <p:sp>
        <p:nvSpPr>
          <p:cNvPr id="43" name="Rect 43"/>
          <p:cNvSpPr/>
          <p:nvPr/>
        </p:nvSpPr>
        <p:spPr>
          <a:xfrm>
            <a:off x="7429500" y="4057650"/>
            <a:ext cx="4229100" cy="381000"/>
          </a:xfrm>
          <a:prstGeom prst="roundRect">
            <a:avLst/>
          </a:prstGeom>
          <a:solidFill>
            <a:srgbClr val="F4F6F7"/>
          </a:solidFill>
          <a:ln w="12700">
            <a:solidFill>
              <a:srgbClr val="E3E7E9"/>
            </a:solidFill>
          </a:ln>
        </p:spPr>
        <p:txBody>
          <a:bodyPr/>
          <a:lstStyle/>
          <a:p/>
        </p:txBody>
      </p:sp>
      <p:sp>
        <p:nvSpPr>
          <p:cNvPr id="44" name="TextBox 44"/>
          <p:cNvSpPr txBox="1"/>
          <p:nvPr/>
        </p:nvSpPr>
        <p:spPr>
          <a:xfrm>
            <a:off x="7524750" y="4114800"/>
            <a:ext cx="4038600" cy="285750"/>
          </a:xfrm>
          <a:prstGeom prst="rect">
            <a:avLst/>
          </a:prstGeom>
          <a:noFill/>
        </p:spPr>
        <p:txBody>
          <a:bodyPr wrap="square" anchor="t" lIns="0" tIns="0" rIns="0" bIns="0">
            <a:noAutofit/>
          </a:bodyPr>
          <a:lstStyle/>
          <a:p>
            <a:pPr marL="0" indent="0" algn="l">
              <a:lnSpc>
                <a:spcPct val="115000"/>
              </a:lnSpc>
              <a:buNone/>
            </a:pPr>
            <a:r>
              <a:rPr lang="en-US" sz="950" b="1" dirty="0">
                <a:solidFill>
                  <a:srgbClr val="1B4F72"/>
                </a:solidFill>
                <a:latin typeface="Calibri"/>
                <a:cs typeface="Calibri"/>
              </a:rPr>
              <a:t>visits  </a:t>
            </a:r>
            <a:r>
              <a:rPr lang="en-US" sz="850" dirty="0">
                <a:solidFill>
                  <a:srgbClr val="5B6B77"/>
                </a:solidFill>
                <a:latin typeface="Calibri"/>
                <a:cs typeface="Calibri"/>
              </a:rPr>
              <a:t>id, patient_id, creatinine, eGFR, HbA1c, ACR, BP, date</a:t>
            </a:r>
          </a:p>
        </p:txBody>
      </p:sp>
      <p:sp>
        <p:nvSpPr>
          <p:cNvPr id="45" name="Rect 45"/>
          <p:cNvSpPr/>
          <p:nvPr/>
        </p:nvSpPr>
        <p:spPr>
          <a:xfrm>
            <a:off x="7429500" y="4495800"/>
            <a:ext cx="4229100" cy="381000"/>
          </a:xfrm>
          <a:prstGeom prst="roundRect">
            <a:avLst/>
          </a:prstGeom>
          <a:solidFill>
            <a:srgbClr val="F4F6F7"/>
          </a:solidFill>
          <a:ln w="12700">
            <a:solidFill>
              <a:srgbClr val="E3E7E9"/>
            </a:solidFill>
          </a:ln>
        </p:spPr>
        <p:txBody>
          <a:bodyPr/>
          <a:lstStyle/>
          <a:p/>
        </p:txBody>
      </p:sp>
      <p:sp>
        <p:nvSpPr>
          <p:cNvPr id="46" name="TextBox 46"/>
          <p:cNvSpPr txBox="1"/>
          <p:nvPr/>
        </p:nvSpPr>
        <p:spPr>
          <a:xfrm>
            <a:off x="7524750" y="4552950"/>
            <a:ext cx="4038600" cy="285750"/>
          </a:xfrm>
          <a:prstGeom prst="rect">
            <a:avLst/>
          </a:prstGeom>
          <a:noFill/>
        </p:spPr>
        <p:txBody>
          <a:bodyPr wrap="square" anchor="t" lIns="0" tIns="0" rIns="0" bIns="0">
            <a:noAutofit/>
          </a:bodyPr>
          <a:lstStyle/>
          <a:p>
            <a:pPr marL="0" indent="0" algn="l">
              <a:lnSpc>
                <a:spcPct val="115000"/>
              </a:lnSpc>
              <a:buNone/>
            </a:pPr>
            <a:r>
              <a:rPr lang="en-US" sz="950" b="1" dirty="0">
                <a:solidFill>
                  <a:srgbClr val="1B4F72"/>
                </a:solidFill>
                <a:latin typeface="Calibri"/>
                <a:cs typeface="Calibri"/>
              </a:rPr>
              <a:t>alerts  </a:t>
            </a:r>
            <a:r>
              <a:rPr lang="en-US" sz="850" dirty="0">
                <a:solidFill>
                  <a:srgbClr val="5B6B77"/>
                </a:solidFill>
                <a:latin typeface="Calibri"/>
                <a:cs typeface="Calibri"/>
              </a:rPr>
              <a:t>id, patient_id, risk_score, level, created_at</a:t>
            </a:r>
          </a:p>
        </p:txBody>
      </p:sp>
      <p:cxnSp>
        <p:nvCxnSpPr>
          <p:cNvPr id="47" name="Line 47"/>
          <p:cNvCxnSpPr/>
          <p:nvPr/>
        </p:nvCxnSpPr>
        <p:spPr>
          <a:xfrm flipH="0" flipV="0">
            <a:off x="533400" y="6667500"/>
            <a:ext cx="11125200" cy="9525"/>
          </a:xfrm>
          <a:prstGeom prst="line">
            <a:avLst/>
          </a:prstGeom>
          <a:ln w="12700">
            <a:solidFill>
              <a:srgbClr val="E3E7E9"/>
            </a:solidFill>
          </a:ln>
        </p:spPr>
      </p:cxnSp>
      <p:sp>
        <p:nvSpPr>
          <p:cNvPr id="48" name="TextBox 48"/>
          <p:cNvSpPr txBox="1"/>
          <p:nvPr/>
        </p:nvSpPr>
        <p:spPr>
          <a:xfrm>
            <a:off x="533400" y="6705600"/>
            <a:ext cx="8572500" cy="190500"/>
          </a:xfrm>
          <a:prstGeom prst="rect">
            <a:avLst/>
          </a:prstGeom>
          <a:noFill/>
        </p:spPr>
        <p:txBody>
          <a:bodyPr wrap="square" anchor="t" lIns="0" tIns="0" rIns="0" bIns="0">
            <a:noAutofit/>
          </a:bodyPr>
          <a:lstStyle/>
          <a:p>
            <a:pPr marL="0" indent="0" algn="l">
              <a:buNone/>
            </a:pPr>
            <a:r>
              <a:rPr lang="en-US" sz="850" dirty="0">
                <a:solidFill>
                  <a:srgbClr val="7A8B99"/>
                </a:solidFill>
                <a:latin typeface="Calibri"/>
                <a:cs typeface="Calibri"/>
              </a:rPr>
              <a:t>NephroAlert | ACS-AMRI Seed Grant Proposal 2026 | Dr. MGR Educational and Research Institute, Chennai</a:t>
            </a:r>
          </a:p>
        </p:txBody>
      </p:sp>
      <p:sp>
        <p:nvSpPr>
          <p:cNvPr id="49" name="TextBox 49"/>
          <p:cNvSpPr txBox="1"/>
          <p:nvPr/>
        </p:nvSpPr>
        <p:spPr>
          <a:xfrm>
            <a:off x="11277600" y="6667500"/>
            <a:ext cx="381000" cy="190500"/>
          </a:xfrm>
          <a:prstGeom prst="rect">
            <a:avLst/>
          </a:prstGeom>
          <a:noFill/>
        </p:spPr>
        <p:txBody>
          <a:bodyPr wrap="square" anchor="t" lIns="0" tIns="0" rIns="0" bIns="0">
            <a:noAutofit/>
          </a:bodyPr>
          <a:lstStyle/>
          <a:p>
            <a:pPr marL="0" indent="0" algn="r">
              <a:buNone/>
            </a:pPr>
            <a:r>
              <a:rPr lang="en-US" sz="1100" b="1" dirty="0">
                <a:solidFill>
                  <a:srgbClr val="1B4F72"/>
                </a:solidFill>
                <a:latin typeface="Calibri"/>
                <a:cs typeface="Calibri"/>
              </a:rPr>
              <a:t>7</a:t>
            </a:r>
          </a:p>
        </p:txBody>
      </p:sp>
    </p:spTree>
  </p:cSld>
  <p:clrMapOvr>
    <a:overrideClrMapping bg1="lt1" tx1="dk1" bg2="lt2" tx2="dk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2"/>
          <p:cNvSpPr txBox="1"/>
          <p:nvPr/>
        </p:nvSpPr>
        <p:spPr>
          <a:xfrm>
            <a:off x="533400" y="285750"/>
            <a:ext cx="11125200" cy="381000"/>
          </a:xfrm>
          <a:prstGeom prst="rect">
            <a:avLst/>
          </a:prstGeom>
          <a:noFill/>
        </p:spPr>
        <p:txBody>
          <a:bodyPr wrap="square" anchor="t" lIns="0" tIns="0" rIns="0" bIns="0">
            <a:noAutofit/>
          </a:bodyPr>
          <a:lstStyle/>
          <a:p>
            <a:pPr marL="0" indent="0" algn="l">
              <a:buNone/>
            </a:pPr>
            <a:r>
              <a:rPr lang="en-US" sz="2500" b="1" dirty="0">
                <a:solidFill>
                  <a:srgbClr val="1B4F72"/>
                </a:solidFill>
                <a:latin typeface="Calibri"/>
                <a:cs typeface="Calibri"/>
              </a:rPr>
              <a:t>Expected Outcomes &amp; Validation Plan</a:t>
            </a:r>
          </a:p>
        </p:txBody>
      </p:sp>
      <p:sp>
        <p:nvSpPr>
          <p:cNvPr id="3" name="Rect 3"/>
          <p:cNvSpPr/>
          <p:nvPr/>
        </p:nvSpPr>
        <p:spPr>
          <a:xfrm>
            <a:off x="533400" y="666750"/>
            <a:ext cx="609600" cy="47625"/>
          </a:xfrm>
          <a:prstGeom prst="roundRect">
            <a:avLst/>
          </a:prstGeom>
          <a:solidFill>
            <a:srgbClr val="00A878"/>
          </a:solidFill>
          <a:ln>
            <a:noFill/>
          </a:ln>
        </p:spPr>
        <p:txBody>
          <a:bodyPr/>
          <a:lstStyle/>
          <a:p/>
        </p:txBody>
      </p:sp>
      <p:sp>
        <p:nvSpPr>
          <p:cNvPr id="4" name="TextBox 4"/>
          <p:cNvSpPr txBox="1"/>
          <p:nvPr/>
        </p:nvSpPr>
        <p:spPr>
          <a:xfrm>
            <a:off x="533400" y="876300"/>
            <a:ext cx="4000500" cy="171450"/>
          </a:xfrm>
          <a:prstGeom prst="rect">
            <a:avLst/>
          </a:prstGeom>
          <a:noFill/>
        </p:spPr>
        <p:txBody>
          <a:bodyPr wrap="square" anchor="t" lIns="0" tIns="0" rIns="0" bIns="0">
            <a:noAutofit/>
          </a:bodyPr>
          <a:lstStyle/>
          <a:p>
            <a:pPr marL="0" indent="0" algn="l">
              <a:buNone/>
            </a:pPr>
            <a:r>
              <a:rPr lang="en-US" sz="1150" b="1" dirty="0">
                <a:solidFill>
                  <a:srgbClr val="1B4F72"/>
                </a:solidFill>
                <a:latin typeface="Calibri"/>
                <a:cs typeface="Calibri"/>
              </a:rPr>
              <a:t>PREDICTED MODEL PERFORMANCE</a:t>
            </a:r>
          </a:p>
        </p:txBody>
      </p:sp>
      <p:cxnSp>
        <p:nvCxnSpPr>
          <p:cNvPr id="5" name="Line 5"/>
          <p:cNvCxnSpPr/>
          <p:nvPr/>
        </p:nvCxnSpPr>
        <p:spPr>
          <a:xfrm flipH="0" flipV="0">
            <a:off x="2438400" y="2156460"/>
            <a:ext cx="213788" cy="155326"/>
          </a:xfrm>
          <a:prstGeom prst="line">
            <a:avLst/>
          </a:prstGeom>
          <a:ln w="9525">
            <a:solidFill>
              <a:srgbClr val="E3E7E9"/>
            </a:solidFill>
          </a:ln>
        </p:spPr>
      </p:cxnSp>
      <p:cxnSp>
        <p:nvCxnSpPr>
          <p:cNvPr id="6" name="Line 6"/>
          <p:cNvCxnSpPr/>
          <p:nvPr/>
        </p:nvCxnSpPr>
        <p:spPr>
          <a:xfrm flipH="1" flipV="0">
            <a:off x="2570528" y="2311786"/>
            <a:ext cx="81660" cy="251323"/>
          </a:xfrm>
          <a:prstGeom prst="line">
            <a:avLst/>
          </a:prstGeom>
          <a:ln w="9525">
            <a:solidFill>
              <a:srgbClr val="E3E7E9"/>
            </a:solidFill>
          </a:ln>
        </p:spPr>
      </p:cxnSp>
      <p:cxnSp>
        <p:nvCxnSpPr>
          <p:cNvPr id="7" name="Line 7"/>
          <p:cNvCxnSpPr/>
          <p:nvPr/>
        </p:nvCxnSpPr>
        <p:spPr>
          <a:xfrm flipH="1" flipV="0">
            <a:off x="2306272" y="2563109"/>
            <a:ext cx="264256" cy="9525"/>
          </a:xfrm>
          <a:prstGeom prst="line">
            <a:avLst/>
          </a:prstGeom>
          <a:ln w="9525">
            <a:solidFill>
              <a:srgbClr val="E3E7E9"/>
            </a:solidFill>
          </a:ln>
        </p:spPr>
      </p:cxnSp>
      <p:cxnSp>
        <p:nvCxnSpPr>
          <p:cNvPr id="8" name="Line 8"/>
          <p:cNvCxnSpPr/>
          <p:nvPr/>
        </p:nvCxnSpPr>
        <p:spPr>
          <a:xfrm flipH="1" flipV="1">
            <a:off x="2224612" y="2311786"/>
            <a:ext cx="81660" cy="251323"/>
          </a:xfrm>
          <a:prstGeom prst="line">
            <a:avLst/>
          </a:prstGeom>
          <a:ln w="9525">
            <a:solidFill>
              <a:srgbClr val="E3E7E9"/>
            </a:solidFill>
          </a:ln>
        </p:spPr>
      </p:cxnSp>
      <p:cxnSp>
        <p:nvCxnSpPr>
          <p:cNvPr id="9" name="Line 9"/>
          <p:cNvCxnSpPr/>
          <p:nvPr/>
        </p:nvCxnSpPr>
        <p:spPr>
          <a:xfrm flipH="0" flipV="1">
            <a:off x="2224612" y="2156460"/>
            <a:ext cx="213788" cy="155326"/>
          </a:xfrm>
          <a:prstGeom prst="line">
            <a:avLst/>
          </a:prstGeom>
          <a:ln w="9525">
            <a:solidFill>
              <a:srgbClr val="E3E7E9"/>
            </a:solidFill>
          </a:ln>
        </p:spPr>
      </p:cxnSp>
      <p:cxnSp>
        <p:nvCxnSpPr>
          <p:cNvPr id="10" name="Line 10"/>
          <p:cNvCxnSpPr/>
          <p:nvPr/>
        </p:nvCxnSpPr>
        <p:spPr>
          <a:xfrm flipH="0" flipV="0">
            <a:off x="2438400" y="1931670"/>
            <a:ext cx="427576" cy="310652"/>
          </a:xfrm>
          <a:prstGeom prst="line">
            <a:avLst/>
          </a:prstGeom>
          <a:ln w="9525">
            <a:solidFill>
              <a:srgbClr val="E3E7E9"/>
            </a:solidFill>
          </a:ln>
        </p:spPr>
      </p:cxnSp>
      <p:cxnSp>
        <p:nvCxnSpPr>
          <p:cNvPr id="11" name="Line 11"/>
          <p:cNvCxnSpPr/>
          <p:nvPr/>
        </p:nvCxnSpPr>
        <p:spPr>
          <a:xfrm flipH="1" flipV="0">
            <a:off x="2702656" y="2242322"/>
            <a:ext cx="163319" cy="502646"/>
          </a:xfrm>
          <a:prstGeom prst="line">
            <a:avLst/>
          </a:prstGeom>
          <a:ln w="9525">
            <a:solidFill>
              <a:srgbClr val="E3E7E9"/>
            </a:solidFill>
          </a:ln>
        </p:spPr>
      </p:cxnSp>
      <p:cxnSp>
        <p:nvCxnSpPr>
          <p:cNvPr id="12" name="Line 12"/>
          <p:cNvCxnSpPr/>
          <p:nvPr/>
        </p:nvCxnSpPr>
        <p:spPr>
          <a:xfrm flipH="1" flipV="0">
            <a:off x="2174144" y="2744968"/>
            <a:ext cx="528513" cy="9525"/>
          </a:xfrm>
          <a:prstGeom prst="line">
            <a:avLst/>
          </a:prstGeom>
          <a:ln w="9525">
            <a:solidFill>
              <a:srgbClr val="E3E7E9"/>
            </a:solidFill>
          </a:ln>
        </p:spPr>
      </p:cxnSp>
      <p:cxnSp>
        <p:nvCxnSpPr>
          <p:cNvPr id="13" name="Line 13"/>
          <p:cNvCxnSpPr/>
          <p:nvPr/>
        </p:nvCxnSpPr>
        <p:spPr>
          <a:xfrm flipH="1" flipV="1">
            <a:off x="2010824" y="2242322"/>
            <a:ext cx="163319" cy="502646"/>
          </a:xfrm>
          <a:prstGeom prst="line">
            <a:avLst/>
          </a:prstGeom>
          <a:ln w="9525">
            <a:solidFill>
              <a:srgbClr val="E3E7E9"/>
            </a:solidFill>
          </a:ln>
        </p:spPr>
      </p:cxnSp>
      <p:cxnSp>
        <p:nvCxnSpPr>
          <p:cNvPr id="14" name="Line 14"/>
          <p:cNvCxnSpPr/>
          <p:nvPr/>
        </p:nvCxnSpPr>
        <p:spPr>
          <a:xfrm flipH="0" flipV="1">
            <a:off x="2010824" y="1931670"/>
            <a:ext cx="427576" cy="310652"/>
          </a:xfrm>
          <a:prstGeom prst="line">
            <a:avLst/>
          </a:prstGeom>
          <a:ln w="9525">
            <a:solidFill>
              <a:srgbClr val="E3E7E9"/>
            </a:solidFill>
          </a:ln>
        </p:spPr>
      </p:cxnSp>
      <p:cxnSp>
        <p:nvCxnSpPr>
          <p:cNvPr id="15" name="Line 15"/>
          <p:cNvCxnSpPr/>
          <p:nvPr/>
        </p:nvCxnSpPr>
        <p:spPr>
          <a:xfrm flipH="0" flipV="0">
            <a:off x="2438400" y="1706880"/>
            <a:ext cx="641364" cy="465978"/>
          </a:xfrm>
          <a:prstGeom prst="line">
            <a:avLst/>
          </a:prstGeom>
          <a:ln w="9525">
            <a:solidFill>
              <a:srgbClr val="E3E7E9"/>
            </a:solidFill>
          </a:ln>
        </p:spPr>
      </p:cxnSp>
      <p:cxnSp>
        <p:nvCxnSpPr>
          <p:cNvPr id="16" name="Line 16"/>
          <p:cNvCxnSpPr/>
          <p:nvPr/>
        </p:nvCxnSpPr>
        <p:spPr>
          <a:xfrm flipH="1" flipV="0">
            <a:off x="2834785" y="2172858"/>
            <a:ext cx="244979" cy="753969"/>
          </a:xfrm>
          <a:prstGeom prst="line">
            <a:avLst/>
          </a:prstGeom>
          <a:ln w="9525">
            <a:solidFill>
              <a:srgbClr val="E3E7E9"/>
            </a:solidFill>
          </a:ln>
        </p:spPr>
      </p:cxnSp>
      <p:cxnSp>
        <p:nvCxnSpPr>
          <p:cNvPr id="17" name="Line 17"/>
          <p:cNvCxnSpPr/>
          <p:nvPr/>
        </p:nvCxnSpPr>
        <p:spPr>
          <a:xfrm flipH="1" flipV="0">
            <a:off x="2042015" y="2926827"/>
            <a:ext cx="792769" cy="9525"/>
          </a:xfrm>
          <a:prstGeom prst="line">
            <a:avLst/>
          </a:prstGeom>
          <a:ln w="9525">
            <a:solidFill>
              <a:srgbClr val="E3E7E9"/>
            </a:solidFill>
          </a:ln>
        </p:spPr>
      </p:cxnSp>
      <p:cxnSp>
        <p:nvCxnSpPr>
          <p:cNvPr id="18" name="Line 18"/>
          <p:cNvCxnSpPr/>
          <p:nvPr/>
        </p:nvCxnSpPr>
        <p:spPr>
          <a:xfrm flipH="1" flipV="1">
            <a:off x="1797036" y="2172858"/>
            <a:ext cx="244979" cy="753969"/>
          </a:xfrm>
          <a:prstGeom prst="line">
            <a:avLst/>
          </a:prstGeom>
          <a:ln w="9525">
            <a:solidFill>
              <a:srgbClr val="E3E7E9"/>
            </a:solidFill>
          </a:ln>
        </p:spPr>
      </p:cxnSp>
      <p:cxnSp>
        <p:nvCxnSpPr>
          <p:cNvPr id="19" name="Line 19"/>
          <p:cNvCxnSpPr/>
          <p:nvPr/>
        </p:nvCxnSpPr>
        <p:spPr>
          <a:xfrm flipH="0" flipV="1">
            <a:off x="1797036" y="1706880"/>
            <a:ext cx="641364" cy="465978"/>
          </a:xfrm>
          <a:prstGeom prst="line">
            <a:avLst/>
          </a:prstGeom>
          <a:ln w="9525">
            <a:solidFill>
              <a:srgbClr val="E3E7E9"/>
            </a:solidFill>
          </a:ln>
        </p:spPr>
      </p:cxnSp>
      <p:cxnSp>
        <p:nvCxnSpPr>
          <p:cNvPr id="20" name="Line 20"/>
          <p:cNvCxnSpPr/>
          <p:nvPr/>
        </p:nvCxnSpPr>
        <p:spPr>
          <a:xfrm flipH="0" flipV="0">
            <a:off x="2438400" y="1482090"/>
            <a:ext cx="855152" cy="621304"/>
          </a:xfrm>
          <a:prstGeom prst="line">
            <a:avLst/>
          </a:prstGeom>
          <a:ln w="9525">
            <a:solidFill>
              <a:srgbClr val="E3E7E9"/>
            </a:solidFill>
          </a:ln>
        </p:spPr>
      </p:cxnSp>
      <p:cxnSp>
        <p:nvCxnSpPr>
          <p:cNvPr id="21" name="Line 21"/>
          <p:cNvCxnSpPr/>
          <p:nvPr/>
        </p:nvCxnSpPr>
        <p:spPr>
          <a:xfrm flipH="1" flipV="0">
            <a:off x="2966913" y="2103394"/>
            <a:ext cx="326639" cy="1005291"/>
          </a:xfrm>
          <a:prstGeom prst="line">
            <a:avLst/>
          </a:prstGeom>
          <a:ln w="9525">
            <a:solidFill>
              <a:srgbClr val="E3E7E9"/>
            </a:solidFill>
          </a:ln>
        </p:spPr>
      </p:cxnSp>
      <p:cxnSp>
        <p:nvCxnSpPr>
          <p:cNvPr id="22" name="Line 22"/>
          <p:cNvCxnSpPr/>
          <p:nvPr/>
        </p:nvCxnSpPr>
        <p:spPr>
          <a:xfrm flipH="1" flipV="0">
            <a:off x="1909887" y="3108686"/>
            <a:ext cx="1057026" cy="9525"/>
          </a:xfrm>
          <a:prstGeom prst="line">
            <a:avLst/>
          </a:prstGeom>
          <a:ln w="9525">
            <a:solidFill>
              <a:srgbClr val="E3E7E9"/>
            </a:solidFill>
          </a:ln>
        </p:spPr>
      </p:cxnSp>
      <p:cxnSp>
        <p:nvCxnSpPr>
          <p:cNvPr id="23" name="Line 23"/>
          <p:cNvCxnSpPr/>
          <p:nvPr/>
        </p:nvCxnSpPr>
        <p:spPr>
          <a:xfrm flipH="1" flipV="1">
            <a:off x="1583248" y="2103394"/>
            <a:ext cx="326639" cy="1005291"/>
          </a:xfrm>
          <a:prstGeom prst="line">
            <a:avLst/>
          </a:prstGeom>
          <a:ln w="9525">
            <a:solidFill>
              <a:srgbClr val="E3E7E9"/>
            </a:solidFill>
          </a:ln>
        </p:spPr>
      </p:cxnSp>
      <p:cxnSp>
        <p:nvCxnSpPr>
          <p:cNvPr id="24" name="Line 24"/>
          <p:cNvCxnSpPr/>
          <p:nvPr/>
        </p:nvCxnSpPr>
        <p:spPr>
          <a:xfrm flipH="0" flipV="1">
            <a:off x="1583248" y="1482090"/>
            <a:ext cx="855152" cy="621304"/>
          </a:xfrm>
          <a:prstGeom prst="line">
            <a:avLst/>
          </a:prstGeom>
          <a:ln w="9525">
            <a:solidFill>
              <a:srgbClr val="E3E7E9"/>
            </a:solidFill>
          </a:ln>
        </p:spPr>
      </p:cxnSp>
      <p:cxnSp>
        <p:nvCxnSpPr>
          <p:cNvPr id="25" name="Line 25"/>
          <p:cNvCxnSpPr/>
          <p:nvPr/>
        </p:nvCxnSpPr>
        <p:spPr>
          <a:xfrm flipH="0" flipV="0">
            <a:off x="2438400" y="1257300"/>
            <a:ext cx="1068940" cy="776630"/>
          </a:xfrm>
          <a:prstGeom prst="line">
            <a:avLst/>
          </a:prstGeom>
          <a:ln w="9525">
            <a:solidFill>
              <a:srgbClr val="E3E7E9"/>
            </a:solidFill>
          </a:ln>
        </p:spPr>
      </p:cxnSp>
      <p:cxnSp>
        <p:nvCxnSpPr>
          <p:cNvPr id="26" name="Line 26"/>
          <p:cNvCxnSpPr/>
          <p:nvPr/>
        </p:nvCxnSpPr>
        <p:spPr>
          <a:xfrm flipH="1" flipV="0">
            <a:off x="3099041" y="2033930"/>
            <a:ext cx="408299" cy="1256614"/>
          </a:xfrm>
          <a:prstGeom prst="line">
            <a:avLst/>
          </a:prstGeom>
          <a:ln w="9525">
            <a:solidFill>
              <a:srgbClr val="E3E7E9"/>
            </a:solidFill>
          </a:ln>
        </p:spPr>
      </p:cxnSp>
      <p:cxnSp>
        <p:nvCxnSpPr>
          <p:cNvPr id="27" name="Line 27"/>
          <p:cNvCxnSpPr/>
          <p:nvPr/>
        </p:nvCxnSpPr>
        <p:spPr>
          <a:xfrm flipH="1" flipV="0">
            <a:off x="1777759" y="3290545"/>
            <a:ext cx="1321282" cy="9525"/>
          </a:xfrm>
          <a:prstGeom prst="line">
            <a:avLst/>
          </a:prstGeom>
          <a:ln w="9525">
            <a:solidFill>
              <a:srgbClr val="E3E7E9"/>
            </a:solidFill>
          </a:ln>
        </p:spPr>
      </p:cxnSp>
      <p:cxnSp>
        <p:nvCxnSpPr>
          <p:cNvPr id="28" name="Line 28"/>
          <p:cNvCxnSpPr/>
          <p:nvPr/>
        </p:nvCxnSpPr>
        <p:spPr>
          <a:xfrm flipH="1" flipV="1">
            <a:off x="1369460" y="2033930"/>
            <a:ext cx="408299" cy="1256614"/>
          </a:xfrm>
          <a:prstGeom prst="line">
            <a:avLst/>
          </a:prstGeom>
          <a:ln w="9525">
            <a:solidFill>
              <a:srgbClr val="E3E7E9"/>
            </a:solidFill>
          </a:ln>
        </p:spPr>
      </p:cxnSp>
      <p:cxnSp>
        <p:nvCxnSpPr>
          <p:cNvPr id="29" name="Line 29"/>
          <p:cNvCxnSpPr/>
          <p:nvPr/>
        </p:nvCxnSpPr>
        <p:spPr>
          <a:xfrm flipH="0" flipV="1">
            <a:off x="1369460" y="1257300"/>
            <a:ext cx="1068940" cy="776630"/>
          </a:xfrm>
          <a:prstGeom prst="line">
            <a:avLst/>
          </a:prstGeom>
          <a:ln w="9525">
            <a:solidFill>
              <a:srgbClr val="E3E7E9"/>
            </a:solidFill>
          </a:ln>
        </p:spPr>
      </p:cxnSp>
      <p:cxnSp>
        <p:nvCxnSpPr>
          <p:cNvPr id="30" name="Line 30"/>
          <p:cNvCxnSpPr/>
          <p:nvPr/>
        </p:nvCxnSpPr>
        <p:spPr>
          <a:xfrm flipH="0" flipV="1">
            <a:off x="2438400" y="1257300"/>
            <a:ext cx="9525" cy="1123950"/>
          </a:xfrm>
          <a:prstGeom prst="line">
            <a:avLst/>
          </a:prstGeom>
          <a:ln w="9525">
            <a:solidFill>
              <a:srgbClr val="E3E7E9"/>
            </a:solidFill>
          </a:ln>
        </p:spPr>
      </p:cxnSp>
      <p:cxnSp>
        <p:nvCxnSpPr>
          <p:cNvPr id="31" name="Line 31"/>
          <p:cNvCxnSpPr/>
          <p:nvPr/>
        </p:nvCxnSpPr>
        <p:spPr>
          <a:xfrm flipH="0" flipV="1">
            <a:off x="2438400" y="2033930"/>
            <a:ext cx="1068940" cy="347320"/>
          </a:xfrm>
          <a:prstGeom prst="line">
            <a:avLst/>
          </a:prstGeom>
          <a:ln w="9525">
            <a:solidFill>
              <a:srgbClr val="E3E7E9"/>
            </a:solidFill>
          </a:ln>
        </p:spPr>
      </p:cxnSp>
      <p:cxnSp>
        <p:nvCxnSpPr>
          <p:cNvPr id="32" name="Line 32"/>
          <p:cNvCxnSpPr/>
          <p:nvPr/>
        </p:nvCxnSpPr>
        <p:spPr>
          <a:xfrm flipH="0" flipV="0">
            <a:off x="2438400" y="2381250"/>
            <a:ext cx="660641" cy="909295"/>
          </a:xfrm>
          <a:prstGeom prst="line">
            <a:avLst/>
          </a:prstGeom>
          <a:ln w="9525">
            <a:solidFill>
              <a:srgbClr val="E3E7E9"/>
            </a:solidFill>
          </a:ln>
        </p:spPr>
      </p:cxnSp>
      <p:cxnSp>
        <p:nvCxnSpPr>
          <p:cNvPr id="33" name="Line 33"/>
          <p:cNvCxnSpPr/>
          <p:nvPr/>
        </p:nvCxnSpPr>
        <p:spPr>
          <a:xfrm flipH="1" flipV="0">
            <a:off x="1777759" y="2381250"/>
            <a:ext cx="660641" cy="909295"/>
          </a:xfrm>
          <a:prstGeom prst="line">
            <a:avLst/>
          </a:prstGeom>
          <a:ln w="9525">
            <a:solidFill>
              <a:srgbClr val="E3E7E9"/>
            </a:solidFill>
          </a:ln>
        </p:spPr>
      </p:cxnSp>
      <p:cxnSp>
        <p:nvCxnSpPr>
          <p:cNvPr id="34" name="Line 34"/>
          <p:cNvCxnSpPr/>
          <p:nvPr/>
        </p:nvCxnSpPr>
        <p:spPr>
          <a:xfrm flipH="1" flipV="1">
            <a:off x="1369460" y="2033930"/>
            <a:ext cx="1068940" cy="347320"/>
          </a:xfrm>
          <a:prstGeom prst="line">
            <a:avLst/>
          </a:prstGeom>
          <a:ln w="9525">
            <a:solidFill>
              <a:srgbClr val="E3E7E9"/>
            </a:solidFill>
          </a:ln>
        </p:spPr>
      </p:cxnSp>
      <p:sp>
        <p:nvSpPr>
          <p:cNvPr id="35" name="Freeform 35"/>
          <p:cNvSpPr/>
          <p:nvPr/>
        </p:nvSpPr>
        <p:spPr>
          <a:xfrm>
            <a:off x="1583248" y="1504569"/>
            <a:ext cx="1731683" cy="1649581"/>
          </a:xfrm>
          <a:custGeom>
            <a:avLst/>
            <a:gdLst/>
            <a:ahLst/>
            <a:cxnLst/>
            <a:rect l="0" t="0" r="0" b="0"/>
            <a:pathLst>
              <a:path w="1731683" h="1649581" fill="norm" stroke="1">
                <a:moveTo>
                  <a:pt x="855152" y="0"/>
                </a:moveTo>
                <a:lnTo>
                  <a:pt x="1731683" y="591879"/>
                </a:lnTo>
                <a:lnTo>
                  <a:pt x="1416697" y="1649581"/>
                </a:lnTo>
                <a:lnTo>
                  <a:pt x="320033" y="1613210"/>
                </a:lnTo>
                <a:lnTo>
                  <a:pt x="0" y="598825"/>
                </a:lnTo>
                <a:close/>
              </a:path>
            </a:pathLst>
          </a:custGeom>
          <a:solidFill>
            <a:srgbClr val="00A878">
              <a:alpha val="32000"/>
            </a:srgbClr>
          </a:solidFill>
          <a:ln w="27940">
            <a:solidFill>
              <a:srgbClr val="00A878"/>
            </a:solidFill>
          </a:ln>
        </p:spPr>
        <p:txBody>
          <a:bodyPr/>
          <a:lstStyle/>
          <a:p/>
        </p:txBody>
      </p:sp>
      <p:sp>
        <p:nvSpPr>
          <p:cNvPr id="36" name="Oval 36"/>
          <p:cNvSpPr/>
          <p:nvPr/>
        </p:nvSpPr>
        <p:spPr>
          <a:xfrm>
            <a:off x="2409825" y="1475994"/>
            <a:ext cx="57150" cy="57150"/>
          </a:xfrm>
          <a:prstGeom prst="ellipse">
            <a:avLst/>
          </a:prstGeom>
          <a:solidFill>
            <a:srgbClr val="00A878"/>
          </a:solidFill>
          <a:ln>
            <a:noFill/>
          </a:ln>
        </p:spPr>
        <p:txBody>
          <a:bodyPr/>
          <a:lstStyle/>
          <a:p/>
        </p:txBody>
      </p:sp>
      <p:sp>
        <p:nvSpPr>
          <p:cNvPr id="37" name="Oval 37"/>
          <p:cNvSpPr/>
          <p:nvPr/>
        </p:nvSpPr>
        <p:spPr>
          <a:xfrm>
            <a:off x="3286356" y="2067873"/>
            <a:ext cx="57150" cy="57150"/>
          </a:xfrm>
          <a:prstGeom prst="ellipse">
            <a:avLst/>
          </a:prstGeom>
          <a:solidFill>
            <a:srgbClr val="00A878"/>
          </a:solidFill>
          <a:ln>
            <a:noFill/>
          </a:ln>
        </p:spPr>
        <p:txBody>
          <a:bodyPr/>
          <a:lstStyle/>
          <a:p/>
        </p:txBody>
      </p:sp>
      <p:sp>
        <p:nvSpPr>
          <p:cNvPr id="38" name="Oval 38"/>
          <p:cNvSpPr/>
          <p:nvPr/>
        </p:nvSpPr>
        <p:spPr>
          <a:xfrm>
            <a:off x="2971370" y="3125575"/>
            <a:ext cx="57150" cy="57150"/>
          </a:xfrm>
          <a:prstGeom prst="ellipse">
            <a:avLst/>
          </a:prstGeom>
          <a:solidFill>
            <a:srgbClr val="00A878"/>
          </a:solidFill>
          <a:ln>
            <a:noFill/>
          </a:ln>
        </p:spPr>
        <p:txBody>
          <a:bodyPr/>
          <a:lstStyle/>
          <a:p/>
        </p:txBody>
      </p:sp>
      <p:sp>
        <p:nvSpPr>
          <p:cNvPr id="39" name="Oval 39"/>
          <p:cNvSpPr/>
          <p:nvPr/>
        </p:nvSpPr>
        <p:spPr>
          <a:xfrm>
            <a:off x="1874706" y="3089204"/>
            <a:ext cx="57150" cy="57150"/>
          </a:xfrm>
          <a:prstGeom prst="ellipse">
            <a:avLst/>
          </a:prstGeom>
          <a:solidFill>
            <a:srgbClr val="00A878"/>
          </a:solidFill>
          <a:ln>
            <a:noFill/>
          </a:ln>
        </p:spPr>
        <p:txBody>
          <a:bodyPr/>
          <a:lstStyle/>
          <a:p/>
        </p:txBody>
      </p:sp>
      <p:sp>
        <p:nvSpPr>
          <p:cNvPr id="40" name="Oval 40"/>
          <p:cNvSpPr/>
          <p:nvPr/>
        </p:nvSpPr>
        <p:spPr>
          <a:xfrm>
            <a:off x="1554673" y="2074819"/>
            <a:ext cx="57150" cy="57150"/>
          </a:xfrm>
          <a:prstGeom prst="ellipse">
            <a:avLst/>
          </a:prstGeom>
          <a:solidFill>
            <a:srgbClr val="00A878"/>
          </a:solidFill>
          <a:ln>
            <a:noFill/>
          </a:ln>
        </p:spPr>
        <p:txBody>
          <a:bodyPr/>
          <a:lstStyle/>
          <a:p/>
        </p:txBody>
      </p:sp>
      <p:sp>
        <p:nvSpPr>
          <p:cNvPr id="41" name="TextBox 41"/>
          <p:cNvSpPr txBox="1"/>
          <p:nvPr/>
        </p:nvSpPr>
        <p:spPr>
          <a:xfrm>
            <a:off x="1866900" y="1028700"/>
            <a:ext cx="1143000" cy="152400"/>
          </a:xfrm>
          <a:prstGeom prst="rect">
            <a:avLst/>
          </a:prstGeom>
          <a:noFill/>
        </p:spPr>
        <p:txBody>
          <a:bodyPr wrap="square" anchor="t" lIns="0" tIns="0" rIns="0" bIns="0">
            <a:noAutofit/>
          </a:bodyPr>
          <a:lstStyle/>
          <a:p>
            <a:pPr marL="0" indent="0" algn="ctr">
              <a:buNone/>
            </a:pPr>
            <a:r>
              <a:rPr lang="en-US" sz="950" b="1" dirty="0">
                <a:solidFill>
                  <a:srgbClr val="1B4F72"/>
                </a:solidFill>
                <a:latin typeface="Calibri"/>
                <a:cs typeface="Calibri"/>
              </a:rPr>
              <a:t>Sensitivity 78%</a:t>
            </a:r>
          </a:p>
        </p:txBody>
      </p:sp>
      <p:sp>
        <p:nvSpPr>
          <p:cNvPr id="42" name="TextBox 42"/>
          <p:cNvSpPr txBox="1"/>
          <p:nvPr/>
        </p:nvSpPr>
        <p:spPr>
          <a:xfrm>
            <a:off x="3181350" y="1911668"/>
            <a:ext cx="1238250" cy="152400"/>
          </a:xfrm>
          <a:prstGeom prst="rect">
            <a:avLst/>
          </a:prstGeom>
          <a:noFill/>
        </p:spPr>
        <p:txBody>
          <a:bodyPr wrap="square" anchor="t" lIns="0" tIns="0" rIns="0" bIns="0">
            <a:noAutofit/>
          </a:bodyPr>
          <a:lstStyle/>
          <a:p>
            <a:pPr marL="0" indent="0" algn="l">
              <a:buNone/>
            </a:pPr>
            <a:r>
              <a:rPr lang="en-US" sz="950" b="1" dirty="0">
                <a:solidFill>
                  <a:srgbClr val="1B4F72"/>
                </a:solidFill>
                <a:latin typeface="Calibri"/>
                <a:cs typeface="Calibri"/>
              </a:rPr>
              <a:t>Specificity 82%</a:t>
            </a:r>
          </a:p>
        </p:txBody>
      </p:sp>
      <p:sp>
        <p:nvSpPr>
          <p:cNvPr id="43" name="TextBox 43"/>
          <p:cNvSpPr txBox="1"/>
          <p:nvPr/>
        </p:nvSpPr>
        <p:spPr>
          <a:xfrm>
            <a:off x="2307908" y="3562350"/>
            <a:ext cx="1238250" cy="152400"/>
          </a:xfrm>
          <a:prstGeom prst="rect">
            <a:avLst/>
          </a:prstGeom>
          <a:noFill/>
        </p:spPr>
        <p:txBody>
          <a:bodyPr wrap="square" anchor="t" lIns="0" tIns="0" rIns="0" bIns="0">
            <a:noAutofit/>
          </a:bodyPr>
          <a:lstStyle/>
          <a:p>
            <a:pPr marL="0" indent="0" algn="ctr">
              <a:buNone/>
            </a:pPr>
            <a:r>
              <a:rPr lang="en-US" sz="950" b="1" dirty="0">
                <a:solidFill>
                  <a:srgbClr val="1B4F72"/>
                </a:solidFill>
                <a:latin typeface="Calibri"/>
                <a:cs typeface="Calibri"/>
              </a:rPr>
              <a:t>AUC-ROC 0.85</a:t>
            </a:r>
          </a:p>
        </p:txBody>
      </p:sp>
      <p:sp>
        <p:nvSpPr>
          <p:cNvPr id="44" name="TextBox 44"/>
          <p:cNvSpPr txBox="1"/>
          <p:nvPr/>
        </p:nvSpPr>
        <p:spPr>
          <a:xfrm>
            <a:off x="1163002" y="3562350"/>
            <a:ext cx="1238250" cy="152400"/>
          </a:xfrm>
          <a:prstGeom prst="rect">
            <a:avLst/>
          </a:prstGeom>
          <a:noFill/>
        </p:spPr>
        <p:txBody>
          <a:bodyPr wrap="square" anchor="t" lIns="0" tIns="0" rIns="0" bIns="0">
            <a:noAutofit/>
          </a:bodyPr>
          <a:lstStyle/>
          <a:p>
            <a:pPr marL="0" indent="0" algn="ctr">
              <a:buNone/>
            </a:pPr>
            <a:r>
              <a:rPr lang="en-US" sz="950" b="1" dirty="0">
                <a:solidFill>
                  <a:srgbClr val="1B4F72"/>
                </a:solidFill>
                <a:latin typeface="Calibri"/>
                <a:cs typeface="Calibri"/>
              </a:rPr>
              <a:t>Accuracy 81%</a:t>
            </a:r>
          </a:p>
        </p:txBody>
      </p:sp>
      <p:sp>
        <p:nvSpPr>
          <p:cNvPr id="45" name="TextBox 45"/>
          <p:cNvSpPr txBox="1"/>
          <p:nvPr/>
        </p:nvSpPr>
        <p:spPr>
          <a:xfrm>
            <a:off x="76200" y="1911668"/>
            <a:ext cx="1238250" cy="152400"/>
          </a:xfrm>
          <a:prstGeom prst="rect">
            <a:avLst/>
          </a:prstGeom>
          <a:noFill/>
        </p:spPr>
        <p:txBody>
          <a:bodyPr wrap="square" anchor="t" lIns="0" tIns="0" rIns="0" bIns="0">
            <a:noAutofit/>
          </a:bodyPr>
          <a:lstStyle/>
          <a:p>
            <a:pPr marL="0" indent="0" algn="r">
              <a:buNone/>
            </a:pPr>
            <a:r>
              <a:rPr lang="en-US" sz="950" b="1" dirty="0">
                <a:solidFill>
                  <a:srgbClr val="1B4F72"/>
                </a:solidFill>
                <a:latin typeface="Calibri"/>
                <a:cs typeface="Calibri"/>
              </a:rPr>
              <a:t>F1 Score 0.80</a:t>
            </a:r>
          </a:p>
        </p:txBody>
      </p:sp>
      <p:sp>
        <p:nvSpPr>
          <p:cNvPr id="46" name="TextBox 46"/>
          <p:cNvSpPr txBox="1"/>
          <p:nvPr/>
        </p:nvSpPr>
        <p:spPr>
          <a:xfrm>
            <a:off x="4914900" y="876300"/>
            <a:ext cx="6743700" cy="171450"/>
          </a:xfrm>
          <a:prstGeom prst="rect">
            <a:avLst/>
          </a:prstGeom>
          <a:noFill/>
        </p:spPr>
        <p:txBody>
          <a:bodyPr wrap="square" anchor="t" lIns="0" tIns="0" rIns="0" bIns="0">
            <a:noAutofit/>
          </a:bodyPr>
          <a:lstStyle/>
          <a:p>
            <a:pPr marL="0" indent="0" algn="l">
              <a:buNone/>
            </a:pPr>
            <a:r>
              <a:rPr lang="en-US" sz="1150" b="1" dirty="0">
                <a:solidFill>
                  <a:srgbClr val="1B4F72"/>
                </a:solidFill>
                <a:latin typeface="Calibri"/>
                <a:cs typeface="Calibri"/>
              </a:rPr>
              <a:t>COMPARISON: NEPHROALERT VS EXISTING APPROACH</a:t>
            </a:r>
          </a:p>
        </p:txBody>
      </p:sp>
      <p:graphicFrame>
        <p:nvGraphicFramePr>
          <p:cNvPr id="47" name="Table 47"/>
          <p:cNvGraphicFramePr>
            <a:graphicFrameLocks noGrp="1"/>
          </p:cNvGraphicFramePr>
          <p:nvPr/>
        </p:nvGraphicFramePr>
        <p:xfrm>
          <a:off x="4914900" y="1085850"/>
          <a:ext cx="6743700" cy="2228850"/>
        </p:xfrm>
        <a:graphic>
          <a:graphicData uri="http://schemas.openxmlformats.org/drawingml/2006/table">
            <a:tbl>
              <a:tblPr firstRow="1" bandRow="1"/>
              <a:tblGrid>
                <a:gridCol w="2562606"/>
                <a:gridCol w="2090547"/>
                <a:gridCol w="2090547"/>
              </a:tblGrid>
              <a:tr h="247650">
                <a:tc>
                  <a:txBody>
                    <a:bodyPr wrap="square" lIns="36576" tIns="18288" rIns="36576" bIns="18288" anchor="ctr"/>
                    <a:lstStyle/>
                    <a:p>
                      <a:pPr marL="0" indent="0" algn="ctr">
                        <a:buNone/>
                      </a:pPr>
                      <a:r>
                        <a:rPr lang="en-US" sz="1000" b="1" dirty="0">
                          <a:solidFill>
                            <a:srgbClr val="FFFFFF"/>
                          </a:solidFill>
                          <a:latin typeface="Calibri"/>
                          <a:cs typeface="Calibri"/>
                        </a:rPr>
                        <a:t>Metric</a:t>
                      </a:r>
                    </a:p>
                  </a:txBody>
                  <a:tcPr marL="36576" marR="36576" marT="18288" marB="18288" anchor="ctr">
                    <a:solidFill>
                      <a:srgbClr val="1B4F72"/>
                    </a:solidFill>
                    <a:lnL w="6350">
                      <a:solidFill>
                        <a:srgbClr val="E3E7E9"/>
                      </a:solidFill>
                    </a:lnL>
                    <a:lnR w="6350">
                      <a:solidFill>
                        <a:srgbClr val="E3E7E9"/>
                      </a:solidFill>
                    </a:lnR>
                    <a:lnT w="6350">
                      <a:solidFill>
                        <a:srgbClr val="E3E7E9"/>
                      </a:solidFill>
                    </a:lnT>
                    <a:lnB w="6350">
                      <a:solidFill>
                        <a:srgbClr val="E3E7E9"/>
                      </a:solidFill>
                    </a:lnB>
                  </a:tcPr>
                </a:tc>
                <a:tc>
                  <a:txBody>
                    <a:bodyPr wrap="square" lIns="36576" tIns="18288" rIns="36576" bIns="18288" anchor="ctr"/>
                    <a:lstStyle/>
                    <a:p>
                      <a:pPr marL="0" indent="0" algn="ctr">
                        <a:buNone/>
                      </a:pPr>
                      <a:r>
                        <a:rPr lang="en-US" sz="1000" b="1" dirty="0">
                          <a:solidFill>
                            <a:srgbClr val="FFFFFF"/>
                          </a:solidFill>
                          <a:latin typeface="Calibri"/>
                          <a:cs typeface="Calibri"/>
                        </a:rPr>
                        <a:t>Traditional</a:t>
                      </a:r>
                    </a:p>
                  </a:txBody>
                  <a:tcPr marL="36576" marR="36576" marT="18288" marB="18288" anchor="ctr">
                    <a:solidFill>
                      <a:srgbClr val="1B4F72"/>
                    </a:solidFill>
                    <a:lnL w="6350">
                      <a:solidFill>
                        <a:srgbClr val="E3E7E9"/>
                      </a:solidFill>
                    </a:lnL>
                    <a:lnR w="6350">
                      <a:solidFill>
                        <a:srgbClr val="E3E7E9"/>
                      </a:solidFill>
                    </a:lnR>
                    <a:lnT w="6350">
                      <a:solidFill>
                        <a:srgbClr val="E3E7E9"/>
                      </a:solidFill>
                    </a:lnT>
                    <a:lnB w="6350">
                      <a:solidFill>
                        <a:srgbClr val="E3E7E9"/>
                      </a:solidFill>
                    </a:lnB>
                  </a:tcPr>
                </a:tc>
                <a:tc>
                  <a:txBody>
                    <a:bodyPr wrap="square" lIns="36576" tIns="18288" rIns="36576" bIns="18288" anchor="ctr"/>
                    <a:lstStyle/>
                    <a:p>
                      <a:pPr marL="0" indent="0" algn="ctr">
                        <a:buNone/>
                      </a:pPr>
                      <a:r>
                        <a:rPr lang="en-US" sz="1000" b="1" dirty="0">
                          <a:solidFill>
                            <a:srgbClr val="FFFFFF"/>
                          </a:solidFill>
                          <a:latin typeface="Calibri"/>
                          <a:cs typeface="Calibri"/>
                        </a:rPr>
                        <a:t>NephroAlert</a:t>
                      </a:r>
                    </a:p>
                  </a:txBody>
                  <a:tcPr marL="36576" marR="36576" marT="18288" marB="18288" anchor="ctr">
                    <a:solidFill>
                      <a:srgbClr val="1B4F72"/>
                    </a:solidFill>
                    <a:lnL w="6350">
                      <a:solidFill>
                        <a:srgbClr val="E3E7E9"/>
                      </a:solidFill>
                    </a:lnL>
                    <a:lnR w="6350">
                      <a:solidFill>
                        <a:srgbClr val="E3E7E9"/>
                      </a:solidFill>
                    </a:lnR>
                    <a:lnT w="6350">
                      <a:solidFill>
                        <a:srgbClr val="E3E7E9"/>
                      </a:solidFill>
                    </a:lnT>
                    <a:lnB w="6350">
                      <a:solidFill>
                        <a:srgbClr val="E3E7E9"/>
                      </a:solidFill>
                    </a:lnB>
                  </a:tcPr>
                </a:tc>
              </a:tr>
              <a:tr h="247650">
                <a:tc>
                  <a:txBody>
                    <a:bodyPr wrap="square" lIns="36576" tIns="18288" rIns="36576" bIns="18288" anchor="ctr"/>
                    <a:lstStyle/>
                    <a:p>
                      <a:pPr marL="0" indent="0" algn="l">
                        <a:buNone/>
                      </a:pPr>
                      <a:r>
                        <a:rPr lang="en-US" sz="1000" dirty="0">
                          <a:solidFill>
                            <a:srgbClr val="2C3E50"/>
                          </a:solidFill>
                          <a:latin typeface="Calibri"/>
                          <a:cs typeface="Calibri"/>
                        </a:rPr>
                        <a:t>Detection timing</a:t>
                      </a:r>
                    </a:p>
                  </a:txBody>
                  <a:tcPr marL="36576" marR="36576" marT="18288" marB="18288" anchor="ctr">
                    <a:solidFill>
                      <a:srgbClr val="FFFFFF"/>
                    </a:solidFill>
                    <a:lnL w="6350">
                      <a:solidFill>
                        <a:srgbClr val="E3E7E9"/>
                      </a:solidFill>
                    </a:lnL>
                    <a:lnR w="6350">
                      <a:solidFill>
                        <a:srgbClr val="E3E7E9"/>
                      </a:solidFill>
                    </a:lnR>
                    <a:lnT w="6350">
                      <a:solidFill>
                        <a:srgbClr val="E3E7E9"/>
                      </a:solidFill>
                    </a:lnT>
                    <a:lnB w="6350">
                      <a:solidFill>
                        <a:srgbClr val="E3E7E9"/>
                      </a:solidFill>
                    </a:lnB>
                  </a:tcPr>
                </a:tc>
                <a:tc>
                  <a:txBody>
                    <a:bodyPr wrap="square" lIns="36576" tIns="18288" rIns="36576" bIns="18288" anchor="ctr"/>
                    <a:lstStyle/>
                    <a:p>
                      <a:pPr marL="0" indent="0" algn="l">
                        <a:buNone/>
                      </a:pPr>
                      <a:r>
                        <a:rPr lang="en-US" sz="1000" dirty="0">
                          <a:solidFill>
                            <a:srgbClr val="2C3E50"/>
                          </a:solidFill>
                          <a:latin typeface="Calibri"/>
                          <a:cs typeface="Calibri"/>
                        </a:rPr>
                        <a:t>Stage 4</a:t>
                      </a:r>
                    </a:p>
                  </a:txBody>
                  <a:tcPr marL="36576" marR="36576" marT="18288" marB="18288" anchor="ctr">
                    <a:solidFill>
                      <a:srgbClr val="FFFFFF"/>
                    </a:solidFill>
                    <a:lnL w="6350">
                      <a:solidFill>
                        <a:srgbClr val="E3E7E9"/>
                      </a:solidFill>
                    </a:lnL>
                    <a:lnR w="6350">
                      <a:solidFill>
                        <a:srgbClr val="E3E7E9"/>
                      </a:solidFill>
                    </a:lnR>
                    <a:lnT w="6350">
                      <a:solidFill>
                        <a:srgbClr val="E3E7E9"/>
                      </a:solidFill>
                    </a:lnT>
                    <a:lnB w="6350">
                      <a:solidFill>
                        <a:srgbClr val="E3E7E9"/>
                      </a:solidFill>
                    </a:lnB>
                  </a:tcPr>
                </a:tc>
                <a:tc>
                  <a:txBody>
                    <a:bodyPr wrap="square" lIns="36576" tIns="18288" rIns="36576" bIns="18288" anchor="ctr"/>
                    <a:lstStyle/>
                    <a:p>
                      <a:pPr marL="0" indent="0" algn="l">
                        <a:buNone/>
                      </a:pPr>
                      <a:r>
                        <a:rPr lang="en-US" sz="1000" b="1" dirty="0">
                          <a:solidFill>
                            <a:srgbClr val="00A878"/>
                          </a:solidFill>
                          <a:latin typeface="Calibri"/>
                          <a:cs typeface="Calibri"/>
                        </a:rPr>
                        <a:t>Stage 2–3</a:t>
                      </a:r>
                    </a:p>
                  </a:txBody>
                  <a:tcPr marL="36576" marR="36576" marT="18288" marB="18288" anchor="ctr">
                    <a:solidFill>
                      <a:srgbClr val="FFFFFF"/>
                    </a:solidFill>
                    <a:lnL w="6350">
                      <a:solidFill>
                        <a:srgbClr val="E3E7E9"/>
                      </a:solidFill>
                    </a:lnL>
                    <a:lnR w="6350">
                      <a:solidFill>
                        <a:srgbClr val="E3E7E9"/>
                      </a:solidFill>
                    </a:lnR>
                    <a:lnT w="6350">
                      <a:solidFill>
                        <a:srgbClr val="E3E7E9"/>
                      </a:solidFill>
                    </a:lnT>
                    <a:lnB w="6350">
                      <a:solidFill>
                        <a:srgbClr val="E3E7E9"/>
                      </a:solidFill>
                    </a:lnB>
                  </a:tcPr>
                </a:tc>
              </a:tr>
              <a:tr h="247650">
                <a:tc>
                  <a:txBody>
                    <a:bodyPr wrap="square" lIns="36576" tIns="18288" rIns="36576" bIns="18288" anchor="ctr"/>
                    <a:lstStyle/>
                    <a:p>
                      <a:pPr marL="0" indent="0" algn="l">
                        <a:buNone/>
                      </a:pPr>
                      <a:r>
                        <a:rPr lang="en-US" sz="1000" dirty="0">
                          <a:solidFill>
                            <a:srgbClr val="2C3E50"/>
                          </a:solidFill>
                          <a:latin typeface="Calibri"/>
                          <a:cs typeface="Calibri"/>
                        </a:rPr>
                        <a:t>Data used</a:t>
                      </a:r>
                    </a:p>
                  </a:txBody>
                  <a:tcPr marL="36576" marR="36576" marT="18288" marB="18288" anchor="ctr">
                    <a:solidFill>
                      <a:srgbClr val="E3E7E9"/>
                    </a:solidFill>
                    <a:lnL w="6350">
                      <a:solidFill>
                        <a:srgbClr val="E3E7E9"/>
                      </a:solidFill>
                    </a:lnL>
                    <a:lnR w="6350">
                      <a:solidFill>
                        <a:srgbClr val="E3E7E9"/>
                      </a:solidFill>
                    </a:lnR>
                    <a:lnT w="6350">
                      <a:solidFill>
                        <a:srgbClr val="E3E7E9"/>
                      </a:solidFill>
                    </a:lnT>
                    <a:lnB w="6350">
                      <a:solidFill>
                        <a:srgbClr val="E3E7E9"/>
                      </a:solidFill>
                    </a:lnB>
                  </a:tcPr>
                </a:tc>
                <a:tc>
                  <a:txBody>
                    <a:bodyPr wrap="square" lIns="36576" tIns="18288" rIns="36576" bIns="18288" anchor="ctr"/>
                    <a:lstStyle/>
                    <a:p>
                      <a:pPr marL="0" indent="0" algn="l">
                        <a:buNone/>
                      </a:pPr>
                      <a:r>
                        <a:rPr lang="en-US" sz="1000" dirty="0">
                          <a:solidFill>
                            <a:srgbClr val="2C3E50"/>
                          </a:solidFill>
                          <a:latin typeface="Calibri"/>
                          <a:cs typeface="Calibri"/>
                        </a:rPr>
                        <a:t>Single visit</a:t>
                      </a:r>
                    </a:p>
                  </a:txBody>
                  <a:tcPr marL="36576" marR="36576" marT="18288" marB="18288" anchor="ctr">
                    <a:solidFill>
                      <a:srgbClr val="E3E7E9"/>
                    </a:solidFill>
                    <a:lnL w="6350">
                      <a:solidFill>
                        <a:srgbClr val="E3E7E9"/>
                      </a:solidFill>
                    </a:lnL>
                    <a:lnR w="6350">
                      <a:solidFill>
                        <a:srgbClr val="E3E7E9"/>
                      </a:solidFill>
                    </a:lnR>
                    <a:lnT w="6350">
                      <a:solidFill>
                        <a:srgbClr val="E3E7E9"/>
                      </a:solidFill>
                    </a:lnT>
                    <a:lnB w="6350">
                      <a:solidFill>
                        <a:srgbClr val="E3E7E9"/>
                      </a:solidFill>
                    </a:lnB>
                  </a:tcPr>
                </a:tc>
                <a:tc>
                  <a:txBody>
                    <a:bodyPr wrap="square" lIns="36576" tIns="18288" rIns="36576" bIns="18288" anchor="ctr"/>
                    <a:lstStyle/>
                    <a:p>
                      <a:pPr marL="0" indent="0" algn="l">
                        <a:buNone/>
                      </a:pPr>
                      <a:r>
                        <a:rPr lang="en-US" sz="1000" b="1" dirty="0">
                          <a:solidFill>
                            <a:srgbClr val="00A878"/>
                          </a:solidFill>
                          <a:latin typeface="Calibri"/>
                          <a:cs typeface="Calibri"/>
                        </a:rPr>
                        <a:t>3–6 visits</a:t>
                      </a:r>
                    </a:p>
                  </a:txBody>
                  <a:tcPr marL="36576" marR="36576" marT="18288" marB="18288" anchor="ctr">
                    <a:solidFill>
                      <a:srgbClr val="E3E7E9"/>
                    </a:solidFill>
                    <a:lnL w="6350">
                      <a:solidFill>
                        <a:srgbClr val="E3E7E9"/>
                      </a:solidFill>
                    </a:lnL>
                    <a:lnR w="6350">
                      <a:solidFill>
                        <a:srgbClr val="E3E7E9"/>
                      </a:solidFill>
                    </a:lnR>
                    <a:lnT w="6350">
                      <a:solidFill>
                        <a:srgbClr val="E3E7E9"/>
                      </a:solidFill>
                    </a:lnT>
                    <a:lnB w="6350">
                      <a:solidFill>
                        <a:srgbClr val="E3E7E9"/>
                      </a:solidFill>
                    </a:lnB>
                  </a:tcPr>
                </a:tc>
              </a:tr>
              <a:tr h="247650">
                <a:tc>
                  <a:txBody>
                    <a:bodyPr wrap="square" lIns="36576" tIns="18288" rIns="36576" bIns="18288" anchor="ctr"/>
                    <a:lstStyle/>
                    <a:p>
                      <a:pPr marL="0" indent="0" algn="l">
                        <a:buNone/>
                      </a:pPr>
                      <a:r>
                        <a:rPr lang="en-US" sz="1000" dirty="0">
                          <a:solidFill>
                            <a:srgbClr val="2C3E50"/>
                          </a:solidFill>
                          <a:latin typeface="Calibri"/>
                          <a:cs typeface="Calibri"/>
                        </a:rPr>
                        <a:t>Doctor time</a:t>
                      </a:r>
                    </a:p>
                  </a:txBody>
                  <a:tcPr marL="36576" marR="36576" marT="18288" marB="18288" anchor="ctr">
                    <a:solidFill>
                      <a:srgbClr val="FFFFFF"/>
                    </a:solidFill>
                    <a:lnL w="6350">
                      <a:solidFill>
                        <a:srgbClr val="E3E7E9"/>
                      </a:solidFill>
                    </a:lnL>
                    <a:lnR w="6350">
                      <a:solidFill>
                        <a:srgbClr val="E3E7E9"/>
                      </a:solidFill>
                    </a:lnR>
                    <a:lnT w="6350">
                      <a:solidFill>
                        <a:srgbClr val="E3E7E9"/>
                      </a:solidFill>
                    </a:lnT>
                    <a:lnB w="6350">
                      <a:solidFill>
                        <a:srgbClr val="E3E7E9"/>
                      </a:solidFill>
                    </a:lnB>
                  </a:tcPr>
                </a:tc>
                <a:tc>
                  <a:txBody>
                    <a:bodyPr wrap="square" lIns="36576" tIns="18288" rIns="36576" bIns="18288" anchor="ctr"/>
                    <a:lstStyle/>
                    <a:p>
                      <a:pPr marL="0" indent="0" algn="l">
                        <a:buNone/>
                      </a:pPr>
                      <a:r>
                        <a:rPr lang="en-US" sz="1000" dirty="0">
                          <a:solidFill>
                            <a:srgbClr val="2C3E50"/>
                          </a:solidFill>
                          <a:latin typeface="Calibri"/>
                          <a:cs typeface="Calibri"/>
                        </a:rPr>
                        <a:t>5+ minutes</a:t>
                      </a:r>
                    </a:p>
                  </a:txBody>
                  <a:tcPr marL="36576" marR="36576" marT="18288" marB="18288" anchor="ctr">
                    <a:solidFill>
                      <a:srgbClr val="FFFFFF"/>
                    </a:solidFill>
                    <a:lnL w="6350">
                      <a:solidFill>
                        <a:srgbClr val="E3E7E9"/>
                      </a:solidFill>
                    </a:lnL>
                    <a:lnR w="6350">
                      <a:solidFill>
                        <a:srgbClr val="E3E7E9"/>
                      </a:solidFill>
                    </a:lnR>
                    <a:lnT w="6350">
                      <a:solidFill>
                        <a:srgbClr val="E3E7E9"/>
                      </a:solidFill>
                    </a:lnT>
                    <a:lnB w="6350">
                      <a:solidFill>
                        <a:srgbClr val="E3E7E9"/>
                      </a:solidFill>
                    </a:lnB>
                  </a:tcPr>
                </a:tc>
                <a:tc>
                  <a:txBody>
                    <a:bodyPr wrap="square" lIns="36576" tIns="18288" rIns="36576" bIns="18288" anchor="ctr"/>
                    <a:lstStyle/>
                    <a:p>
                      <a:pPr marL="0" indent="0" algn="l">
                        <a:buNone/>
                      </a:pPr>
                      <a:r>
                        <a:rPr lang="en-US" sz="1000" b="1" dirty="0">
                          <a:solidFill>
                            <a:srgbClr val="00A878"/>
                          </a:solidFill>
                          <a:latin typeface="Calibri"/>
                          <a:cs typeface="Calibri"/>
                        </a:rPr>
                        <a:t>30 seconds</a:t>
                      </a:r>
                    </a:p>
                  </a:txBody>
                  <a:tcPr marL="36576" marR="36576" marT="18288" marB="18288" anchor="ctr">
                    <a:solidFill>
                      <a:srgbClr val="FFFFFF"/>
                    </a:solidFill>
                    <a:lnL w="6350">
                      <a:solidFill>
                        <a:srgbClr val="E3E7E9"/>
                      </a:solidFill>
                    </a:lnL>
                    <a:lnR w="6350">
                      <a:solidFill>
                        <a:srgbClr val="E3E7E9"/>
                      </a:solidFill>
                    </a:lnR>
                    <a:lnT w="6350">
                      <a:solidFill>
                        <a:srgbClr val="E3E7E9"/>
                      </a:solidFill>
                    </a:lnT>
                    <a:lnB w="6350">
                      <a:solidFill>
                        <a:srgbClr val="E3E7E9"/>
                      </a:solidFill>
                    </a:lnB>
                  </a:tcPr>
                </a:tc>
              </a:tr>
              <a:tr h="247650">
                <a:tc>
                  <a:txBody>
                    <a:bodyPr wrap="square" lIns="36576" tIns="18288" rIns="36576" bIns="18288" anchor="ctr"/>
                    <a:lstStyle/>
                    <a:p>
                      <a:pPr marL="0" indent="0" algn="l">
                        <a:buNone/>
                      </a:pPr>
                      <a:r>
                        <a:rPr lang="en-US" sz="1000" dirty="0">
                          <a:solidFill>
                            <a:srgbClr val="2C3E50"/>
                          </a:solidFill>
                          <a:latin typeface="Calibri"/>
                          <a:cs typeface="Calibri"/>
                        </a:rPr>
                        <a:t>Tamil output</a:t>
                      </a:r>
                    </a:p>
                  </a:txBody>
                  <a:tcPr marL="36576" marR="36576" marT="18288" marB="18288" anchor="ctr">
                    <a:solidFill>
                      <a:srgbClr val="E3E7E9"/>
                    </a:solidFill>
                    <a:lnL w="6350">
                      <a:solidFill>
                        <a:srgbClr val="E3E7E9"/>
                      </a:solidFill>
                    </a:lnL>
                    <a:lnR w="6350">
                      <a:solidFill>
                        <a:srgbClr val="E3E7E9"/>
                      </a:solidFill>
                    </a:lnR>
                    <a:lnT w="6350">
                      <a:solidFill>
                        <a:srgbClr val="E3E7E9"/>
                      </a:solidFill>
                    </a:lnT>
                    <a:lnB w="6350">
                      <a:solidFill>
                        <a:srgbClr val="E3E7E9"/>
                      </a:solidFill>
                    </a:lnB>
                  </a:tcPr>
                </a:tc>
                <a:tc>
                  <a:txBody>
                    <a:bodyPr wrap="square" lIns="36576" tIns="18288" rIns="36576" bIns="18288" anchor="ctr"/>
                    <a:lstStyle/>
                    <a:p>
                      <a:pPr marL="0" indent="0" algn="l">
                        <a:buNone/>
                      </a:pPr>
                      <a:r>
                        <a:rPr lang="en-US" sz="1000" dirty="0">
                          <a:solidFill>
                            <a:srgbClr val="2C3E50"/>
                          </a:solidFill>
                          <a:latin typeface="Calibri"/>
                          <a:cs typeface="Calibri"/>
                        </a:rPr>
                        <a:t>None</a:t>
                      </a:r>
                    </a:p>
                  </a:txBody>
                  <a:tcPr marL="36576" marR="36576" marT="18288" marB="18288" anchor="ctr">
                    <a:solidFill>
                      <a:srgbClr val="E3E7E9"/>
                    </a:solidFill>
                    <a:lnL w="6350">
                      <a:solidFill>
                        <a:srgbClr val="E3E7E9"/>
                      </a:solidFill>
                    </a:lnL>
                    <a:lnR w="6350">
                      <a:solidFill>
                        <a:srgbClr val="E3E7E9"/>
                      </a:solidFill>
                    </a:lnR>
                    <a:lnT w="6350">
                      <a:solidFill>
                        <a:srgbClr val="E3E7E9"/>
                      </a:solidFill>
                    </a:lnT>
                    <a:lnB w="6350">
                      <a:solidFill>
                        <a:srgbClr val="E3E7E9"/>
                      </a:solidFill>
                    </a:lnB>
                  </a:tcPr>
                </a:tc>
                <a:tc>
                  <a:txBody>
                    <a:bodyPr wrap="square" lIns="36576" tIns="18288" rIns="36576" bIns="18288" anchor="ctr"/>
                    <a:lstStyle/>
                    <a:p>
                      <a:pPr marL="0" indent="0" algn="l">
                        <a:buNone/>
                      </a:pPr>
                      <a:r>
                        <a:rPr lang="en-US" sz="1000" b="1" dirty="0">
                          <a:solidFill>
                            <a:srgbClr val="00A878"/>
                          </a:solidFill>
                          <a:latin typeface="Calibri"/>
                          <a:cs typeface="Calibri"/>
                        </a:rPr>
                        <a:t>Full</a:t>
                      </a:r>
                    </a:p>
                  </a:txBody>
                  <a:tcPr marL="36576" marR="36576" marT="18288" marB="18288" anchor="ctr">
                    <a:solidFill>
                      <a:srgbClr val="E3E7E9"/>
                    </a:solidFill>
                    <a:lnL w="6350">
                      <a:solidFill>
                        <a:srgbClr val="E3E7E9"/>
                      </a:solidFill>
                    </a:lnL>
                    <a:lnR w="6350">
                      <a:solidFill>
                        <a:srgbClr val="E3E7E9"/>
                      </a:solidFill>
                    </a:lnR>
                    <a:lnT w="6350">
                      <a:solidFill>
                        <a:srgbClr val="E3E7E9"/>
                      </a:solidFill>
                    </a:lnT>
                    <a:lnB w="6350">
                      <a:solidFill>
                        <a:srgbClr val="E3E7E9"/>
                      </a:solidFill>
                    </a:lnB>
                  </a:tcPr>
                </a:tc>
              </a:tr>
              <a:tr h="247650">
                <a:tc>
                  <a:txBody>
                    <a:bodyPr wrap="square" lIns="36576" tIns="18288" rIns="36576" bIns="18288" anchor="ctr"/>
                    <a:lstStyle/>
                    <a:p>
                      <a:pPr marL="0" indent="0" algn="l">
                        <a:buNone/>
                      </a:pPr>
                      <a:r>
                        <a:rPr lang="en-US" sz="1000" dirty="0">
                          <a:solidFill>
                            <a:srgbClr val="2C3E50"/>
                          </a:solidFill>
                          <a:latin typeface="Calibri"/>
                          <a:cs typeface="Calibri"/>
                        </a:rPr>
                        <a:t>Cost to PHC</a:t>
                      </a:r>
                    </a:p>
                  </a:txBody>
                  <a:tcPr marL="36576" marR="36576" marT="18288" marB="18288" anchor="ctr">
                    <a:solidFill>
                      <a:srgbClr val="FFFFFF"/>
                    </a:solidFill>
                    <a:lnL w="6350">
                      <a:solidFill>
                        <a:srgbClr val="E3E7E9"/>
                      </a:solidFill>
                    </a:lnL>
                    <a:lnR w="6350">
                      <a:solidFill>
                        <a:srgbClr val="E3E7E9"/>
                      </a:solidFill>
                    </a:lnR>
                    <a:lnT w="6350">
                      <a:solidFill>
                        <a:srgbClr val="E3E7E9"/>
                      </a:solidFill>
                    </a:lnT>
                    <a:lnB w="6350">
                      <a:solidFill>
                        <a:srgbClr val="E3E7E9"/>
                      </a:solidFill>
                    </a:lnB>
                  </a:tcPr>
                </a:tc>
                <a:tc>
                  <a:txBody>
                    <a:bodyPr wrap="square" lIns="36576" tIns="18288" rIns="36576" bIns="18288" anchor="ctr"/>
                    <a:lstStyle/>
                    <a:p>
                      <a:pPr marL="0" indent="0" algn="l">
                        <a:buNone/>
                      </a:pPr>
                      <a:r>
                        <a:rPr lang="en-US" sz="1000" dirty="0">
                          <a:solidFill>
                            <a:srgbClr val="2C3E50"/>
                          </a:solidFill>
                          <a:latin typeface="Calibri"/>
                          <a:cs typeface="Calibri"/>
                        </a:rPr>
                        <a:t>High</a:t>
                      </a:r>
                    </a:p>
                  </a:txBody>
                  <a:tcPr marL="36576" marR="36576" marT="18288" marB="18288" anchor="ctr">
                    <a:solidFill>
                      <a:srgbClr val="FFFFFF"/>
                    </a:solidFill>
                    <a:lnL w="6350">
                      <a:solidFill>
                        <a:srgbClr val="E3E7E9"/>
                      </a:solidFill>
                    </a:lnL>
                    <a:lnR w="6350">
                      <a:solidFill>
                        <a:srgbClr val="E3E7E9"/>
                      </a:solidFill>
                    </a:lnR>
                    <a:lnT w="6350">
                      <a:solidFill>
                        <a:srgbClr val="E3E7E9"/>
                      </a:solidFill>
                    </a:lnT>
                    <a:lnB w="6350">
                      <a:solidFill>
                        <a:srgbClr val="E3E7E9"/>
                      </a:solidFill>
                    </a:lnB>
                  </a:tcPr>
                </a:tc>
                <a:tc>
                  <a:txBody>
                    <a:bodyPr wrap="square" lIns="36576" tIns="18288" rIns="36576" bIns="18288" anchor="ctr"/>
                    <a:lstStyle/>
                    <a:p>
                      <a:pPr marL="0" indent="0" algn="l">
                        <a:buNone/>
                      </a:pPr>
                      <a:r>
                        <a:rPr lang="en-US" sz="1000" b="1" dirty="0">
                          <a:solidFill>
                            <a:srgbClr val="00A878"/>
                          </a:solidFill>
                          <a:latin typeface="Calibri"/>
                          <a:cs typeface="Calibri"/>
                        </a:rPr>
                        <a:t>Zero</a:t>
                      </a:r>
                    </a:p>
                  </a:txBody>
                  <a:tcPr marL="36576" marR="36576" marT="18288" marB="18288" anchor="ctr">
                    <a:solidFill>
                      <a:srgbClr val="FFFFFF"/>
                    </a:solidFill>
                    <a:lnL w="6350">
                      <a:solidFill>
                        <a:srgbClr val="E3E7E9"/>
                      </a:solidFill>
                    </a:lnL>
                    <a:lnR w="6350">
                      <a:solidFill>
                        <a:srgbClr val="E3E7E9"/>
                      </a:solidFill>
                    </a:lnR>
                    <a:lnT w="6350">
                      <a:solidFill>
                        <a:srgbClr val="E3E7E9"/>
                      </a:solidFill>
                    </a:lnT>
                    <a:lnB w="6350">
                      <a:solidFill>
                        <a:srgbClr val="E3E7E9"/>
                      </a:solidFill>
                    </a:lnB>
                  </a:tcPr>
                </a:tc>
              </a:tr>
              <a:tr h="247650">
                <a:tc>
                  <a:txBody>
                    <a:bodyPr wrap="square" lIns="36576" tIns="18288" rIns="36576" bIns="18288" anchor="ctr"/>
                    <a:lstStyle/>
                    <a:p>
                      <a:pPr marL="0" indent="0" algn="l">
                        <a:buNone/>
                      </a:pPr>
                      <a:r>
                        <a:rPr lang="en-US" sz="1000" dirty="0">
                          <a:solidFill>
                            <a:srgbClr val="2C3E50"/>
                          </a:solidFill>
                          <a:latin typeface="Calibri"/>
                          <a:cs typeface="Calibri"/>
                        </a:rPr>
                        <a:t>Hardware needed</a:t>
                      </a:r>
                    </a:p>
                  </a:txBody>
                  <a:tcPr marL="36576" marR="36576" marT="18288" marB="18288" anchor="ctr">
                    <a:solidFill>
                      <a:srgbClr val="E3E7E9"/>
                    </a:solidFill>
                    <a:lnL w="6350">
                      <a:solidFill>
                        <a:srgbClr val="E3E7E9"/>
                      </a:solidFill>
                    </a:lnL>
                    <a:lnR w="6350">
                      <a:solidFill>
                        <a:srgbClr val="E3E7E9"/>
                      </a:solidFill>
                    </a:lnR>
                    <a:lnT w="6350">
                      <a:solidFill>
                        <a:srgbClr val="E3E7E9"/>
                      </a:solidFill>
                    </a:lnT>
                    <a:lnB w="6350">
                      <a:solidFill>
                        <a:srgbClr val="E3E7E9"/>
                      </a:solidFill>
                    </a:lnB>
                  </a:tcPr>
                </a:tc>
                <a:tc>
                  <a:txBody>
                    <a:bodyPr wrap="square" lIns="36576" tIns="18288" rIns="36576" bIns="18288" anchor="ctr"/>
                    <a:lstStyle/>
                    <a:p>
                      <a:pPr marL="0" indent="0" algn="l">
                        <a:buNone/>
                      </a:pPr>
                      <a:r>
                        <a:rPr lang="en-US" sz="1000" dirty="0">
                          <a:solidFill>
                            <a:srgbClr val="2C3E50"/>
                          </a:solidFill>
                          <a:latin typeface="Calibri"/>
                          <a:cs typeface="Calibri"/>
                        </a:rPr>
                        <a:t>Yes</a:t>
                      </a:r>
                    </a:p>
                  </a:txBody>
                  <a:tcPr marL="36576" marR="36576" marT="18288" marB="18288" anchor="ctr">
                    <a:solidFill>
                      <a:srgbClr val="E3E7E9"/>
                    </a:solidFill>
                    <a:lnL w="6350">
                      <a:solidFill>
                        <a:srgbClr val="E3E7E9"/>
                      </a:solidFill>
                    </a:lnL>
                    <a:lnR w="6350">
                      <a:solidFill>
                        <a:srgbClr val="E3E7E9"/>
                      </a:solidFill>
                    </a:lnR>
                    <a:lnT w="6350">
                      <a:solidFill>
                        <a:srgbClr val="E3E7E9"/>
                      </a:solidFill>
                    </a:lnT>
                    <a:lnB w="6350">
                      <a:solidFill>
                        <a:srgbClr val="E3E7E9"/>
                      </a:solidFill>
                    </a:lnB>
                  </a:tcPr>
                </a:tc>
                <a:tc>
                  <a:txBody>
                    <a:bodyPr wrap="square" lIns="36576" tIns="18288" rIns="36576" bIns="18288" anchor="ctr"/>
                    <a:lstStyle/>
                    <a:p>
                      <a:pPr marL="0" indent="0" algn="l">
                        <a:buNone/>
                      </a:pPr>
                      <a:r>
                        <a:rPr lang="en-US" sz="1000" b="1" dirty="0">
                          <a:solidFill>
                            <a:srgbClr val="00A878"/>
                          </a:solidFill>
                          <a:latin typeface="Calibri"/>
                          <a:cs typeface="Calibri"/>
                        </a:rPr>
                        <a:t>No</a:t>
                      </a:r>
                    </a:p>
                  </a:txBody>
                  <a:tcPr marL="36576" marR="36576" marT="18288" marB="18288" anchor="ctr">
                    <a:solidFill>
                      <a:srgbClr val="E3E7E9"/>
                    </a:solidFill>
                    <a:lnL w="6350">
                      <a:solidFill>
                        <a:srgbClr val="E3E7E9"/>
                      </a:solidFill>
                    </a:lnL>
                    <a:lnR w="6350">
                      <a:solidFill>
                        <a:srgbClr val="E3E7E9"/>
                      </a:solidFill>
                    </a:lnR>
                    <a:lnT w="6350">
                      <a:solidFill>
                        <a:srgbClr val="E3E7E9"/>
                      </a:solidFill>
                    </a:lnT>
                    <a:lnB w="6350">
                      <a:solidFill>
                        <a:srgbClr val="E3E7E9"/>
                      </a:solidFill>
                    </a:lnB>
                  </a:tcPr>
                </a:tc>
              </a:tr>
              <a:tr h="247650">
                <a:tc>
                  <a:txBody>
                    <a:bodyPr wrap="square" lIns="36576" tIns="18288" rIns="36576" bIns="18288" anchor="ctr"/>
                    <a:lstStyle/>
                    <a:p>
                      <a:pPr marL="0" indent="0" algn="l">
                        <a:buNone/>
                      </a:pPr>
                      <a:r>
                        <a:rPr lang="en-US" sz="1000" dirty="0">
                          <a:solidFill>
                            <a:srgbClr val="2C3E50"/>
                          </a:solidFill>
                          <a:latin typeface="Calibri"/>
                          <a:cs typeface="Calibri"/>
                        </a:rPr>
                        <a:t>Early warning</a:t>
                      </a:r>
                    </a:p>
                  </a:txBody>
                  <a:tcPr marL="36576" marR="36576" marT="18288" marB="18288" anchor="ctr">
                    <a:solidFill>
                      <a:srgbClr val="FFFFFF"/>
                    </a:solidFill>
                    <a:lnL w="6350">
                      <a:solidFill>
                        <a:srgbClr val="E3E7E9"/>
                      </a:solidFill>
                    </a:lnL>
                    <a:lnR w="6350">
                      <a:solidFill>
                        <a:srgbClr val="E3E7E9"/>
                      </a:solidFill>
                    </a:lnR>
                    <a:lnT w="6350">
                      <a:solidFill>
                        <a:srgbClr val="E3E7E9"/>
                      </a:solidFill>
                    </a:lnT>
                    <a:lnB w="6350">
                      <a:solidFill>
                        <a:srgbClr val="E3E7E9"/>
                      </a:solidFill>
                    </a:lnB>
                  </a:tcPr>
                </a:tc>
                <a:tc>
                  <a:txBody>
                    <a:bodyPr wrap="square" lIns="36576" tIns="18288" rIns="36576" bIns="18288" anchor="ctr"/>
                    <a:lstStyle/>
                    <a:p>
                      <a:pPr marL="0" indent="0" algn="l">
                        <a:buNone/>
                      </a:pPr>
                      <a:r>
                        <a:rPr lang="en-US" sz="1000" dirty="0">
                          <a:solidFill>
                            <a:srgbClr val="2C3E50"/>
                          </a:solidFill>
                          <a:latin typeface="Calibri"/>
                          <a:cs typeface="Calibri"/>
                        </a:rPr>
                        <a:t>No</a:t>
                      </a:r>
                    </a:p>
                  </a:txBody>
                  <a:tcPr marL="36576" marR="36576" marT="18288" marB="18288" anchor="ctr">
                    <a:solidFill>
                      <a:srgbClr val="FFFFFF"/>
                    </a:solidFill>
                    <a:lnL w="6350">
                      <a:solidFill>
                        <a:srgbClr val="E3E7E9"/>
                      </a:solidFill>
                    </a:lnL>
                    <a:lnR w="6350">
                      <a:solidFill>
                        <a:srgbClr val="E3E7E9"/>
                      </a:solidFill>
                    </a:lnR>
                    <a:lnT w="6350">
                      <a:solidFill>
                        <a:srgbClr val="E3E7E9"/>
                      </a:solidFill>
                    </a:lnT>
                    <a:lnB w="6350">
                      <a:solidFill>
                        <a:srgbClr val="E3E7E9"/>
                      </a:solidFill>
                    </a:lnB>
                  </a:tcPr>
                </a:tc>
                <a:tc>
                  <a:txBody>
                    <a:bodyPr wrap="square" lIns="36576" tIns="18288" rIns="36576" bIns="18288" anchor="ctr"/>
                    <a:lstStyle/>
                    <a:p>
                      <a:pPr marL="0" indent="0" algn="l">
                        <a:buNone/>
                      </a:pPr>
                      <a:r>
                        <a:rPr lang="en-US" sz="1000" b="1" dirty="0">
                          <a:solidFill>
                            <a:srgbClr val="00A878"/>
                          </a:solidFill>
                          <a:latin typeface="Calibri"/>
                          <a:cs typeface="Calibri"/>
                        </a:rPr>
                        <a:t>Yes</a:t>
                      </a:r>
                    </a:p>
                  </a:txBody>
                  <a:tcPr marL="36576" marR="36576" marT="18288" marB="18288" anchor="ctr">
                    <a:solidFill>
                      <a:srgbClr val="FFFFFF"/>
                    </a:solidFill>
                    <a:lnL w="6350">
                      <a:solidFill>
                        <a:srgbClr val="E3E7E9"/>
                      </a:solidFill>
                    </a:lnL>
                    <a:lnR w="6350">
                      <a:solidFill>
                        <a:srgbClr val="E3E7E9"/>
                      </a:solidFill>
                    </a:lnR>
                    <a:lnT w="6350">
                      <a:solidFill>
                        <a:srgbClr val="E3E7E9"/>
                      </a:solidFill>
                    </a:lnT>
                    <a:lnB w="6350">
                      <a:solidFill>
                        <a:srgbClr val="E3E7E9"/>
                      </a:solidFill>
                    </a:lnB>
                  </a:tcPr>
                </a:tc>
              </a:tr>
              <a:tr h="247650">
                <a:tc>
                  <a:txBody>
                    <a:bodyPr wrap="square" lIns="36576" tIns="18288" rIns="36576" bIns="18288" anchor="ctr"/>
                    <a:lstStyle/>
                    <a:p>
                      <a:pPr marL="0" indent="0" algn="l">
                        <a:buNone/>
                      </a:pPr>
                      <a:r>
                        <a:rPr lang="en-US" sz="1000" dirty="0">
                          <a:solidFill>
                            <a:srgbClr val="2C3E50"/>
                          </a:solidFill>
                          <a:latin typeface="Calibri"/>
                          <a:cs typeface="Calibri"/>
                        </a:rPr>
                        <a:t>Confidence score</a:t>
                      </a:r>
                    </a:p>
                  </a:txBody>
                  <a:tcPr marL="36576" marR="36576" marT="18288" marB="18288" anchor="ctr">
                    <a:solidFill>
                      <a:srgbClr val="E3E7E9"/>
                    </a:solidFill>
                    <a:lnL w="6350">
                      <a:solidFill>
                        <a:srgbClr val="E3E7E9"/>
                      </a:solidFill>
                    </a:lnL>
                    <a:lnR w="6350">
                      <a:solidFill>
                        <a:srgbClr val="E3E7E9"/>
                      </a:solidFill>
                    </a:lnR>
                    <a:lnT w="6350">
                      <a:solidFill>
                        <a:srgbClr val="E3E7E9"/>
                      </a:solidFill>
                    </a:lnT>
                    <a:lnB w="6350">
                      <a:solidFill>
                        <a:srgbClr val="E3E7E9"/>
                      </a:solidFill>
                    </a:lnB>
                  </a:tcPr>
                </a:tc>
                <a:tc>
                  <a:txBody>
                    <a:bodyPr wrap="square" lIns="36576" tIns="18288" rIns="36576" bIns="18288" anchor="ctr"/>
                    <a:lstStyle/>
                    <a:p>
                      <a:pPr marL="0" indent="0" algn="l">
                        <a:buNone/>
                      </a:pPr>
                      <a:r>
                        <a:rPr lang="en-US" sz="1000" dirty="0">
                          <a:solidFill>
                            <a:srgbClr val="2C3E50"/>
                          </a:solidFill>
                          <a:latin typeface="Calibri"/>
                          <a:cs typeface="Calibri"/>
                        </a:rPr>
                        <a:t>No</a:t>
                      </a:r>
                    </a:p>
                  </a:txBody>
                  <a:tcPr marL="36576" marR="36576" marT="18288" marB="18288" anchor="ctr">
                    <a:solidFill>
                      <a:srgbClr val="E3E7E9"/>
                    </a:solidFill>
                    <a:lnL w="6350">
                      <a:solidFill>
                        <a:srgbClr val="E3E7E9"/>
                      </a:solidFill>
                    </a:lnL>
                    <a:lnR w="6350">
                      <a:solidFill>
                        <a:srgbClr val="E3E7E9"/>
                      </a:solidFill>
                    </a:lnR>
                    <a:lnT w="6350">
                      <a:solidFill>
                        <a:srgbClr val="E3E7E9"/>
                      </a:solidFill>
                    </a:lnT>
                    <a:lnB w="6350">
                      <a:solidFill>
                        <a:srgbClr val="E3E7E9"/>
                      </a:solidFill>
                    </a:lnB>
                  </a:tcPr>
                </a:tc>
                <a:tc>
                  <a:txBody>
                    <a:bodyPr wrap="square" lIns="36576" tIns="18288" rIns="36576" bIns="18288" anchor="ctr"/>
                    <a:lstStyle/>
                    <a:p>
                      <a:pPr marL="0" indent="0" algn="l">
                        <a:buNone/>
                      </a:pPr>
                      <a:r>
                        <a:rPr lang="en-US" sz="1000" b="1" dirty="0">
                          <a:solidFill>
                            <a:srgbClr val="00A878"/>
                          </a:solidFill>
                          <a:latin typeface="Calibri"/>
                          <a:cs typeface="Calibri"/>
                        </a:rPr>
                        <a:t>Yes</a:t>
                      </a:r>
                    </a:p>
                  </a:txBody>
                  <a:tcPr marL="36576" marR="36576" marT="18288" marB="18288" anchor="ctr">
                    <a:solidFill>
                      <a:srgbClr val="E3E7E9"/>
                    </a:solidFill>
                    <a:lnL w="6350">
                      <a:solidFill>
                        <a:srgbClr val="E3E7E9"/>
                      </a:solidFill>
                    </a:lnL>
                    <a:lnR w="6350">
                      <a:solidFill>
                        <a:srgbClr val="E3E7E9"/>
                      </a:solidFill>
                    </a:lnR>
                    <a:lnT w="6350">
                      <a:solidFill>
                        <a:srgbClr val="E3E7E9"/>
                      </a:solidFill>
                    </a:lnT>
                    <a:lnB w="6350">
                      <a:solidFill>
                        <a:srgbClr val="E3E7E9"/>
                      </a:solidFill>
                    </a:lnB>
                  </a:tcPr>
                </a:tc>
              </a:tr>
            </a:tbl>
          </a:graphicData>
        </a:graphic>
      </p:graphicFrame>
      <p:sp>
        <p:nvSpPr>
          <p:cNvPr id="48" name="TextBox 48"/>
          <p:cNvSpPr txBox="1"/>
          <p:nvPr/>
        </p:nvSpPr>
        <p:spPr>
          <a:xfrm>
            <a:off x="533400" y="3657600"/>
            <a:ext cx="5715000" cy="171450"/>
          </a:xfrm>
          <a:prstGeom prst="rect">
            <a:avLst/>
          </a:prstGeom>
          <a:noFill/>
        </p:spPr>
        <p:txBody>
          <a:bodyPr wrap="square" anchor="t" lIns="0" tIns="0" rIns="0" bIns="0">
            <a:noAutofit/>
          </a:bodyPr>
          <a:lstStyle/>
          <a:p>
            <a:pPr marL="0" indent="0" algn="l">
              <a:buNone/>
            </a:pPr>
            <a:r>
              <a:rPr lang="en-US" sz="1200" b="1" dirty="0">
                <a:solidFill>
                  <a:srgbClr val="1B4F72"/>
                </a:solidFill>
                <a:latin typeface="Calibri"/>
                <a:cs typeface="Calibri"/>
              </a:rPr>
              <a:t>PILOT VALIDATION PLAN</a:t>
            </a:r>
          </a:p>
        </p:txBody>
      </p:sp>
      <p:sp>
        <p:nvSpPr>
          <p:cNvPr id="49" name="Rect 49"/>
          <p:cNvSpPr/>
          <p:nvPr/>
        </p:nvSpPr>
        <p:spPr>
          <a:xfrm>
            <a:off x="533400" y="3886200"/>
            <a:ext cx="2681288" cy="1238250"/>
          </a:xfrm>
          <a:prstGeom prst="roundRect">
            <a:avLst/>
          </a:prstGeom>
          <a:solidFill>
            <a:srgbClr val="F4F6F7"/>
          </a:solidFill>
          <a:ln w="12700">
            <a:solidFill>
              <a:srgbClr val="E3E7E9"/>
            </a:solidFill>
          </a:ln>
        </p:spPr>
        <p:txBody>
          <a:bodyPr/>
          <a:lstStyle/>
          <a:p/>
        </p:txBody>
      </p:sp>
      <p:sp>
        <p:nvSpPr>
          <p:cNvPr id="50" name="Rect 50"/>
          <p:cNvSpPr/>
          <p:nvPr/>
        </p:nvSpPr>
        <p:spPr>
          <a:xfrm>
            <a:off x="533400" y="3886200"/>
            <a:ext cx="2681288" cy="38100"/>
          </a:xfrm>
          <a:prstGeom prst="rect">
            <a:avLst/>
          </a:prstGeom>
          <a:solidFill>
            <a:srgbClr val="1B4F72"/>
          </a:solidFill>
          <a:ln>
            <a:noFill/>
          </a:ln>
        </p:spPr>
        <p:txBody>
          <a:bodyPr/>
          <a:lstStyle/>
          <a:p/>
        </p:txBody>
      </p:sp>
      <p:sp>
        <p:nvSpPr>
          <p:cNvPr id="51" name="TextBox 51"/>
          <p:cNvSpPr txBox="1"/>
          <p:nvPr/>
        </p:nvSpPr>
        <p:spPr>
          <a:xfrm>
            <a:off x="647700" y="3981450"/>
            <a:ext cx="2452688" cy="133350"/>
          </a:xfrm>
          <a:prstGeom prst="rect">
            <a:avLst/>
          </a:prstGeom>
          <a:noFill/>
        </p:spPr>
        <p:txBody>
          <a:bodyPr wrap="square" anchor="t" lIns="0" tIns="0" rIns="0" bIns="0">
            <a:noAutofit/>
          </a:bodyPr>
          <a:lstStyle/>
          <a:p>
            <a:pPr marL="0" indent="0" algn="l">
              <a:buNone/>
            </a:pPr>
            <a:r>
              <a:rPr lang="en-US" sz="880" b="1" dirty="0">
                <a:solidFill>
                  <a:srgbClr val="1B4F72"/>
                </a:solidFill>
                <a:latin typeface="Calibri"/>
                <a:cs typeface="Calibri"/>
              </a:rPr>
              <a:t>MONTH 1–2</a:t>
            </a:r>
          </a:p>
        </p:txBody>
      </p:sp>
      <p:sp>
        <p:nvSpPr>
          <p:cNvPr id="52" name="TextBox 52"/>
          <p:cNvSpPr txBox="1"/>
          <p:nvPr/>
        </p:nvSpPr>
        <p:spPr>
          <a:xfrm>
            <a:off x="647700" y="4152900"/>
            <a:ext cx="2452688" cy="171450"/>
          </a:xfrm>
          <a:prstGeom prst="rect">
            <a:avLst/>
          </a:prstGeom>
          <a:noFill/>
        </p:spPr>
        <p:txBody>
          <a:bodyPr wrap="square" anchor="t" lIns="0" tIns="0" rIns="0" bIns="0">
            <a:noAutofit/>
          </a:bodyPr>
          <a:lstStyle/>
          <a:p>
            <a:pPr marL="0" indent="0" algn="l">
              <a:buNone/>
            </a:pPr>
            <a:r>
              <a:rPr lang="en-US" sz="1150" b="1" dirty="0">
                <a:solidFill>
                  <a:srgbClr val="2C3E50"/>
                </a:solidFill>
                <a:latin typeface="Calibri"/>
                <a:cs typeface="Calibri"/>
              </a:rPr>
              <a:t>Data Collection</a:t>
            </a:r>
          </a:p>
        </p:txBody>
      </p:sp>
      <p:sp>
        <p:nvSpPr>
          <p:cNvPr id="53" name="TextBox 53"/>
          <p:cNvSpPr txBox="1"/>
          <p:nvPr/>
        </p:nvSpPr>
        <p:spPr>
          <a:xfrm>
            <a:off x="647700" y="4362450"/>
            <a:ext cx="2452688" cy="666750"/>
          </a:xfrm>
          <a:prstGeom prst="rect">
            <a:avLst/>
          </a:prstGeom>
          <a:noFill/>
        </p:spPr>
        <p:txBody>
          <a:bodyPr wrap="square" anchor="t" lIns="0" tIns="0" rIns="0" bIns="0">
            <a:noAutofit/>
          </a:bodyPr>
          <a:lstStyle/>
          <a:p>
            <a:pPr marL="0" indent="0" algn="l">
              <a:lnSpc>
                <a:spcPct val="130000"/>
              </a:lnSpc>
              <a:buNone/>
            </a:pPr>
            <a:r>
              <a:rPr lang="en-US" sz="900" dirty="0">
                <a:solidFill>
                  <a:srgbClr val="5B6B77"/>
                </a:solidFill>
                <a:latin typeface="Calibri"/>
                <a:cs typeface="Calibri"/>
              </a:rPr>
              <a:t>50+ de-identified PHC records from Puducherry region</a:t>
            </a:r>
          </a:p>
        </p:txBody>
      </p:sp>
      <p:sp>
        <p:nvSpPr>
          <p:cNvPr id="54" name="Rect 54"/>
          <p:cNvSpPr/>
          <p:nvPr/>
        </p:nvSpPr>
        <p:spPr>
          <a:xfrm>
            <a:off x="3348038" y="3886200"/>
            <a:ext cx="2681288" cy="1238250"/>
          </a:xfrm>
          <a:prstGeom prst="roundRect">
            <a:avLst/>
          </a:prstGeom>
          <a:solidFill>
            <a:srgbClr val="F4F6F7"/>
          </a:solidFill>
          <a:ln w="12700">
            <a:solidFill>
              <a:srgbClr val="E3E7E9"/>
            </a:solidFill>
          </a:ln>
        </p:spPr>
        <p:txBody>
          <a:bodyPr/>
          <a:lstStyle/>
          <a:p/>
        </p:txBody>
      </p:sp>
      <p:sp>
        <p:nvSpPr>
          <p:cNvPr id="55" name="Rect 55"/>
          <p:cNvSpPr/>
          <p:nvPr/>
        </p:nvSpPr>
        <p:spPr>
          <a:xfrm>
            <a:off x="3348038" y="3886200"/>
            <a:ext cx="2681288" cy="38100"/>
          </a:xfrm>
          <a:prstGeom prst="rect">
            <a:avLst/>
          </a:prstGeom>
          <a:solidFill>
            <a:srgbClr val="00A878"/>
          </a:solidFill>
          <a:ln>
            <a:noFill/>
          </a:ln>
        </p:spPr>
        <p:txBody>
          <a:bodyPr/>
          <a:lstStyle/>
          <a:p/>
        </p:txBody>
      </p:sp>
      <p:sp>
        <p:nvSpPr>
          <p:cNvPr id="56" name="TextBox 56"/>
          <p:cNvSpPr txBox="1"/>
          <p:nvPr/>
        </p:nvSpPr>
        <p:spPr>
          <a:xfrm>
            <a:off x="3462338" y="3981450"/>
            <a:ext cx="2452688" cy="133350"/>
          </a:xfrm>
          <a:prstGeom prst="rect">
            <a:avLst/>
          </a:prstGeom>
          <a:noFill/>
        </p:spPr>
        <p:txBody>
          <a:bodyPr wrap="square" anchor="t" lIns="0" tIns="0" rIns="0" bIns="0">
            <a:noAutofit/>
          </a:bodyPr>
          <a:lstStyle/>
          <a:p>
            <a:pPr marL="0" indent="0" algn="l">
              <a:buNone/>
            </a:pPr>
            <a:r>
              <a:rPr lang="en-US" sz="880" b="1" dirty="0">
                <a:solidFill>
                  <a:srgbClr val="00A878"/>
                </a:solidFill>
                <a:latin typeface="Calibri"/>
                <a:cs typeface="Calibri"/>
              </a:rPr>
              <a:t>MONTH 3–4</a:t>
            </a:r>
          </a:p>
        </p:txBody>
      </p:sp>
      <p:sp>
        <p:nvSpPr>
          <p:cNvPr id="57" name="TextBox 57"/>
          <p:cNvSpPr txBox="1"/>
          <p:nvPr/>
        </p:nvSpPr>
        <p:spPr>
          <a:xfrm>
            <a:off x="3462338" y="4152900"/>
            <a:ext cx="2452688" cy="171450"/>
          </a:xfrm>
          <a:prstGeom prst="rect">
            <a:avLst/>
          </a:prstGeom>
          <a:noFill/>
        </p:spPr>
        <p:txBody>
          <a:bodyPr wrap="square" anchor="t" lIns="0" tIns="0" rIns="0" bIns="0">
            <a:noAutofit/>
          </a:bodyPr>
          <a:lstStyle/>
          <a:p>
            <a:pPr marL="0" indent="0" algn="l">
              <a:buNone/>
            </a:pPr>
            <a:r>
              <a:rPr lang="en-US" sz="1150" b="1" dirty="0">
                <a:solidFill>
                  <a:srgbClr val="2C3E50"/>
                </a:solidFill>
                <a:latin typeface="Calibri"/>
                <a:cs typeface="Calibri"/>
              </a:rPr>
              <a:t>Model Training</a:t>
            </a:r>
          </a:p>
        </p:txBody>
      </p:sp>
      <p:sp>
        <p:nvSpPr>
          <p:cNvPr id="58" name="TextBox 58"/>
          <p:cNvSpPr txBox="1"/>
          <p:nvPr/>
        </p:nvSpPr>
        <p:spPr>
          <a:xfrm>
            <a:off x="3462338" y="4362450"/>
            <a:ext cx="2452688" cy="666750"/>
          </a:xfrm>
          <a:prstGeom prst="rect">
            <a:avLst/>
          </a:prstGeom>
          <a:noFill/>
        </p:spPr>
        <p:txBody>
          <a:bodyPr wrap="square" anchor="t" lIns="0" tIns="0" rIns="0" bIns="0">
            <a:noAutofit/>
          </a:bodyPr>
          <a:lstStyle/>
          <a:p>
            <a:pPr marL="0" indent="0" algn="l">
              <a:lnSpc>
                <a:spcPct val="130000"/>
              </a:lnSpc>
              <a:buNone/>
            </a:pPr>
            <a:r>
              <a:rPr lang="en-US" sz="900" dirty="0">
                <a:solidFill>
                  <a:srgbClr val="5B6B77"/>
                </a:solidFill>
                <a:latin typeface="Calibri"/>
                <a:cs typeface="Calibri"/>
              </a:rPr>
              <a:t>UCI CKD + NHANES datasets + local PHC data</a:t>
            </a:r>
          </a:p>
        </p:txBody>
      </p:sp>
      <p:sp>
        <p:nvSpPr>
          <p:cNvPr id="59" name="Rect 59"/>
          <p:cNvSpPr/>
          <p:nvPr/>
        </p:nvSpPr>
        <p:spPr>
          <a:xfrm>
            <a:off x="6162675" y="3886200"/>
            <a:ext cx="2681288" cy="1238250"/>
          </a:xfrm>
          <a:prstGeom prst="roundRect">
            <a:avLst/>
          </a:prstGeom>
          <a:solidFill>
            <a:srgbClr val="F4F6F7"/>
          </a:solidFill>
          <a:ln w="12700">
            <a:solidFill>
              <a:srgbClr val="E3E7E9"/>
            </a:solidFill>
          </a:ln>
        </p:spPr>
        <p:txBody>
          <a:bodyPr/>
          <a:lstStyle/>
          <a:p/>
        </p:txBody>
      </p:sp>
      <p:sp>
        <p:nvSpPr>
          <p:cNvPr id="60" name="Rect 60"/>
          <p:cNvSpPr/>
          <p:nvPr/>
        </p:nvSpPr>
        <p:spPr>
          <a:xfrm>
            <a:off x="6162675" y="3886200"/>
            <a:ext cx="2681288" cy="38100"/>
          </a:xfrm>
          <a:prstGeom prst="rect">
            <a:avLst/>
          </a:prstGeom>
          <a:solidFill>
            <a:srgbClr val="E67E22"/>
          </a:solidFill>
          <a:ln>
            <a:noFill/>
          </a:ln>
        </p:spPr>
        <p:txBody>
          <a:bodyPr/>
          <a:lstStyle/>
          <a:p/>
        </p:txBody>
      </p:sp>
      <p:sp>
        <p:nvSpPr>
          <p:cNvPr id="61" name="TextBox 61"/>
          <p:cNvSpPr txBox="1"/>
          <p:nvPr/>
        </p:nvSpPr>
        <p:spPr>
          <a:xfrm>
            <a:off x="6276975" y="3981450"/>
            <a:ext cx="2452688" cy="133350"/>
          </a:xfrm>
          <a:prstGeom prst="rect">
            <a:avLst/>
          </a:prstGeom>
          <a:noFill/>
        </p:spPr>
        <p:txBody>
          <a:bodyPr wrap="square" anchor="t" lIns="0" tIns="0" rIns="0" bIns="0">
            <a:noAutofit/>
          </a:bodyPr>
          <a:lstStyle/>
          <a:p>
            <a:pPr marL="0" indent="0" algn="l">
              <a:buNone/>
            </a:pPr>
            <a:r>
              <a:rPr lang="en-US" sz="880" b="1" dirty="0">
                <a:solidFill>
                  <a:srgbClr val="E67E22"/>
                </a:solidFill>
                <a:latin typeface="Calibri"/>
                <a:cs typeface="Calibri"/>
              </a:rPr>
              <a:t>MONTH 5–6</a:t>
            </a:r>
          </a:p>
        </p:txBody>
      </p:sp>
      <p:sp>
        <p:nvSpPr>
          <p:cNvPr id="62" name="TextBox 62"/>
          <p:cNvSpPr txBox="1"/>
          <p:nvPr/>
        </p:nvSpPr>
        <p:spPr>
          <a:xfrm>
            <a:off x="6276975" y="4152900"/>
            <a:ext cx="2452688" cy="171450"/>
          </a:xfrm>
          <a:prstGeom prst="rect">
            <a:avLst/>
          </a:prstGeom>
          <a:noFill/>
        </p:spPr>
        <p:txBody>
          <a:bodyPr wrap="square" anchor="t" lIns="0" tIns="0" rIns="0" bIns="0">
            <a:noAutofit/>
          </a:bodyPr>
          <a:lstStyle/>
          <a:p>
            <a:pPr marL="0" indent="0" algn="l">
              <a:buNone/>
            </a:pPr>
            <a:r>
              <a:rPr lang="en-US" sz="1150" b="1" dirty="0">
                <a:solidFill>
                  <a:srgbClr val="2C3E50"/>
                </a:solidFill>
                <a:latin typeface="Calibri"/>
                <a:cs typeface="Calibri"/>
              </a:rPr>
              <a:t>Validation</a:t>
            </a:r>
          </a:p>
        </p:txBody>
      </p:sp>
      <p:sp>
        <p:nvSpPr>
          <p:cNvPr id="63" name="TextBox 63"/>
          <p:cNvSpPr txBox="1"/>
          <p:nvPr/>
        </p:nvSpPr>
        <p:spPr>
          <a:xfrm>
            <a:off x="6276975" y="4362450"/>
            <a:ext cx="2452688" cy="666750"/>
          </a:xfrm>
          <a:prstGeom prst="rect">
            <a:avLst/>
          </a:prstGeom>
          <a:noFill/>
        </p:spPr>
        <p:txBody>
          <a:bodyPr wrap="square" anchor="t" lIns="0" tIns="0" rIns="0" bIns="0">
            <a:noAutofit/>
          </a:bodyPr>
          <a:lstStyle/>
          <a:p>
            <a:pPr marL="0" indent="0" algn="l">
              <a:lnSpc>
                <a:spcPct val="130000"/>
              </a:lnSpc>
              <a:buNone/>
            </a:pPr>
            <a:r>
              <a:rPr lang="en-US" sz="900" dirty="0">
                <a:solidFill>
                  <a:srgbClr val="5B6B77"/>
                </a:solidFill>
                <a:latin typeface="Calibri"/>
                <a:cs typeface="Calibri"/>
              </a:rPr>
              <a:t>Sensitivity/Specificity, AUC-ROC calculation, usability testing with doctors</a:t>
            </a:r>
          </a:p>
        </p:txBody>
      </p:sp>
      <p:sp>
        <p:nvSpPr>
          <p:cNvPr id="64" name="Rect 64"/>
          <p:cNvSpPr/>
          <p:nvPr/>
        </p:nvSpPr>
        <p:spPr>
          <a:xfrm>
            <a:off x="8977312" y="3886200"/>
            <a:ext cx="2681288" cy="1238250"/>
          </a:xfrm>
          <a:prstGeom prst="roundRect">
            <a:avLst/>
          </a:prstGeom>
          <a:solidFill>
            <a:srgbClr val="F4F6F7"/>
          </a:solidFill>
          <a:ln w="12700">
            <a:solidFill>
              <a:srgbClr val="E3E7E9"/>
            </a:solidFill>
          </a:ln>
        </p:spPr>
        <p:txBody>
          <a:bodyPr/>
          <a:lstStyle/>
          <a:p/>
        </p:txBody>
      </p:sp>
      <p:sp>
        <p:nvSpPr>
          <p:cNvPr id="65" name="Rect 65"/>
          <p:cNvSpPr/>
          <p:nvPr/>
        </p:nvSpPr>
        <p:spPr>
          <a:xfrm>
            <a:off x="8977312" y="3886200"/>
            <a:ext cx="2681288" cy="38100"/>
          </a:xfrm>
          <a:prstGeom prst="rect">
            <a:avLst/>
          </a:prstGeom>
          <a:solidFill>
            <a:srgbClr val="C0392B"/>
          </a:solidFill>
          <a:ln>
            <a:noFill/>
          </a:ln>
        </p:spPr>
        <p:txBody>
          <a:bodyPr/>
          <a:lstStyle/>
          <a:p/>
        </p:txBody>
      </p:sp>
      <p:sp>
        <p:nvSpPr>
          <p:cNvPr id="66" name="TextBox 66"/>
          <p:cNvSpPr txBox="1"/>
          <p:nvPr/>
        </p:nvSpPr>
        <p:spPr>
          <a:xfrm>
            <a:off x="9091612" y="3981450"/>
            <a:ext cx="2452688" cy="133350"/>
          </a:xfrm>
          <a:prstGeom prst="rect">
            <a:avLst/>
          </a:prstGeom>
          <a:noFill/>
        </p:spPr>
        <p:txBody>
          <a:bodyPr wrap="square" anchor="t" lIns="0" tIns="0" rIns="0" bIns="0">
            <a:noAutofit/>
          </a:bodyPr>
          <a:lstStyle/>
          <a:p>
            <a:pPr marL="0" indent="0" algn="l">
              <a:buNone/>
            </a:pPr>
            <a:r>
              <a:rPr lang="en-US" sz="880" b="1" dirty="0">
                <a:solidFill>
                  <a:srgbClr val="C0392B"/>
                </a:solidFill>
                <a:latin typeface="Calibri"/>
                <a:cs typeface="Calibri"/>
              </a:rPr>
              <a:t>MONTH 7–8</a:t>
            </a:r>
          </a:p>
        </p:txBody>
      </p:sp>
      <p:sp>
        <p:nvSpPr>
          <p:cNvPr id="67" name="TextBox 67"/>
          <p:cNvSpPr txBox="1"/>
          <p:nvPr/>
        </p:nvSpPr>
        <p:spPr>
          <a:xfrm>
            <a:off x="9091612" y="4152900"/>
            <a:ext cx="2452688" cy="171450"/>
          </a:xfrm>
          <a:prstGeom prst="rect">
            <a:avLst/>
          </a:prstGeom>
          <a:noFill/>
        </p:spPr>
        <p:txBody>
          <a:bodyPr wrap="square" anchor="t" lIns="0" tIns="0" rIns="0" bIns="0">
            <a:noAutofit/>
          </a:bodyPr>
          <a:lstStyle/>
          <a:p>
            <a:pPr marL="0" indent="0" algn="l">
              <a:buNone/>
            </a:pPr>
            <a:r>
              <a:rPr lang="en-US" sz="1150" b="1" dirty="0">
                <a:solidFill>
                  <a:srgbClr val="2C3E50"/>
                </a:solidFill>
                <a:latin typeface="Calibri"/>
                <a:cs typeface="Calibri"/>
              </a:rPr>
              <a:t>Publication</a:t>
            </a:r>
          </a:p>
        </p:txBody>
      </p:sp>
      <p:sp>
        <p:nvSpPr>
          <p:cNvPr id="68" name="TextBox 68"/>
          <p:cNvSpPr txBox="1"/>
          <p:nvPr/>
        </p:nvSpPr>
        <p:spPr>
          <a:xfrm>
            <a:off x="9091612" y="4362450"/>
            <a:ext cx="2452688" cy="666750"/>
          </a:xfrm>
          <a:prstGeom prst="rect">
            <a:avLst/>
          </a:prstGeom>
          <a:noFill/>
        </p:spPr>
        <p:txBody>
          <a:bodyPr wrap="square" anchor="t" lIns="0" tIns="0" rIns="0" bIns="0">
            <a:noAutofit/>
          </a:bodyPr>
          <a:lstStyle/>
          <a:p>
            <a:pPr marL="0" indent="0" algn="l">
              <a:lnSpc>
                <a:spcPct val="130000"/>
              </a:lnSpc>
              <a:buNone/>
            </a:pPr>
            <a:r>
              <a:rPr lang="en-US" sz="900" dirty="0">
                <a:solidFill>
                  <a:srgbClr val="5B6B77"/>
                </a:solidFill>
                <a:latin typeface="Calibri"/>
                <a:cs typeface="Calibri"/>
              </a:rPr>
              <a:t>Manuscript preparation, conference presentation, final report to ACS-AMRI</a:t>
            </a:r>
          </a:p>
        </p:txBody>
      </p:sp>
      <p:cxnSp>
        <p:nvCxnSpPr>
          <p:cNvPr id="69" name="Line 69"/>
          <p:cNvCxnSpPr/>
          <p:nvPr/>
        </p:nvCxnSpPr>
        <p:spPr>
          <a:xfrm flipH="0" flipV="0">
            <a:off x="533400" y="6667500"/>
            <a:ext cx="11125200" cy="9525"/>
          </a:xfrm>
          <a:prstGeom prst="line">
            <a:avLst/>
          </a:prstGeom>
          <a:ln w="12700">
            <a:solidFill>
              <a:srgbClr val="E3E7E9"/>
            </a:solidFill>
          </a:ln>
        </p:spPr>
      </p:cxnSp>
      <p:sp>
        <p:nvSpPr>
          <p:cNvPr id="70" name="TextBox 70"/>
          <p:cNvSpPr txBox="1"/>
          <p:nvPr/>
        </p:nvSpPr>
        <p:spPr>
          <a:xfrm>
            <a:off x="533400" y="6705600"/>
            <a:ext cx="8572500" cy="190500"/>
          </a:xfrm>
          <a:prstGeom prst="rect">
            <a:avLst/>
          </a:prstGeom>
          <a:noFill/>
        </p:spPr>
        <p:txBody>
          <a:bodyPr wrap="square" anchor="t" lIns="0" tIns="0" rIns="0" bIns="0">
            <a:noAutofit/>
          </a:bodyPr>
          <a:lstStyle/>
          <a:p>
            <a:pPr marL="0" indent="0" algn="l">
              <a:buNone/>
            </a:pPr>
            <a:r>
              <a:rPr lang="en-US" sz="850" dirty="0">
                <a:solidFill>
                  <a:srgbClr val="7A8B99"/>
                </a:solidFill>
                <a:latin typeface="Calibri"/>
                <a:cs typeface="Calibri"/>
              </a:rPr>
              <a:t>NephroAlert | ACS-AMRI Seed Grant Proposal 2026 | Dr. MGR Educational and Research Institute, Chennai</a:t>
            </a:r>
          </a:p>
        </p:txBody>
      </p:sp>
      <p:sp>
        <p:nvSpPr>
          <p:cNvPr id="71" name="TextBox 71"/>
          <p:cNvSpPr txBox="1"/>
          <p:nvPr/>
        </p:nvSpPr>
        <p:spPr>
          <a:xfrm>
            <a:off x="11277600" y="6667500"/>
            <a:ext cx="381000" cy="190500"/>
          </a:xfrm>
          <a:prstGeom prst="rect">
            <a:avLst/>
          </a:prstGeom>
          <a:noFill/>
        </p:spPr>
        <p:txBody>
          <a:bodyPr wrap="square" anchor="t" lIns="0" tIns="0" rIns="0" bIns="0">
            <a:noAutofit/>
          </a:bodyPr>
          <a:lstStyle/>
          <a:p>
            <a:pPr marL="0" indent="0" algn="r">
              <a:buNone/>
            </a:pPr>
            <a:r>
              <a:rPr lang="en-US" sz="1100" b="1" dirty="0">
                <a:solidFill>
                  <a:srgbClr val="1B4F72"/>
                </a:solidFill>
                <a:latin typeface="Calibri"/>
                <a:cs typeface="Calibri"/>
              </a:rPr>
              <a:t>8</a:t>
            </a:r>
          </a:p>
        </p:txBody>
      </p:sp>
    </p:spTree>
  </p:cSld>
  <p:clrMapOvr>
    <a:overrideClrMapping bg1="lt1" tx1="dk1" bg2="lt2" tx2="dk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2"/>
          <p:cNvSpPr txBox="1"/>
          <p:nvPr/>
        </p:nvSpPr>
        <p:spPr>
          <a:xfrm>
            <a:off x="533400" y="285750"/>
            <a:ext cx="11125200" cy="381000"/>
          </a:xfrm>
          <a:prstGeom prst="rect">
            <a:avLst/>
          </a:prstGeom>
          <a:noFill/>
        </p:spPr>
        <p:txBody>
          <a:bodyPr wrap="square" anchor="t" lIns="0" tIns="0" rIns="0" bIns="0">
            <a:noAutofit/>
          </a:bodyPr>
          <a:lstStyle/>
          <a:p>
            <a:pPr marL="0" indent="0" algn="l">
              <a:buNone/>
            </a:pPr>
            <a:r>
              <a:rPr lang="en-US" sz="2500" b="1" dirty="0">
                <a:solidFill>
                  <a:srgbClr val="1B4F72"/>
                </a:solidFill>
                <a:latin typeface="Calibri"/>
                <a:cs typeface="Calibri"/>
              </a:rPr>
              <a:t>Social Impact, Budget &amp; Project Timeline</a:t>
            </a:r>
          </a:p>
        </p:txBody>
      </p:sp>
      <p:sp>
        <p:nvSpPr>
          <p:cNvPr id="3" name="Rect 3"/>
          <p:cNvSpPr/>
          <p:nvPr/>
        </p:nvSpPr>
        <p:spPr>
          <a:xfrm>
            <a:off x="533400" y="666750"/>
            <a:ext cx="609600" cy="47625"/>
          </a:xfrm>
          <a:prstGeom prst="roundRect">
            <a:avLst/>
          </a:prstGeom>
          <a:solidFill>
            <a:srgbClr val="00A878"/>
          </a:solidFill>
          <a:ln>
            <a:noFill/>
          </a:ln>
        </p:spPr>
        <p:txBody>
          <a:bodyPr/>
          <a:lstStyle/>
          <a:p/>
        </p:txBody>
      </p:sp>
      <p:sp>
        <p:nvSpPr>
          <p:cNvPr id="4" name="Rect 4"/>
          <p:cNvSpPr/>
          <p:nvPr/>
        </p:nvSpPr>
        <p:spPr>
          <a:xfrm>
            <a:off x="533400" y="876300"/>
            <a:ext cx="3606800" cy="876300"/>
          </a:xfrm>
          <a:prstGeom prst="roundRect">
            <a:avLst/>
          </a:prstGeom>
          <a:solidFill>
            <a:srgbClr val="F4F6F7"/>
          </a:solidFill>
          <a:ln w="12700">
            <a:solidFill>
              <a:srgbClr val="E3E7E9"/>
            </a:solidFill>
          </a:ln>
        </p:spPr>
        <p:txBody>
          <a:bodyPr/>
          <a:lstStyle/>
          <a:p/>
        </p:txBody>
      </p:sp>
      <p:sp>
        <p:nvSpPr>
          <p:cNvPr id="5" name="Rect 5"/>
          <p:cNvSpPr/>
          <p:nvPr/>
        </p:nvSpPr>
        <p:spPr>
          <a:xfrm>
            <a:off x="533400" y="876300"/>
            <a:ext cx="3606800" cy="38100"/>
          </a:xfrm>
          <a:prstGeom prst="rect">
            <a:avLst/>
          </a:prstGeom>
          <a:solidFill>
            <a:srgbClr val="C0392B"/>
          </a:solidFill>
          <a:ln>
            <a:noFill/>
          </a:ln>
        </p:spPr>
        <p:txBody>
          <a:bodyPr/>
          <a:lstStyle/>
          <a:p/>
        </p:txBody>
      </p:sp>
      <p:sp>
        <p:nvSpPr>
          <p:cNvPr id="6" name="TextBox 6"/>
          <p:cNvSpPr txBox="1"/>
          <p:nvPr/>
        </p:nvSpPr>
        <p:spPr>
          <a:xfrm>
            <a:off x="647700" y="952500"/>
            <a:ext cx="3378200" cy="152400"/>
          </a:xfrm>
          <a:prstGeom prst="rect">
            <a:avLst/>
          </a:prstGeom>
          <a:noFill/>
        </p:spPr>
        <p:txBody>
          <a:bodyPr wrap="square" anchor="t" lIns="0" tIns="0" rIns="0" bIns="0">
            <a:noAutofit/>
          </a:bodyPr>
          <a:lstStyle/>
          <a:p>
            <a:pPr marL="0" indent="0" algn="l">
              <a:buNone/>
            </a:pPr>
            <a:r>
              <a:rPr lang="en-US" sz="1150" b="1" dirty="0">
                <a:solidFill>
                  <a:srgbClr val="1B4F72"/>
                </a:solidFill>
                <a:latin typeface="Calibri"/>
                <a:cs typeface="Calibri"/>
              </a:rPr>
              <a:t>Lives at Risk</a:t>
            </a:r>
          </a:p>
        </p:txBody>
      </p:sp>
      <p:sp>
        <p:nvSpPr>
          <p:cNvPr id="7" name="TextBox 7"/>
          <p:cNvSpPr txBox="1"/>
          <p:nvPr/>
        </p:nvSpPr>
        <p:spPr>
          <a:xfrm>
            <a:off x="647700" y="1143000"/>
            <a:ext cx="3378200" cy="533400"/>
          </a:xfrm>
          <a:prstGeom prst="rect">
            <a:avLst/>
          </a:prstGeom>
          <a:noFill/>
        </p:spPr>
        <p:txBody>
          <a:bodyPr wrap="square" anchor="t" lIns="0" tIns="0" rIns="0" bIns="0">
            <a:noAutofit/>
          </a:bodyPr>
          <a:lstStyle/>
          <a:p>
            <a:pPr marL="0" indent="0" algn="l">
              <a:lnSpc>
                <a:spcPct val="130000"/>
              </a:lnSpc>
              <a:buNone/>
            </a:pPr>
            <a:r>
              <a:rPr lang="en-US" sz="930" dirty="0">
                <a:solidFill>
                  <a:srgbClr val="5B6B77"/>
                </a:solidFill>
                <a:latin typeface="Calibri"/>
                <a:cs typeface="Calibri"/>
              </a:rPr>
              <a:t>8.8 million diabetics in Tamil Nadu. 1 in 3 will develop kidney disease. Most are detected too late.</a:t>
            </a:r>
          </a:p>
        </p:txBody>
      </p:sp>
      <p:sp>
        <p:nvSpPr>
          <p:cNvPr id="8" name="Rect 8"/>
          <p:cNvSpPr/>
          <p:nvPr/>
        </p:nvSpPr>
        <p:spPr>
          <a:xfrm>
            <a:off x="4292600" y="876300"/>
            <a:ext cx="3606800" cy="876300"/>
          </a:xfrm>
          <a:prstGeom prst="roundRect">
            <a:avLst/>
          </a:prstGeom>
          <a:solidFill>
            <a:srgbClr val="F4F6F7"/>
          </a:solidFill>
          <a:ln w="12700">
            <a:solidFill>
              <a:srgbClr val="E3E7E9"/>
            </a:solidFill>
          </a:ln>
        </p:spPr>
        <p:txBody>
          <a:bodyPr/>
          <a:lstStyle/>
          <a:p/>
        </p:txBody>
      </p:sp>
      <p:sp>
        <p:nvSpPr>
          <p:cNvPr id="9" name="Rect 9"/>
          <p:cNvSpPr/>
          <p:nvPr/>
        </p:nvSpPr>
        <p:spPr>
          <a:xfrm>
            <a:off x="4292600" y="876300"/>
            <a:ext cx="3606800" cy="38100"/>
          </a:xfrm>
          <a:prstGeom prst="rect">
            <a:avLst/>
          </a:prstGeom>
          <a:solidFill>
            <a:srgbClr val="00A878"/>
          </a:solidFill>
          <a:ln>
            <a:noFill/>
          </a:ln>
        </p:spPr>
        <p:txBody>
          <a:bodyPr/>
          <a:lstStyle/>
          <a:p/>
        </p:txBody>
      </p:sp>
      <p:sp>
        <p:nvSpPr>
          <p:cNvPr id="10" name="TextBox 10"/>
          <p:cNvSpPr txBox="1"/>
          <p:nvPr/>
        </p:nvSpPr>
        <p:spPr>
          <a:xfrm>
            <a:off x="4406900" y="952500"/>
            <a:ext cx="3378200" cy="152400"/>
          </a:xfrm>
          <a:prstGeom prst="rect">
            <a:avLst/>
          </a:prstGeom>
          <a:noFill/>
        </p:spPr>
        <p:txBody>
          <a:bodyPr wrap="square" anchor="t" lIns="0" tIns="0" rIns="0" bIns="0">
            <a:noAutofit/>
          </a:bodyPr>
          <a:lstStyle/>
          <a:p>
            <a:pPr marL="0" indent="0" algn="l">
              <a:buNone/>
            </a:pPr>
            <a:r>
              <a:rPr lang="en-US" sz="1150" b="1" dirty="0">
                <a:solidFill>
                  <a:srgbClr val="1B4F72"/>
                </a:solidFill>
                <a:latin typeface="Calibri"/>
                <a:cs typeface="Calibri"/>
              </a:rPr>
              <a:t>Our Solution Impact</a:t>
            </a:r>
          </a:p>
        </p:txBody>
      </p:sp>
      <p:sp>
        <p:nvSpPr>
          <p:cNvPr id="11" name="TextBox 11"/>
          <p:cNvSpPr txBox="1"/>
          <p:nvPr/>
        </p:nvSpPr>
        <p:spPr>
          <a:xfrm>
            <a:off x="4406900" y="1143000"/>
            <a:ext cx="3378200" cy="533400"/>
          </a:xfrm>
          <a:prstGeom prst="rect">
            <a:avLst/>
          </a:prstGeom>
          <a:noFill/>
        </p:spPr>
        <p:txBody>
          <a:bodyPr wrap="square" anchor="t" lIns="0" tIns="0" rIns="0" bIns="0">
            <a:noAutofit/>
          </a:bodyPr>
          <a:lstStyle/>
          <a:p>
            <a:pPr marL="0" indent="0" algn="l">
              <a:lnSpc>
                <a:spcPct val="130000"/>
              </a:lnSpc>
              <a:buNone/>
            </a:pPr>
            <a:r>
              <a:rPr lang="en-US" sz="930" dirty="0">
                <a:solidFill>
                  <a:srgbClr val="5B6B77"/>
                </a:solidFill>
                <a:latin typeface="Calibri"/>
                <a:cs typeface="Calibri"/>
              </a:rPr>
              <a:t>Early detection at Stage 2–3 improves 10-year survival by up to 50% compared to Stage 4 detection.</a:t>
            </a:r>
          </a:p>
        </p:txBody>
      </p:sp>
      <p:sp>
        <p:nvSpPr>
          <p:cNvPr id="12" name="Rect 12"/>
          <p:cNvSpPr/>
          <p:nvPr/>
        </p:nvSpPr>
        <p:spPr>
          <a:xfrm>
            <a:off x="8051800" y="876300"/>
            <a:ext cx="3606800" cy="876300"/>
          </a:xfrm>
          <a:prstGeom prst="roundRect">
            <a:avLst/>
          </a:prstGeom>
          <a:solidFill>
            <a:srgbClr val="F4F6F7"/>
          </a:solidFill>
          <a:ln w="12700">
            <a:solidFill>
              <a:srgbClr val="E3E7E9"/>
            </a:solidFill>
          </a:ln>
        </p:spPr>
        <p:txBody>
          <a:bodyPr/>
          <a:lstStyle/>
          <a:p/>
        </p:txBody>
      </p:sp>
      <p:sp>
        <p:nvSpPr>
          <p:cNvPr id="13" name="Rect 13"/>
          <p:cNvSpPr/>
          <p:nvPr/>
        </p:nvSpPr>
        <p:spPr>
          <a:xfrm>
            <a:off x="8051800" y="876300"/>
            <a:ext cx="3606800" cy="38100"/>
          </a:xfrm>
          <a:prstGeom prst="rect">
            <a:avLst/>
          </a:prstGeom>
          <a:solidFill>
            <a:srgbClr val="27AE60"/>
          </a:solidFill>
          <a:ln>
            <a:noFill/>
          </a:ln>
        </p:spPr>
        <p:txBody>
          <a:bodyPr/>
          <a:lstStyle/>
          <a:p/>
        </p:txBody>
      </p:sp>
      <p:sp>
        <p:nvSpPr>
          <p:cNvPr id="14" name="TextBox 14"/>
          <p:cNvSpPr txBox="1"/>
          <p:nvPr/>
        </p:nvSpPr>
        <p:spPr>
          <a:xfrm>
            <a:off x="8166100" y="952500"/>
            <a:ext cx="3378200" cy="152400"/>
          </a:xfrm>
          <a:prstGeom prst="rect">
            <a:avLst/>
          </a:prstGeom>
          <a:noFill/>
        </p:spPr>
        <p:txBody>
          <a:bodyPr wrap="square" anchor="t" lIns="0" tIns="0" rIns="0" bIns="0">
            <a:noAutofit/>
          </a:bodyPr>
          <a:lstStyle/>
          <a:p>
            <a:pPr marL="0" indent="0" algn="l">
              <a:buNone/>
            </a:pPr>
            <a:r>
              <a:rPr lang="en-US" sz="1150" b="1" dirty="0">
                <a:solidFill>
                  <a:srgbClr val="1B4F72"/>
                </a:solidFill>
                <a:latin typeface="Calibri"/>
                <a:cs typeface="Calibri"/>
              </a:rPr>
              <a:t>Scalability</a:t>
            </a:r>
          </a:p>
        </p:txBody>
      </p:sp>
      <p:sp>
        <p:nvSpPr>
          <p:cNvPr id="15" name="TextBox 15"/>
          <p:cNvSpPr txBox="1"/>
          <p:nvPr/>
        </p:nvSpPr>
        <p:spPr>
          <a:xfrm>
            <a:off x="8166100" y="1143000"/>
            <a:ext cx="3378200" cy="533400"/>
          </a:xfrm>
          <a:prstGeom prst="rect">
            <a:avLst/>
          </a:prstGeom>
          <a:noFill/>
        </p:spPr>
        <p:txBody>
          <a:bodyPr wrap="square" anchor="t" lIns="0" tIns="0" rIns="0" bIns="0">
            <a:noAutofit/>
          </a:bodyPr>
          <a:lstStyle/>
          <a:p>
            <a:pPr marL="0" indent="0" algn="l">
              <a:lnSpc>
                <a:spcPct val="130000"/>
              </a:lnSpc>
              <a:buNone/>
            </a:pPr>
            <a:r>
              <a:rPr lang="en-US" sz="930" dirty="0">
                <a:solidFill>
                  <a:srgbClr val="5B6B77"/>
                </a:solidFill>
                <a:latin typeface="Calibri"/>
                <a:cs typeface="Calibri"/>
              </a:rPr>
              <a:t>Zero hardware required. Deployable at any PHC with an internet connection. Works on any device.</a:t>
            </a:r>
          </a:p>
        </p:txBody>
      </p:sp>
      <p:sp>
        <p:nvSpPr>
          <p:cNvPr id="16" name="TextBox 16"/>
          <p:cNvSpPr txBox="1"/>
          <p:nvPr/>
        </p:nvSpPr>
        <p:spPr>
          <a:xfrm>
            <a:off x="533400" y="1905000"/>
            <a:ext cx="3810000" cy="171450"/>
          </a:xfrm>
          <a:prstGeom prst="rect">
            <a:avLst/>
          </a:prstGeom>
          <a:noFill/>
        </p:spPr>
        <p:txBody>
          <a:bodyPr wrap="square" anchor="t" lIns="0" tIns="0" rIns="0" bIns="0">
            <a:noAutofit/>
          </a:bodyPr>
          <a:lstStyle/>
          <a:p>
            <a:pPr marL="0" indent="0" algn="l">
              <a:buNone/>
            </a:pPr>
            <a:r>
              <a:rPr lang="en-US" sz="1200" b="1" dirty="0">
                <a:solidFill>
                  <a:srgbClr val="1B4F72"/>
                </a:solidFill>
                <a:latin typeface="Calibri"/>
                <a:cs typeface="Calibri"/>
              </a:rPr>
              <a:t>PROJECT TIMELINE</a:t>
            </a:r>
          </a:p>
        </p:txBody>
      </p:sp>
      <p:sp>
        <p:nvSpPr>
          <p:cNvPr id="17" name="TextBox 17"/>
          <p:cNvSpPr txBox="1"/>
          <p:nvPr/>
        </p:nvSpPr>
        <p:spPr>
          <a:xfrm>
            <a:off x="2057400" y="2114550"/>
            <a:ext cx="1200150" cy="133350"/>
          </a:xfrm>
          <a:prstGeom prst="rect">
            <a:avLst/>
          </a:prstGeom>
          <a:noFill/>
        </p:spPr>
        <p:txBody>
          <a:bodyPr wrap="square" anchor="t" lIns="0" tIns="0" rIns="0" bIns="0">
            <a:noAutofit/>
          </a:bodyPr>
          <a:lstStyle/>
          <a:p>
            <a:pPr marL="0" indent="0" algn="ctr">
              <a:buNone/>
            </a:pPr>
            <a:r>
              <a:rPr lang="en-US" sz="800" dirty="0">
                <a:solidFill>
                  <a:srgbClr val="5B6B77"/>
                </a:solidFill>
                <a:latin typeface="Calibri"/>
                <a:cs typeface="Calibri"/>
              </a:rPr>
              <a:t>M1</a:t>
            </a:r>
          </a:p>
        </p:txBody>
      </p:sp>
      <p:sp>
        <p:nvSpPr>
          <p:cNvPr id="18" name="TextBox 18"/>
          <p:cNvSpPr txBox="1"/>
          <p:nvPr/>
        </p:nvSpPr>
        <p:spPr>
          <a:xfrm>
            <a:off x="3257550" y="2114550"/>
            <a:ext cx="1200150" cy="133350"/>
          </a:xfrm>
          <a:prstGeom prst="rect">
            <a:avLst/>
          </a:prstGeom>
          <a:noFill/>
        </p:spPr>
        <p:txBody>
          <a:bodyPr wrap="square" anchor="t" lIns="0" tIns="0" rIns="0" bIns="0">
            <a:noAutofit/>
          </a:bodyPr>
          <a:lstStyle/>
          <a:p>
            <a:pPr marL="0" indent="0" algn="ctr">
              <a:buNone/>
            </a:pPr>
            <a:r>
              <a:rPr lang="en-US" sz="800" dirty="0">
                <a:solidFill>
                  <a:srgbClr val="5B6B77"/>
                </a:solidFill>
                <a:latin typeface="Calibri"/>
                <a:cs typeface="Calibri"/>
              </a:rPr>
              <a:t>M2</a:t>
            </a:r>
          </a:p>
        </p:txBody>
      </p:sp>
      <p:sp>
        <p:nvSpPr>
          <p:cNvPr id="19" name="TextBox 19"/>
          <p:cNvSpPr txBox="1"/>
          <p:nvPr/>
        </p:nvSpPr>
        <p:spPr>
          <a:xfrm>
            <a:off x="4457700" y="2114550"/>
            <a:ext cx="1200150" cy="133350"/>
          </a:xfrm>
          <a:prstGeom prst="rect">
            <a:avLst/>
          </a:prstGeom>
          <a:noFill/>
        </p:spPr>
        <p:txBody>
          <a:bodyPr wrap="square" anchor="t" lIns="0" tIns="0" rIns="0" bIns="0">
            <a:noAutofit/>
          </a:bodyPr>
          <a:lstStyle/>
          <a:p>
            <a:pPr marL="0" indent="0" algn="ctr">
              <a:buNone/>
            </a:pPr>
            <a:r>
              <a:rPr lang="en-US" sz="800" dirty="0">
                <a:solidFill>
                  <a:srgbClr val="5B6B77"/>
                </a:solidFill>
                <a:latin typeface="Calibri"/>
                <a:cs typeface="Calibri"/>
              </a:rPr>
              <a:t>M3</a:t>
            </a:r>
          </a:p>
        </p:txBody>
      </p:sp>
      <p:sp>
        <p:nvSpPr>
          <p:cNvPr id="20" name="TextBox 20"/>
          <p:cNvSpPr txBox="1"/>
          <p:nvPr/>
        </p:nvSpPr>
        <p:spPr>
          <a:xfrm>
            <a:off x="5657850" y="2114550"/>
            <a:ext cx="1200150" cy="133350"/>
          </a:xfrm>
          <a:prstGeom prst="rect">
            <a:avLst/>
          </a:prstGeom>
          <a:noFill/>
        </p:spPr>
        <p:txBody>
          <a:bodyPr wrap="square" anchor="t" lIns="0" tIns="0" rIns="0" bIns="0">
            <a:noAutofit/>
          </a:bodyPr>
          <a:lstStyle/>
          <a:p>
            <a:pPr marL="0" indent="0" algn="ctr">
              <a:buNone/>
            </a:pPr>
            <a:r>
              <a:rPr lang="en-US" sz="800" dirty="0">
                <a:solidFill>
                  <a:srgbClr val="5B6B77"/>
                </a:solidFill>
                <a:latin typeface="Calibri"/>
                <a:cs typeface="Calibri"/>
              </a:rPr>
              <a:t>M4</a:t>
            </a:r>
          </a:p>
        </p:txBody>
      </p:sp>
      <p:sp>
        <p:nvSpPr>
          <p:cNvPr id="21" name="TextBox 21"/>
          <p:cNvSpPr txBox="1"/>
          <p:nvPr/>
        </p:nvSpPr>
        <p:spPr>
          <a:xfrm>
            <a:off x="6858000" y="2114550"/>
            <a:ext cx="1200150" cy="133350"/>
          </a:xfrm>
          <a:prstGeom prst="rect">
            <a:avLst/>
          </a:prstGeom>
          <a:noFill/>
        </p:spPr>
        <p:txBody>
          <a:bodyPr wrap="square" anchor="t" lIns="0" tIns="0" rIns="0" bIns="0">
            <a:noAutofit/>
          </a:bodyPr>
          <a:lstStyle/>
          <a:p>
            <a:pPr marL="0" indent="0" algn="ctr">
              <a:buNone/>
            </a:pPr>
            <a:r>
              <a:rPr lang="en-US" sz="800" dirty="0">
                <a:solidFill>
                  <a:srgbClr val="5B6B77"/>
                </a:solidFill>
                <a:latin typeface="Calibri"/>
                <a:cs typeface="Calibri"/>
              </a:rPr>
              <a:t>M5</a:t>
            </a:r>
          </a:p>
        </p:txBody>
      </p:sp>
      <p:sp>
        <p:nvSpPr>
          <p:cNvPr id="22" name="TextBox 22"/>
          <p:cNvSpPr txBox="1"/>
          <p:nvPr/>
        </p:nvSpPr>
        <p:spPr>
          <a:xfrm>
            <a:off x="8058150" y="2114550"/>
            <a:ext cx="1200150" cy="133350"/>
          </a:xfrm>
          <a:prstGeom prst="rect">
            <a:avLst/>
          </a:prstGeom>
          <a:noFill/>
        </p:spPr>
        <p:txBody>
          <a:bodyPr wrap="square" anchor="t" lIns="0" tIns="0" rIns="0" bIns="0">
            <a:noAutofit/>
          </a:bodyPr>
          <a:lstStyle/>
          <a:p>
            <a:pPr marL="0" indent="0" algn="ctr">
              <a:buNone/>
            </a:pPr>
            <a:r>
              <a:rPr lang="en-US" sz="800" dirty="0">
                <a:solidFill>
                  <a:srgbClr val="5B6B77"/>
                </a:solidFill>
                <a:latin typeface="Calibri"/>
                <a:cs typeface="Calibri"/>
              </a:rPr>
              <a:t>M6</a:t>
            </a:r>
          </a:p>
        </p:txBody>
      </p:sp>
      <p:sp>
        <p:nvSpPr>
          <p:cNvPr id="23" name="TextBox 23"/>
          <p:cNvSpPr txBox="1"/>
          <p:nvPr/>
        </p:nvSpPr>
        <p:spPr>
          <a:xfrm>
            <a:off x="9258300" y="2114550"/>
            <a:ext cx="1200150" cy="133350"/>
          </a:xfrm>
          <a:prstGeom prst="rect">
            <a:avLst/>
          </a:prstGeom>
          <a:noFill/>
        </p:spPr>
        <p:txBody>
          <a:bodyPr wrap="square" anchor="t" lIns="0" tIns="0" rIns="0" bIns="0">
            <a:noAutofit/>
          </a:bodyPr>
          <a:lstStyle/>
          <a:p>
            <a:pPr marL="0" indent="0" algn="ctr">
              <a:buNone/>
            </a:pPr>
            <a:r>
              <a:rPr lang="en-US" sz="800" dirty="0">
                <a:solidFill>
                  <a:srgbClr val="5B6B77"/>
                </a:solidFill>
                <a:latin typeface="Calibri"/>
                <a:cs typeface="Calibri"/>
              </a:rPr>
              <a:t>M7</a:t>
            </a:r>
          </a:p>
        </p:txBody>
      </p:sp>
      <p:sp>
        <p:nvSpPr>
          <p:cNvPr id="24" name="TextBox 24"/>
          <p:cNvSpPr txBox="1"/>
          <p:nvPr/>
        </p:nvSpPr>
        <p:spPr>
          <a:xfrm>
            <a:off x="10458450" y="2114550"/>
            <a:ext cx="1200150" cy="133350"/>
          </a:xfrm>
          <a:prstGeom prst="rect">
            <a:avLst/>
          </a:prstGeom>
          <a:noFill/>
        </p:spPr>
        <p:txBody>
          <a:bodyPr wrap="square" anchor="t" lIns="0" tIns="0" rIns="0" bIns="0">
            <a:noAutofit/>
          </a:bodyPr>
          <a:lstStyle/>
          <a:p>
            <a:pPr marL="0" indent="0" algn="ctr">
              <a:buNone/>
            </a:pPr>
            <a:r>
              <a:rPr lang="en-US" sz="800" dirty="0">
                <a:solidFill>
                  <a:srgbClr val="5B6B77"/>
                </a:solidFill>
                <a:latin typeface="Calibri"/>
                <a:cs typeface="Calibri"/>
              </a:rPr>
              <a:t>M8</a:t>
            </a:r>
          </a:p>
        </p:txBody>
      </p:sp>
      <p:sp>
        <p:nvSpPr>
          <p:cNvPr id="25" name="TextBox 25"/>
          <p:cNvSpPr txBox="1"/>
          <p:nvPr/>
        </p:nvSpPr>
        <p:spPr>
          <a:xfrm>
            <a:off x="533400" y="2266950"/>
            <a:ext cx="1447800" cy="190500"/>
          </a:xfrm>
          <a:prstGeom prst="rect">
            <a:avLst/>
          </a:prstGeom>
          <a:noFill/>
        </p:spPr>
        <p:txBody>
          <a:bodyPr wrap="square" anchor="t" lIns="0" tIns="0" rIns="0" bIns="0">
            <a:noAutofit/>
          </a:bodyPr>
          <a:lstStyle/>
          <a:p>
            <a:pPr marL="0" indent="0" algn="l">
              <a:buNone/>
            </a:pPr>
            <a:r>
              <a:rPr lang="en-US" sz="900" dirty="0">
                <a:solidFill>
                  <a:srgbClr val="2C3E50"/>
                </a:solidFill>
                <a:latin typeface="Calibri"/>
                <a:cs typeface="Calibri"/>
              </a:rPr>
              <a:t>Literature Review</a:t>
            </a:r>
          </a:p>
        </p:txBody>
      </p:sp>
      <p:sp>
        <p:nvSpPr>
          <p:cNvPr id="26" name="Rect 26"/>
          <p:cNvSpPr/>
          <p:nvPr/>
        </p:nvSpPr>
        <p:spPr>
          <a:xfrm>
            <a:off x="2057400" y="2276475"/>
            <a:ext cx="2400300" cy="152400"/>
          </a:xfrm>
          <a:prstGeom prst="roundRect">
            <a:avLst/>
          </a:prstGeom>
          <a:solidFill>
            <a:srgbClr val="1B4F72"/>
          </a:solidFill>
          <a:ln>
            <a:noFill/>
          </a:ln>
        </p:spPr>
        <p:txBody>
          <a:bodyPr/>
          <a:lstStyle/>
          <a:p/>
        </p:txBody>
      </p:sp>
      <p:sp>
        <p:nvSpPr>
          <p:cNvPr id="27" name="TextBox 27"/>
          <p:cNvSpPr txBox="1"/>
          <p:nvPr/>
        </p:nvSpPr>
        <p:spPr>
          <a:xfrm>
            <a:off x="533400" y="2476500"/>
            <a:ext cx="1447800" cy="190500"/>
          </a:xfrm>
          <a:prstGeom prst="rect">
            <a:avLst/>
          </a:prstGeom>
          <a:noFill/>
        </p:spPr>
        <p:txBody>
          <a:bodyPr wrap="square" anchor="t" lIns="0" tIns="0" rIns="0" bIns="0">
            <a:noAutofit/>
          </a:bodyPr>
          <a:lstStyle/>
          <a:p>
            <a:pPr marL="0" indent="0" algn="l">
              <a:buNone/>
            </a:pPr>
            <a:r>
              <a:rPr lang="en-US" sz="900" dirty="0">
                <a:solidFill>
                  <a:srgbClr val="2C3E50"/>
                </a:solidFill>
                <a:latin typeface="Calibri"/>
                <a:cs typeface="Calibri"/>
              </a:rPr>
              <a:t>Dataset Acquisition</a:t>
            </a:r>
          </a:p>
        </p:txBody>
      </p:sp>
      <p:sp>
        <p:nvSpPr>
          <p:cNvPr id="28" name="Rect 28"/>
          <p:cNvSpPr/>
          <p:nvPr/>
        </p:nvSpPr>
        <p:spPr>
          <a:xfrm>
            <a:off x="2057400" y="2486025"/>
            <a:ext cx="2400300" cy="152400"/>
          </a:xfrm>
          <a:prstGeom prst="roundRect">
            <a:avLst/>
          </a:prstGeom>
          <a:solidFill>
            <a:srgbClr val="1B4F72"/>
          </a:solidFill>
          <a:ln>
            <a:noFill/>
          </a:ln>
        </p:spPr>
        <p:txBody>
          <a:bodyPr/>
          <a:lstStyle/>
          <a:p/>
        </p:txBody>
      </p:sp>
      <p:sp>
        <p:nvSpPr>
          <p:cNvPr id="29" name="TextBox 29"/>
          <p:cNvSpPr txBox="1"/>
          <p:nvPr/>
        </p:nvSpPr>
        <p:spPr>
          <a:xfrm>
            <a:off x="533400" y="2686050"/>
            <a:ext cx="1447800" cy="190500"/>
          </a:xfrm>
          <a:prstGeom prst="rect">
            <a:avLst/>
          </a:prstGeom>
          <a:noFill/>
        </p:spPr>
        <p:txBody>
          <a:bodyPr wrap="square" anchor="t" lIns="0" tIns="0" rIns="0" bIns="0">
            <a:noAutofit/>
          </a:bodyPr>
          <a:lstStyle/>
          <a:p>
            <a:pPr marL="0" indent="0" algn="l">
              <a:buNone/>
            </a:pPr>
            <a:r>
              <a:rPr lang="en-US" sz="900" dirty="0">
                <a:solidFill>
                  <a:srgbClr val="2C3E50"/>
                </a:solidFill>
                <a:latin typeface="Calibri"/>
                <a:cs typeface="Calibri"/>
              </a:rPr>
              <a:t>ML Model Development</a:t>
            </a:r>
          </a:p>
        </p:txBody>
      </p:sp>
      <p:sp>
        <p:nvSpPr>
          <p:cNvPr id="30" name="Rect 30"/>
          <p:cNvSpPr/>
          <p:nvPr/>
        </p:nvSpPr>
        <p:spPr>
          <a:xfrm>
            <a:off x="3257550" y="2695575"/>
            <a:ext cx="3600450" cy="152400"/>
          </a:xfrm>
          <a:prstGeom prst="roundRect">
            <a:avLst/>
          </a:prstGeom>
          <a:solidFill>
            <a:srgbClr val="00A878"/>
          </a:solidFill>
          <a:ln>
            <a:noFill/>
          </a:ln>
        </p:spPr>
        <p:txBody>
          <a:bodyPr/>
          <a:lstStyle/>
          <a:p/>
        </p:txBody>
      </p:sp>
      <p:sp>
        <p:nvSpPr>
          <p:cNvPr id="31" name="TextBox 31"/>
          <p:cNvSpPr txBox="1"/>
          <p:nvPr/>
        </p:nvSpPr>
        <p:spPr>
          <a:xfrm>
            <a:off x="533400" y="2895600"/>
            <a:ext cx="1447800" cy="190500"/>
          </a:xfrm>
          <a:prstGeom prst="rect">
            <a:avLst/>
          </a:prstGeom>
          <a:noFill/>
        </p:spPr>
        <p:txBody>
          <a:bodyPr wrap="square" anchor="t" lIns="0" tIns="0" rIns="0" bIns="0">
            <a:noAutofit/>
          </a:bodyPr>
          <a:lstStyle/>
          <a:p>
            <a:pPr marL="0" indent="0" algn="l">
              <a:buNone/>
            </a:pPr>
            <a:r>
              <a:rPr lang="en-US" sz="900" dirty="0">
                <a:solidFill>
                  <a:srgbClr val="2C3E50"/>
                </a:solidFill>
                <a:latin typeface="Calibri"/>
                <a:cs typeface="Calibri"/>
              </a:rPr>
              <a:t>Web App Development</a:t>
            </a:r>
          </a:p>
        </p:txBody>
      </p:sp>
      <p:sp>
        <p:nvSpPr>
          <p:cNvPr id="32" name="Rect 32"/>
          <p:cNvSpPr/>
          <p:nvPr/>
        </p:nvSpPr>
        <p:spPr>
          <a:xfrm>
            <a:off x="4457700" y="2905125"/>
            <a:ext cx="3600450" cy="152400"/>
          </a:xfrm>
          <a:prstGeom prst="roundRect">
            <a:avLst/>
          </a:prstGeom>
          <a:solidFill>
            <a:srgbClr val="00A878"/>
          </a:solidFill>
          <a:ln>
            <a:noFill/>
          </a:ln>
        </p:spPr>
        <p:txBody>
          <a:bodyPr/>
          <a:lstStyle/>
          <a:p/>
        </p:txBody>
      </p:sp>
      <p:sp>
        <p:nvSpPr>
          <p:cNvPr id="33" name="TextBox 33"/>
          <p:cNvSpPr txBox="1"/>
          <p:nvPr/>
        </p:nvSpPr>
        <p:spPr>
          <a:xfrm>
            <a:off x="533400" y="3105150"/>
            <a:ext cx="1447800" cy="190500"/>
          </a:xfrm>
          <a:prstGeom prst="rect">
            <a:avLst/>
          </a:prstGeom>
          <a:noFill/>
        </p:spPr>
        <p:txBody>
          <a:bodyPr wrap="square" anchor="t" lIns="0" tIns="0" rIns="0" bIns="0">
            <a:noAutofit/>
          </a:bodyPr>
          <a:lstStyle/>
          <a:p>
            <a:pPr marL="0" indent="0" algn="l">
              <a:buNone/>
            </a:pPr>
            <a:r>
              <a:rPr lang="en-US" sz="900" dirty="0">
                <a:solidFill>
                  <a:srgbClr val="2C3E50"/>
                </a:solidFill>
                <a:latin typeface="Calibri"/>
                <a:cs typeface="Calibri"/>
              </a:rPr>
              <a:t>PHC Data Collection</a:t>
            </a:r>
          </a:p>
        </p:txBody>
      </p:sp>
      <p:sp>
        <p:nvSpPr>
          <p:cNvPr id="34" name="Rect 34"/>
          <p:cNvSpPr/>
          <p:nvPr/>
        </p:nvSpPr>
        <p:spPr>
          <a:xfrm>
            <a:off x="5657850" y="3114675"/>
            <a:ext cx="3600450" cy="152400"/>
          </a:xfrm>
          <a:prstGeom prst="roundRect">
            <a:avLst/>
          </a:prstGeom>
          <a:solidFill>
            <a:srgbClr val="E67E22"/>
          </a:solidFill>
          <a:ln>
            <a:noFill/>
          </a:ln>
        </p:spPr>
        <p:txBody>
          <a:bodyPr/>
          <a:lstStyle/>
          <a:p/>
        </p:txBody>
      </p:sp>
      <p:sp>
        <p:nvSpPr>
          <p:cNvPr id="35" name="TextBox 35"/>
          <p:cNvSpPr txBox="1"/>
          <p:nvPr/>
        </p:nvSpPr>
        <p:spPr>
          <a:xfrm>
            <a:off x="533400" y="3314700"/>
            <a:ext cx="1447800" cy="190500"/>
          </a:xfrm>
          <a:prstGeom prst="rect">
            <a:avLst/>
          </a:prstGeom>
          <a:noFill/>
        </p:spPr>
        <p:txBody>
          <a:bodyPr wrap="square" anchor="t" lIns="0" tIns="0" rIns="0" bIns="0">
            <a:noAutofit/>
          </a:bodyPr>
          <a:lstStyle/>
          <a:p>
            <a:pPr marL="0" indent="0" algn="l">
              <a:buNone/>
            </a:pPr>
            <a:r>
              <a:rPr lang="en-US" sz="900" dirty="0">
                <a:solidFill>
                  <a:srgbClr val="2C3E50"/>
                </a:solidFill>
                <a:latin typeface="Calibri"/>
                <a:cs typeface="Calibri"/>
              </a:rPr>
              <a:t>Validation Testing</a:t>
            </a:r>
          </a:p>
        </p:txBody>
      </p:sp>
      <p:sp>
        <p:nvSpPr>
          <p:cNvPr id="36" name="Rect 36"/>
          <p:cNvSpPr/>
          <p:nvPr/>
        </p:nvSpPr>
        <p:spPr>
          <a:xfrm>
            <a:off x="6858000" y="3324225"/>
            <a:ext cx="3600450" cy="152400"/>
          </a:xfrm>
          <a:prstGeom prst="roundRect">
            <a:avLst/>
          </a:prstGeom>
          <a:solidFill>
            <a:srgbClr val="E67E22"/>
          </a:solidFill>
          <a:ln>
            <a:noFill/>
          </a:ln>
        </p:spPr>
        <p:txBody>
          <a:bodyPr/>
          <a:lstStyle/>
          <a:p/>
        </p:txBody>
      </p:sp>
      <p:sp>
        <p:nvSpPr>
          <p:cNvPr id="37" name="TextBox 37"/>
          <p:cNvSpPr txBox="1"/>
          <p:nvPr/>
        </p:nvSpPr>
        <p:spPr>
          <a:xfrm>
            <a:off x="533400" y="3524250"/>
            <a:ext cx="1447800" cy="190500"/>
          </a:xfrm>
          <a:prstGeom prst="rect">
            <a:avLst/>
          </a:prstGeom>
          <a:noFill/>
        </p:spPr>
        <p:txBody>
          <a:bodyPr wrap="square" anchor="t" lIns="0" tIns="0" rIns="0" bIns="0">
            <a:noAutofit/>
          </a:bodyPr>
          <a:lstStyle/>
          <a:p>
            <a:pPr marL="0" indent="0" algn="l">
              <a:buNone/>
            </a:pPr>
            <a:r>
              <a:rPr lang="en-US" sz="900" dirty="0">
                <a:solidFill>
                  <a:srgbClr val="2C3E50"/>
                </a:solidFill>
                <a:latin typeface="Calibri"/>
                <a:cs typeface="Calibri"/>
              </a:rPr>
              <a:t>Report Writing</a:t>
            </a:r>
          </a:p>
        </p:txBody>
      </p:sp>
      <p:sp>
        <p:nvSpPr>
          <p:cNvPr id="38" name="Rect 38"/>
          <p:cNvSpPr/>
          <p:nvPr/>
        </p:nvSpPr>
        <p:spPr>
          <a:xfrm>
            <a:off x="9258300" y="3533775"/>
            <a:ext cx="2400300" cy="152400"/>
          </a:xfrm>
          <a:prstGeom prst="roundRect">
            <a:avLst/>
          </a:prstGeom>
          <a:solidFill>
            <a:srgbClr val="C0392B"/>
          </a:solidFill>
          <a:ln>
            <a:noFill/>
          </a:ln>
        </p:spPr>
        <p:txBody>
          <a:bodyPr/>
          <a:lstStyle/>
          <a:p/>
        </p:txBody>
      </p:sp>
      <p:sp>
        <p:nvSpPr>
          <p:cNvPr id="39" name="TextBox 39"/>
          <p:cNvSpPr txBox="1"/>
          <p:nvPr/>
        </p:nvSpPr>
        <p:spPr>
          <a:xfrm>
            <a:off x="533400" y="3733800"/>
            <a:ext cx="1447800" cy="190500"/>
          </a:xfrm>
          <a:prstGeom prst="rect">
            <a:avLst/>
          </a:prstGeom>
          <a:noFill/>
        </p:spPr>
        <p:txBody>
          <a:bodyPr wrap="square" anchor="t" lIns="0" tIns="0" rIns="0" bIns="0">
            <a:noAutofit/>
          </a:bodyPr>
          <a:lstStyle/>
          <a:p>
            <a:pPr marL="0" indent="0" algn="l">
              <a:buNone/>
            </a:pPr>
            <a:r>
              <a:rPr lang="en-US" sz="900" dirty="0">
                <a:solidFill>
                  <a:srgbClr val="2C3E50"/>
                </a:solidFill>
                <a:latin typeface="Calibri"/>
                <a:cs typeface="Calibri"/>
              </a:rPr>
              <a:t>Publication</a:t>
            </a:r>
          </a:p>
        </p:txBody>
      </p:sp>
      <p:sp>
        <p:nvSpPr>
          <p:cNvPr id="40" name="Rect 40"/>
          <p:cNvSpPr/>
          <p:nvPr/>
        </p:nvSpPr>
        <p:spPr>
          <a:xfrm>
            <a:off x="10458450" y="3743325"/>
            <a:ext cx="1200150" cy="152400"/>
          </a:xfrm>
          <a:prstGeom prst="roundRect">
            <a:avLst/>
          </a:prstGeom>
          <a:solidFill>
            <a:srgbClr val="7A1E14"/>
          </a:solidFill>
          <a:ln>
            <a:noFill/>
          </a:ln>
        </p:spPr>
        <p:txBody>
          <a:bodyPr/>
          <a:lstStyle/>
          <a:p/>
        </p:txBody>
      </p:sp>
      <p:sp>
        <p:nvSpPr>
          <p:cNvPr id="41" name="TextBox 41"/>
          <p:cNvSpPr txBox="1"/>
          <p:nvPr/>
        </p:nvSpPr>
        <p:spPr>
          <a:xfrm>
            <a:off x="533400" y="4133850"/>
            <a:ext cx="5715000" cy="171450"/>
          </a:xfrm>
          <a:prstGeom prst="rect">
            <a:avLst/>
          </a:prstGeom>
          <a:noFill/>
        </p:spPr>
        <p:txBody>
          <a:bodyPr wrap="square" anchor="t" lIns="0" tIns="0" rIns="0" bIns="0">
            <a:noAutofit/>
          </a:bodyPr>
          <a:lstStyle/>
          <a:p>
            <a:pPr marL="0" indent="0" algn="l">
              <a:buNone/>
            </a:pPr>
            <a:r>
              <a:rPr lang="en-US" sz="1200" b="1" dirty="0">
                <a:solidFill>
                  <a:srgbClr val="1B4F72"/>
                </a:solidFill>
                <a:latin typeface="Calibri"/>
                <a:cs typeface="Calibri"/>
              </a:rPr>
              <a:t>BUDGET ALLOCATION (WITHIN ₹10,000)</a:t>
            </a:r>
          </a:p>
        </p:txBody>
      </p:sp>
      <p:sp>
        <p:nvSpPr>
          <p:cNvPr id="42" name="Pie 42"/>
          <p:cNvSpPr/>
          <p:nvPr/>
        </p:nvSpPr>
        <p:spPr>
          <a:xfrm>
            <a:off x="704850" y="4419600"/>
            <a:ext cx="1371600" cy="1371600"/>
          </a:xfrm>
          <a:prstGeom prst="pie">
            <a:avLst>
              <a:gd name="adj1" fmla="val -5400000"/>
              <a:gd name="adj2" fmla="val -3480000"/>
            </a:avLst>
          </a:prstGeom>
          <a:solidFill>
            <a:srgbClr val="1B4F72"/>
          </a:solidFill>
          <a:ln w="9525">
            <a:solidFill>
              <a:srgbClr val="FFFFFF"/>
            </a:solidFill>
          </a:ln>
        </p:spPr>
        <p:txBody>
          <a:bodyPr/>
          <a:lstStyle/>
          <a:p/>
        </p:txBody>
      </p:sp>
      <p:sp>
        <p:nvSpPr>
          <p:cNvPr id="43" name="Pie 43"/>
          <p:cNvSpPr/>
          <p:nvPr/>
        </p:nvSpPr>
        <p:spPr>
          <a:xfrm>
            <a:off x="704850" y="4419600"/>
            <a:ext cx="1371600" cy="1371600"/>
          </a:xfrm>
          <a:prstGeom prst="pie">
            <a:avLst>
              <a:gd name="adj1" fmla="val -3480000"/>
              <a:gd name="adj2" fmla="val -2040000"/>
            </a:avLst>
          </a:prstGeom>
          <a:solidFill>
            <a:srgbClr val="00A878"/>
          </a:solidFill>
          <a:ln w="9525">
            <a:solidFill>
              <a:srgbClr val="FFFFFF"/>
            </a:solidFill>
          </a:ln>
        </p:spPr>
        <p:txBody>
          <a:bodyPr/>
          <a:lstStyle/>
          <a:p/>
        </p:txBody>
      </p:sp>
      <p:sp>
        <p:nvSpPr>
          <p:cNvPr id="44" name="Pie 44"/>
          <p:cNvSpPr/>
          <p:nvPr/>
        </p:nvSpPr>
        <p:spPr>
          <a:xfrm>
            <a:off x="704850" y="4419600"/>
            <a:ext cx="1371600" cy="1371600"/>
          </a:xfrm>
          <a:prstGeom prst="pie">
            <a:avLst>
              <a:gd name="adj1" fmla="val -2040000"/>
              <a:gd name="adj2" fmla="val 2760000"/>
            </a:avLst>
          </a:prstGeom>
          <a:solidFill>
            <a:srgbClr val="E67E22"/>
          </a:solidFill>
          <a:ln w="9525">
            <a:solidFill>
              <a:srgbClr val="FFFFFF"/>
            </a:solidFill>
          </a:ln>
        </p:spPr>
        <p:txBody>
          <a:bodyPr/>
          <a:lstStyle/>
          <a:p/>
        </p:txBody>
      </p:sp>
      <p:sp>
        <p:nvSpPr>
          <p:cNvPr id="45" name="Pie 45"/>
          <p:cNvSpPr/>
          <p:nvPr/>
        </p:nvSpPr>
        <p:spPr>
          <a:xfrm>
            <a:off x="704850" y="4419600"/>
            <a:ext cx="1371600" cy="1371600"/>
          </a:xfrm>
          <a:prstGeom prst="pie">
            <a:avLst>
              <a:gd name="adj1" fmla="val 2760000"/>
              <a:gd name="adj2" fmla="val 9960000"/>
            </a:avLst>
          </a:prstGeom>
          <a:solidFill>
            <a:srgbClr val="C0392B"/>
          </a:solidFill>
          <a:ln w="9525">
            <a:solidFill>
              <a:srgbClr val="FFFFFF"/>
            </a:solidFill>
          </a:ln>
        </p:spPr>
        <p:txBody>
          <a:bodyPr/>
          <a:lstStyle/>
          <a:p/>
        </p:txBody>
      </p:sp>
      <p:sp>
        <p:nvSpPr>
          <p:cNvPr id="46" name="Pie 46"/>
          <p:cNvSpPr/>
          <p:nvPr/>
        </p:nvSpPr>
        <p:spPr>
          <a:xfrm>
            <a:off x="704850" y="4419600"/>
            <a:ext cx="1371600" cy="1371600"/>
          </a:xfrm>
          <a:prstGeom prst="pie">
            <a:avLst>
              <a:gd name="adj1" fmla="val 9960000"/>
              <a:gd name="adj2" fmla="val 12840000"/>
            </a:avLst>
          </a:prstGeom>
          <a:solidFill>
            <a:srgbClr val="27AE60"/>
          </a:solidFill>
          <a:ln w="9525">
            <a:solidFill>
              <a:srgbClr val="FFFFFF"/>
            </a:solidFill>
          </a:ln>
        </p:spPr>
        <p:txBody>
          <a:bodyPr/>
          <a:lstStyle/>
          <a:p/>
        </p:txBody>
      </p:sp>
      <p:sp>
        <p:nvSpPr>
          <p:cNvPr id="47" name="Pie 47"/>
          <p:cNvSpPr/>
          <p:nvPr/>
        </p:nvSpPr>
        <p:spPr>
          <a:xfrm>
            <a:off x="704850" y="4419600"/>
            <a:ext cx="1371600" cy="1371600"/>
          </a:xfrm>
          <a:prstGeom prst="pie">
            <a:avLst>
              <a:gd name="adj1" fmla="val 12840000"/>
              <a:gd name="adj2" fmla="val 14040000"/>
            </a:avLst>
          </a:prstGeom>
          <a:solidFill>
            <a:srgbClr val="95A5A6"/>
          </a:solidFill>
          <a:ln w="9525">
            <a:solidFill>
              <a:srgbClr val="FFFFFF"/>
            </a:solidFill>
          </a:ln>
        </p:spPr>
        <p:txBody>
          <a:bodyPr/>
          <a:lstStyle/>
          <a:p/>
        </p:txBody>
      </p:sp>
      <p:sp>
        <p:nvSpPr>
          <p:cNvPr id="48" name="Pie 48"/>
          <p:cNvSpPr/>
          <p:nvPr/>
        </p:nvSpPr>
        <p:spPr>
          <a:xfrm>
            <a:off x="704850" y="4419600"/>
            <a:ext cx="1371600" cy="1371600"/>
          </a:xfrm>
          <a:prstGeom prst="pie">
            <a:avLst>
              <a:gd name="adj1" fmla="val 14040000"/>
              <a:gd name="adj2" fmla="val 16200000"/>
            </a:avLst>
          </a:prstGeom>
          <a:solidFill>
            <a:srgbClr val="5D8AA8"/>
          </a:solidFill>
          <a:ln w="9525">
            <a:solidFill>
              <a:srgbClr val="FFFFFF"/>
            </a:solidFill>
          </a:ln>
        </p:spPr>
        <p:txBody>
          <a:bodyPr/>
          <a:lstStyle/>
          <a:p/>
        </p:txBody>
      </p:sp>
      <p:graphicFrame>
        <p:nvGraphicFramePr>
          <p:cNvPr id="49" name="Table 49"/>
          <p:cNvGraphicFramePr>
            <a:graphicFrameLocks noGrp="1"/>
          </p:cNvGraphicFramePr>
          <p:nvPr/>
        </p:nvGraphicFramePr>
        <p:xfrm>
          <a:off x="2438400" y="4362450"/>
          <a:ext cx="4953000" cy="1524000"/>
        </p:xfrm>
        <a:graphic>
          <a:graphicData uri="http://schemas.openxmlformats.org/drawingml/2006/table">
            <a:tbl>
              <a:tblPr firstRow="1" bandRow="1"/>
              <a:tblGrid>
                <a:gridCol w="3619500"/>
                <a:gridCol w="1333500"/>
              </a:tblGrid>
              <a:tr h="169333">
                <a:tc>
                  <a:txBody>
                    <a:bodyPr wrap="square" lIns="36576" tIns="18288" rIns="36576" bIns="18288" anchor="ctr"/>
                    <a:lstStyle/>
                    <a:p>
                      <a:pPr marL="0" indent="0" algn="ctr">
                        <a:buNone/>
                      </a:pPr>
                      <a:r>
                        <a:rPr lang="en-US" sz="1000" b="1" dirty="0">
                          <a:solidFill>
                            <a:srgbClr val="FFFFFF"/>
                          </a:solidFill>
                          <a:latin typeface="Calibri"/>
                          <a:cs typeface="Calibri"/>
                        </a:rPr>
                        <a:t>Item</a:t>
                      </a:r>
                    </a:p>
                  </a:txBody>
                  <a:tcPr marL="36576" marR="36576" marT="18288" marB="18288" anchor="ctr">
                    <a:solidFill>
                      <a:srgbClr val="1B4F72"/>
                    </a:solidFill>
                    <a:lnL w="6350">
                      <a:solidFill>
                        <a:srgbClr val="E3E7E9"/>
                      </a:solidFill>
                    </a:lnL>
                    <a:lnR w="6350">
                      <a:solidFill>
                        <a:srgbClr val="E3E7E9"/>
                      </a:solidFill>
                    </a:lnR>
                    <a:lnT w="6350">
                      <a:solidFill>
                        <a:srgbClr val="E3E7E9"/>
                      </a:solidFill>
                    </a:lnT>
                    <a:lnB w="6350">
                      <a:solidFill>
                        <a:srgbClr val="E3E7E9"/>
                      </a:solidFill>
                    </a:lnB>
                  </a:tcPr>
                </a:tc>
                <a:tc>
                  <a:txBody>
                    <a:bodyPr wrap="square" lIns="36576" tIns="18288" rIns="36576" bIns="18288" anchor="ctr"/>
                    <a:lstStyle/>
                    <a:p>
                      <a:pPr marL="0" indent="0" algn="ctr">
                        <a:buNone/>
                      </a:pPr>
                      <a:r>
                        <a:rPr lang="en-US" sz="1000" b="1" dirty="0">
                          <a:solidFill>
                            <a:srgbClr val="FFFFFF"/>
                          </a:solidFill>
                          <a:latin typeface="Calibri"/>
                          <a:cs typeface="Calibri"/>
                        </a:rPr>
                        <a:t>Cost</a:t>
                      </a:r>
                    </a:p>
                  </a:txBody>
                  <a:tcPr marL="36576" marR="36576" marT="18288" marB="18288" anchor="ctr">
                    <a:solidFill>
                      <a:srgbClr val="1B4F72"/>
                    </a:solidFill>
                    <a:lnL w="6350">
                      <a:solidFill>
                        <a:srgbClr val="E3E7E9"/>
                      </a:solidFill>
                    </a:lnL>
                    <a:lnR w="6350">
                      <a:solidFill>
                        <a:srgbClr val="E3E7E9"/>
                      </a:solidFill>
                    </a:lnR>
                    <a:lnT w="6350">
                      <a:solidFill>
                        <a:srgbClr val="E3E7E9"/>
                      </a:solidFill>
                    </a:lnT>
                    <a:lnB w="6350">
                      <a:solidFill>
                        <a:srgbClr val="E3E7E9"/>
                      </a:solidFill>
                    </a:lnB>
                  </a:tcPr>
                </a:tc>
              </a:tr>
              <a:tr h="169333">
                <a:tc>
                  <a:txBody>
                    <a:bodyPr wrap="square" lIns="36576" tIns="18288" rIns="36576" bIns="18288" anchor="ctr"/>
                    <a:lstStyle/>
                    <a:p>
                      <a:pPr marL="0" indent="0" algn="l">
                        <a:buNone/>
                      </a:pPr>
                      <a:r>
                        <a:rPr lang="en-US" sz="930" dirty="0">
                          <a:solidFill>
                            <a:srgbClr val="2C3E50"/>
                          </a:solidFill>
                          <a:latin typeface="Calibri"/>
                          <a:cs typeface="Calibri"/>
                        </a:rPr>
                        <a:t>Printing &amp; Stationery</a:t>
                      </a:r>
                    </a:p>
                  </a:txBody>
                  <a:tcPr marL="36576" marR="36576" marT="18288" marB="18288" anchor="ctr">
                    <a:solidFill>
                      <a:srgbClr val="FFFFFF"/>
                    </a:solidFill>
                    <a:lnL w="6350">
                      <a:solidFill>
                        <a:srgbClr val="E3E7E9"/>
                      </a:solidFill>
                    </a:lnL>
                    <a:lnR w="6350">
                      <a:solidFill>
                        <a:srgbClr val="E3E7E9"/>
                      </a:solidFill>
                    </a:lnR>
                    <a:lnT w="6350">
                      <a:solidFill>
                        <a:srgbClr val="E3E7E9"/>
                      </a:solidFill>
                    </a:lnT>
                    <a:lnB w="6350">
                      <a:solidFill>
                        <a:srgbClr val="E3E7E9"/>
                      </a:solidFill>
                    </a:lnB>
                  </a:tcPr>
                </a:tc>
                <a:tc>
                  <a:txBody>
                    <a:bodyPr wrap="square" lIns="36576" tIns="18288" rIns="36576" bIns="18288" anchor="ctr"/>
                    <a:lstStyle/>
                    <a:p>
                      <a:pPr marL="0" indent="0" algn="r">
                        <a:buNone/>
                      </a:pPr>
                      <a:r>
                        <a:rPr lang="en-US" sz="930" b="1" dirty="0">
                          <a:solidFill>
                            <a:srgbClr val="2C3E50"/>
                          </a:solidFill>
                          <a:latin typeface="Calibri"/>
                          <a:cs typeface="Calibri"/>
                        </a:rPr>
                        <a:t>₹800</a:t>
                      </a:r>
                    </a:p>
                  </a:txBody>
                  <a:tcPr marL="36576" marR="36576" marT="18288" marB="18288" anchor="ctr">
                    <a:solidFill>
                      <a:srgbClr val="FFFFFF"/>
                    </a:solidFill>
                    <a:lnL w="6350">
                      <a:solidFill>
                        <a:srgbClr val="E3E7E9"/>
                      </a:solidFill>
                    </a:lnL>
                    <a:lnR w="6350">
                      <a:solidFill>
                        <a:srgbClr val="E3E7E9"/>
                      </a:solidFill>
                    </a:lnR>
                    <a:lnT w="6350">
                      <a:solidFill>
                        <a:srgbClr val="E3E7E9"/>
                      </a:solidFill>
                    </a:lnT>
                    <a:lnB w="6350">
                      <a:solidFill>
                        <a:srgbClr val="E3E7E9"/>
                      </a:solidFill>
                    </a:lnB>
                  </a:tcPr>
                </a:tc>
              </a:tr>
              <a:tr h="169333">
                <a:tc>
                  <a:txBody>
                    <a:bodyPr wrap="square" lIns="36576" tIns="18288" rIns="36576" bIns="18288" anchor="ctr"/>
                    <a:lstStyle/>
                    <a:p>
                      <a:pPr marL="0" indent="0" algn="l">
                        <a:buNone/>
                      </a:pPr>
                      <a:r>
                        <a:rPr lang="en-US" sz="930" dirty="0">
                          <a:solidFill>
                            <a:srgbClr val="2C3E50"/>
                          </a:solidFill>
                          <a:latin typeface="Calibri"/>
                          <a:cs typeface="Calibri"/>
                        </a:rPr>
                        <a:t>Research Poster</a:t>
                      </a:r>
                    </a:p>
                  </a:txBody>
                  <a:tcPr marL="36576" marR="36576" marT="18288" marB="18288" anchor="ctr">
                    <a:solidFill>
                      <a:srgbClr val="E3E7E9"/>
                    </a:solidFill>
                    <a:lnL w="6350">
                      <a:solidFill>
                        <a:srgbClr val="E3E7E9"/>
                      </a:solidFill>
                    </a:lnL>
                    <a:lnR w="6350">
                      <a:solidFill>
                        <a:srgbClr val="E3E7E9"/>
                      </a:solidFill>
                    </a:lnR>
                    <a:lnT w="6350">
                      <a:solidFill>
                        <a:srgbClr val="E3E7E9"/>
                      </a:solidFill>
                    </a:lnT>
                    <a:lnB w="6350">
                      <a:solidFill>
                        <a:srgbClr val="E3E7E9"/>
                      </a:solidFill>
                    </a:lnB>
                  </a:tcPr>
                </a:tc>
                <a:tc>
                  <a:txBody>
                    <a:bodyPr wrap="square" lIns="36576" tIns="18288" rIns="36576" bIns="18288" anchor="ctr"/>
                    <a:lstStyle/>
                    <a:p>
                      <a:pPr marL="0" indent="0" algn="r">
                        <a:buNone/>
                      </a:pPr>
                      <a:r>
                        <a:rPr lang="en-US" sz="930" b="1" dirty="0">
                          <a:solidFill>
                            <a:srgbClr val="2C3E50"/>
                          </a:solidFill>
                          <a:latin typeface="Calibri"/>
                          <a:cs typeface="Calibri"/>
                        </a:rPr>
                        <a:t>₹600</a:t>
                      </a:r>
                    </a:p>
                  </a:txBody>
                  <a:tcPr marL="36576" marR="36576" marT="18288" marB="18288" anchor="ctr">
                    <a:solidFill>
                      <a:srgbClr val="E3E7E9"/>
                    </a:solidFill>
                    <a:lnL w="6350">
                      <a:solidFill>
                        <a:srgbClr val="E3E7E9"/>
                      </a:solidFill>
                    </a:lnL>
                    <a:lnR w="6350">
                      <a:solidFill>
                        <a:srgbClr val="E3E7E9"/>
                      </a:solidFill>
                    </a:lnR>
                    <a:lnT w="6350">
                      <a:solidFill>
                        <a:srgbClr val="E3E7E9"/>
                      </a:solidFill>
                    </a:lnT>
                    <a:lnB w="6350">
                      <a:solidFill>
                        <a:srgbClr val="E3E7E9"/>
                      </a:solidFill>
                    </a:lnB>
                  </a:tcPr>
                </a:tc>
              </a:tr>
              <a:tr h="169333">
                <a:tc>
                  <a:txBody>
                    <a:bodyPr wrap="square" lIns="36576" tIns="18288" rIns="36576" bIns="18288" anchor="ctr"/>
                    <a:lstStyle/>
                    <a:p>
                      <a:pPr marL="0" indent="0" algn="l">
                        <a:buNone/>
                      </a:pPr>
                      <a:r>
                        <a:rPr lang="en-US" sz="930" dirty="0">
                          <a:solidFill>
                            <a:srgbClr val="2C3E50"/>
                          </a:solidFill>
                          <a:latin typeface="Calibri"/>
                          <a:cs typeface="Calibri"/>
                        </a:rPr>
                        <a:t>Conference Registration</a:t>
                      </a:r>
                    </a:p>
                  </a:txBody>
                  <a:tcPr marL="36576" marR="36576" marT="18288" marB="18288" anchor="ctr">
                    <a:solidFill>
                      <a:srgbClr val="FFFFFF"/>
                    </a:solidFill>
                    <a:lnL w="6350">
                      <a:solidFill>
                        <a:srgbClr val="E3E7E9"/>
                      </a:solidFill>
                    </a:lnL>
                    <a:lnR w="6350">
                      <a:solidFill>
                        <a:srgbClr val="E3E7E9"/>
                      </a:solidFill>
                    </a:lnR>
                    <a:lnT w="6350">
                      <a:solidFill>
                        <a:srgbClr val="E3E7E9"/>
                      </a:solidFill>
                    </a:lnT>
                    <a:lnB w="6350">
                      <a:solidFill>
                        <a:srgbClr val="E3E7E9"/>
                      </a:solidFill>
                    </a:lnB>
                  </a:tcPr>
                </a:tc>
                <a:tc>
                  <a:txBody>
                    <a:bodyPr wrap="square" lIns="36576" tIns="18288" rIns="36576" bIns="18288" anchor="ctr"/>
                    <a:lstStyle/>
                    <a:p>
                      <a:pPr marL="0" indent="0" algn="r">
                        <a:buNone/>
                      </a:pPr>
                      <a:r>
                        <a:rPr lang="en-US" sz="930" b="1" dirty="0">
                          <a:solidFill>
                            <a:srgbClr val="2C3E50"/>
                          </a:solidFill>
                          <a:latin typeface="Calibri"/>
                          <a:cs typeface="Calibri"/>
                        </a:rPr>
                        <a:t>₹2,000</a:t>
                      </a:r>
                    </a:p>
                  </a:txBody>
                  <a:tcPr marL="36576" marR="36576" marT="18288" marB="18288" anchor="ctr">
                    <a:solidFill>
                      <a:srgbClr val="FFFFFF"/>
                    </a:solidFill>
                    <a:lnL w="6350">
                      <a:solidFill>
                        <a:srgbClr val="E3E7E9"/>
                      </a:solidFill>
                    </a:lnL>
                    <a:lnR w="6350">
                      <a:solidFill>
                        <a:srgbClr val="E3E7E9"/>
                      </a:solidFill>
                    </a:lnR>
                    <a:lnT w="6350">
                      <a:solidFill>
                        <a:srgbClr val="E3E7E9"/>
                      </a:solidFill>
                    </a:lnT>
                    <a:lnB w="6350">
                      <a:solidFill>
                        <a:srgbClr val="E3E7E9"/>
                      </a:solidFill>
                    </a:lnB>
                  </a:tcPr>
                </a:tc>
              </a:tr>
              <a:tr h="169333">
                <a:tc>
                  <a:txBody>
                    <a:bodyPr wrap="square" lIns="36576" tIns="18288" rIns="36576" bIns="18288" anchor="ctr"/>
                    <a:lstStyle/>
                    <a:p>
                      <a:pPr marL="0" indent="0" algn="l">
                        <a:buNone/>
                      </a:pPr>
                      <a:r>
                        <a:rPr lang="en-US" sz="930" dirty="0">
                          <a:solidFill>
                            <a:srgbClr val="2C3E50"/>
                          </a:solidFill>
                          <a:latin typeface="Calibri"/>
                          <a:cs typeface="Calibri"/>
                        </a:rPr>
                        <a:t>Journal Submission</a:t>
                      </a:r>
                    </a:p>
                  </a:txBody>
                  <a:tcPr marL="36576" marR="36576" marT="18288" marB="18288" anchor="ctr">
                    <a:solidFill>
                      <a:srgbClr val="E3E7E9"/>
                    </a:solidFill>
                    <a:lnL w="6350">
                      <a:solidFill>
                        <a:srgbClr val="E3E7E9"/>
                      </a:solidFill>
                    </a:lnL>
                    <a:lnR w="6350">
                      <a:solidFill>
                        <a:srgbClr val="E3E7E9"/>
                      </a:solidFill>
                    </a:lnR>
                    <a:lnT w="6350">
                      <a:solidFill>
                        <a:srgbClr val="E3E7E9"/>
                      </a:solidFill>
                    </a:lnT>
                    <a:lnB w="6350">
                      <a:solidFill>
                        <a:srgbClr val="E3E7E9"/>
                      </a:solidFill>
                    </a:lnB>
                  </a:tcPr>
                </a:tc>
                <a:tc>
                  <a:txBody>
                    <a:bodyPr wrap="square" lIns="36576" tIns="18288" rIns="36576" bIns="18288" anchor="ctr"/>
                    <a:lstStyle/>
                    <a:p>
                      <a:pPr marL="0" indent="0" algn="r">
                        <a:buNone/>
                      </a:pPr>
                      <a:r>
                        <a:rPr lang="en-US" sz="930" b="1" dirty="0">
                          <a:solidFill>
                            <a:srgbClr val="2C3E50"/>
                          </a:solidFill>
                          <a:latin typeface="Calibri"/>
                          <a:cs typeface="Calibri"/>
                        </a:rPr>
                        <a:t>₹3,000</a:t>
                      </a:r>
                    </a:p>
                  </a:txBody>
                  <a:tcPr marL="36576" marR="36576" marT="18288" marB="18288" anchor="ctr">
                    <a:solidFill>
                      <a:srgbClr val="E3E7E9"/>
                    </a:solidFill>
                    <a:lnL w="6350">
                      <a:solidFill>
                        <a:srgbClr val="E3E7E9"/>
                      </a:solidFill>
                    </a:lnL>
                    <a:lnR w="6350">
                      <a:solidFill>
                        <a:srgbClr val="E3E7E9"/>
                      </a:solidFill>
                    </a:lnR>
                    <a:lnT w="6350">
                      <a:solidFill>
                        <a:srgbClr val="E3E7E9"/>
                      </a:solidFill>
                    </a:lnT>
                    <a:lnB w="6350">
                      <a:solidFill>
                        <a:srgbClr val="E3E7E9"/>
                      </a:solidFill>
                    </a:lnB>
                  </a:tcPr>
                </a:tc>
              </a:tr>
              <a:tr h="169333">
                <a:tc>
                  <a:txBody>
                    <a:bodyPr wrap="square" lIns="36576" tIns="18288" rIns="36576" bIns="18288" anchor="ctr"/>
                    <a:lstStyle/>
                    <a:p>
                      <a:pPr marL="0" indent="0" algn="l">
                        <a:buNone/>
                      </a:pPr>
                      <a:r>
                        <a:rPr lang="en-US" sz="930" dirty="0">
                          <a:solidFill>
                            <a:srgbClr val="2C3E50"/>
                          </a:solidFill>
                          <a:latin typeface="Calibri"/>
                          <a:cs typeface="Calibri"/>
                        </a:rPr>
                        <a:t>PHC Field Visits (Travel)</a:t>
                      </a:r>
                    </a:p>
                  </a:txBody>
                  <a:tcPr marL="36576" marR="36576" marT="18288" marB="18288" anchor="ctr">
                    <a:solidFill>
                      <a:srgbClr val="FFFFFF"/>
                    </a:solidFill>
                    <a:lnL w="6350">
                      <a:solidFill>
                        <a:srgbClr val="E3E7E9"/>
                      </a:solidFill>
                    </a:lnL>
                    <a:lnR w="6350">
                      <a:solidFill>
                        <a:srgbClr val="E3E7E9"/>
                      </a:solidFill>
                    </a:lnR>
                    <a:lnT w="6350">
                      <a:solidFill>
                        <a:srgbClr val="E3E7E9"/>
                      </a:solidFill>
                    </a:lnT>
                    <a:lnB w="6350">
                      <a:solidFill>
                        <a:srgbClr val="E3E7E9"/>
                      </a:solidFill>
                    </a:lnB>
                  </a:tcPr>
                </a:tc>
                <a:tc>
                  <a:txBody>
                    <a:bodyPr wrap="square" lIns="36576" tIns="18288" rIns="36576" bIns="18288" anchor="ctr"/>
                    <a:lstStyle/>
                    <a:p>
                      <a:pPr marL="0" indent="0" algn="r">
                        <a:buNone/>
                      </a:pPr>
                      <a:r>
                        <a:rPr lang="en-US" sz="930" b="1" dirty="0">
                          <a:solidFill>
                            <a:srgbClr val="2C3E50"/>
                          </a:solidFill>
                          <a:latin typeface="Calibri"/>
                          <a:cs typeface="Calibri"/>
                        </a:rPr>
                        <a:t>₹1,200</a:t>
                      </a:r>
                    </a:p>
                  </a:txBody>
                  <a:tcPr marL="36576" marR="36576" marT="18288" marB="18288" anchor="ctr">
                    <a:solidFill>
                      <a:srgbClr val="FFFFFF"/>
                    </a:solidFill>
                    <a:lnL w="6350">
                      <a:solidFill>
                        <a:srgbClr val="E3E7E9"/>
                      </a:solidFill>
                    </a:lnL>
                    <a:lnR w="6350">
                      <a:solidFill>
                        <a:srgbClr val="E3E7E9"/>
                      </a:solidFill>
                    </a:lnR>
                    <a:lnT w="6350">
                      <a:solidFill>
                        <a:srgbClr val="E3E7E9"/>
                      </a:solidFill>
                    </a:lnT>
                    <a:lnB w="6350">
                      <a:solidFill>
                        <a:srgbClr val="E3E7E9"/>
                      </a:solidFill>
                    </a:lnB>
                  </a:tcPr>
                </a:tc>
              </a:tr>
              <a:tr h="169333">
                <a:tc>
                  <a:txBody>
                    <a:bodyPr wrap="square" lIns="36576" tIns="18288" rIns="36576" bIns="18288" anchor="ctr"/>
                    <a:lstStyle/>
                    <a:p>
                      <a:pPr marL="0" indent="0" algn="l">
                        <a:buNone/>
                      </a:pPr>
                      <a:r>
                        <a:rPr lang="en-US" sz="930" dirty="0">
                          <a:solidFill>
                            <a:srgbClr val="2C3E50"/>
                          </a:solidFill>
                          <a:latin typeface="Calibri"/>
                          <a:cs typeface="Calibri"/>
                        </a:rPr>
                        <a:t>Cloud Hosting (3 months)</a:t>
                      </a:r>
                    </a:p>
                  </a:txBody>
                  <a:tcPr marL="36576" marR="36576" marT="18288" marB="18288" anchor="ctr">
                    <a:solidFill>
                      <a:srgbClr val="E3E7E9"/>
                    </a:solidFill>
                    <a:lnL w="6350">
                      <a:solidFill>
                        <a:srgbClr val="E3E7E9"/>
                      </a:solidFill>
                    </a:lnL>
                    <a:lnR w="6350">
                      <a:solidFill>
                        <a:srgbClr val="E3E7E9"/>
                      </a:solidFill>
                    </a:lnR>
                    <a:lnT w="6350">
                      <a:solidFill>
                        <a:srgbClr val="E3E7E9"/>
                      </a:solidFill>
                    </a:lnT>
                    <a:lnB w="6350">
                      <a:solidFill>
                        <a:srgbClr val="E3E7E9"/>
                      </a:solidFill>
                    </a:lnB>
                  </a:tcPr>
                </a:tc>
                <a:tc>
                  <a:txBody>
                    <a:bodyPr wrap="square" lIns="36576" tIns="18288" rIns="36576" bIns="18288" anchor="ctr"/>
                    <a:lstStyle/>
                    <a:p>
                      <a:pPr marL="0" indent="0" algn="r">
                        <a:buNone/>
                      </a:pPr>
                      <a:r>
                        <a:rPr lang="en-US" sz="930" b="1" dirty="0">
                          <a:solidFill>
                            <a:srgbClr val="2C3E50"/>
                          </a:solidFill>
                          <a:latin typeface="Calibri"/>
                          <a:cs typeface="Calibri"/>
                        </a:rPr>
                        <a:t>₹500</a:t>
                      </a:r>
                    </a:p>
                  </a:txBody>
                  <a:tcPr marL="36576" marR="36576" marT="18288" marB="18288" anchor="ctr">
                    <a:solidFill>
                      <a:srgbClr val="E3E7E9"/>
                    </a:solidFill>
                    <a:lnL w="6350">
                      <a:solidFill>
                        <a:srgbClr val="E3E7E9"/>
                      </a:solidFill>
                    </a:lnL>
                    <a:lnR w="6350">
                      <a:solidFill>
                        <a:srgbClr val="E3E7E9"/>
                      </a:solidFill>
                    </a:lnR>
                    <a:lnT w="6350">
                      <a:solidFill>
                        <a:srgbClr val="E3E7E9"/>
                      </a:solidFill>
                    </a:lnT>
                    <a:lnB w="6350">
                      <a:solidFill>
                        <a:srgbClr val="E3E7E9"/>
                      </a:solidFill>
                    </a:lnB>
                  </a:tcPr>
                </a:tc>
              </a:tr>
              <a:tr h="169333">
                <a:tc>
                  <a:txBody>
                    <a:bodyPr wrap="square" lIns="36576" tIns="18288" rIns="36576" bIns="18288" anchor="ctr"/>
                    <a:lstStyle/>
                    <a:p>
                      <a:pPr marL="0" indent="0" algn="l">
                        <a:buNone/>
                      </a:pPr>
                      <a:r>
                        <a:rPr lang="en-US" sz="930" dirty="0">
                          <a:solidFill>
                            <a:srgbClr val="2C3E50"/>
                          </a:solidFill>
                          <a:latin typeface="Calibri"/>
                          <a:cs typeface="Calibri"/>
                        </a:rPr>
                        <a:t>Contingency</a:t>
                      </a:r>
                    </a:p>
                  </a:txBody>
                  <a:tcPr marL="36576" marR="36576" marT="18288" marB="18288" anchor="ctr">
                    <a:solidFill>
                      <a:srgbClr val="FFFFFF"/>
                    </a:solidFill>
                    <a:lnL w="6350">
                      <a:solidFill>
                        <a:srgbClr val="E3E7E9"/>
                      </a:solidFill>
                    </a:lnL>
                    <a:lnR w="6350">
                      <a:solidFill>
                        <a:srgbClr val="E3E7E9"/>
                      </a:solidFill>
                    </a:lnR>
                    <a:lnT w="6350">
                      <a:solidFill>
                        <a:srgbClr val="E3E7E9"/>
                      </a:solidFill>
                    </a:lnT>
                    <a:lnB w="6350">
                      <a:solidFill>
                        <a:srgbClr val="E3E7E9"/>
                      </a:solidFill>
                    </a:lnB>
                  </a:tcPr>
                </a:tc>
                <a:tc>
                  <a:txBody>
                    <a:bodyPr wrap="square" lIns="36576" tIns="18288" rIns="36576" bIns="18288" anchor="ctr"/>
                    <a:lstStyle/>
                    <a:p>
                      <a:pPr marL="0" indent="0" algn="r">
                        <a:buNone/>
                      </a:pPr>
                      <a:r>
                        <a:rPr lang="en-US" sz="930" b="1" dirty="0">
                          <a:solidFill>
                            <a:srgbClr val="2C3E50"/>
                          </a:solidFill>
                          <a:latin typeface="Calibri"/>
                          <a:cs typeface="Calibri"/>
                        </a:rPr>
                        <a:t>₹900</a:t>
                      </a:r>
                    </a:p>
                  </a:txBody>
                  <a:tcPr marL="36576" marR="36576" marT="18288" marB="18288" anchor="ctr">
                    <a:solidFill>
                      <a:srgbClr val="FFFFFF"/>
                    </a:solidFill>
                    <a:lnL w="6350">
                      <a:solidFill>
                        <a:srgbClr val="E3E7E9"/>
                      </a:solidFill>
                    </a:lnL>
                    <a:lnR w="6350">
                      <a:solidFill>
                        <a:srgbClr val="E3E7E9"/>
                      </a:solidFill>
                    </a:lnR>
                    <a:lnT w="6350">
                      <a:solidFill>
                        <a:srgbClr val="E3E7E9"/>
                      </a:solidFill>
                    </a:lnT>
                    <a:lnB w="6350">
                      <a:solidFill>
                        <a:srgbClr val="E3E7E9"/>
                      </a:solidFill>
                    </a:lnB>
                  </a:tcPr>
                </a:tc>
              </a:tr>
              <a:tr h="169333">
                <a:tc>
                  <a:txBody>
                    <a:bodyPr wrap="square" lIns="36576" tIns="18288" rIns="36576" bIns="18288" anchor="ctr"/>
                    <a:lstStyle/>
                    <a:p>
                      <a:pPr marL="0" indent="0" algn="l">
                        <a:buNone/>
                      </a:pPr>
                      <a:r>
                        <a:rPr lang="en-US" sz="1000" b="1" dirty="0">
                          <a:solidFill>
                            <a:srgbClr val="2C3E50"/>
                          </a:solidFill>
                          <a:latin typeface="Calibri"/>
                          <a:cs typeface="Calibri"/>
                        </a:rPr>
                        <a:t>TOTAL</a:t>
                      </a:r>
                    </a:p>
                  </a:txBody>
                  <a:tcPr marL="36576" marR="36576" marT="18288" marB="18288" anchor="ctr">
                    <a:solidFill>
                      <a:srgbClr val="E3E7E9"/>
                    </a:solidFill>
                    <a:lnL w="6350">
                      <a:solidFill>
                        <a:srgbClr val="E3E7E9"/>
                      </a:solidFill>
                    </a:lnL>
                    <a:lnR w="6350">
                      <a:solidFill>
                        <a:srgbClr val="E3E7E9"/>
                      </a:solidFill>
                    </a:lnR>
                    <a:lnT w="6350">
                      <a:solidFill>
                        <a:srgbClr val="E3E7E9"/>
                      </a:solidFill>
                    </a:lnT>
                    <a:lnB w="6350">
                      <a:solidFill>
                        <a:srgbClr val="E3E7E9"/>
                      </a:solidFill>
                    </a:lnB>
                  </a:tcPr>
                </a:tc>
                <a:tc>
                  <a:txBody>
                    <a:bodyPr wrap="square" lIns="36576" tIns="18288" rIns="36576" bIns="18288" anchor="ctr"/>
                    <a:lstStyle/>
                    <a:p>
                      <a:pPr marL="0" indent="0" algn="r">
                        <a:buNone/>
                      </a:pPr>
                      <a:r>
                        <a:rPr lang="en-US" sz="1000" b="1" dirty="0">
                          <a:solidFill>
                            <a:srgbClr val="1B4F72"/>
                          </a:solidFill>
                          <a:latin typeface="Calibri"/>
                          <a:cs typeface="Calibri"/>
                        </a:rPr>
                        <a:t>₹9,000</a:t>
                      </a:r>
                    </a:p>
                  </a:txBody>
                  <a:tcPr marL="36576" marR="36576" marT="18288" marB="18288" anchor="ctr">
                    <a:solidFill>
                      <a:srgbClr val="E3E7E9"/>
                    </a:solidFill>
                    <a:lnL w="6350">
                      <a:solidFill>
                        <a:srgbClr val="E3E7E9"/>
                      </a:solidFill>
                    </a:lnL>
                    <a:lnR w="6350">
                      <a:solidFill>
                        <a:srgbClr val="E3E7E9"/>
                      </a:solidFill>
                    </a:lnR>
                    <a:lnT w="6350">
                      <a:solidFill>
                        <a:srgbClr val="E3E7E9"/>
                      </a:solidFill>
                    </a:lnT>
                    <a:lnB w="6350">
                      <a:solidFill>
                        <a:srgbClr val="E3E7E9"/>
                      </a:solidFill>
                    </a:lnB>
                  </a:tcPr>
                </a:tc>
              </a:tr>
            </a:tbl>
          </a:graphicData>
        </a:graphic>
      </p:graphicFrame>
      <p:cxnSp>
        <p:nvCxnSpPr>
          <p:cNvPr id="50" name="Line 50"/>
          <p:cNvCxnSpPr/>
          <p:nvPr/>
        </p:nvCxnSpPr>
        <p:spPr>
          <a:xfrm flipH="0" flipV="0">
            <a:off x="533400" y="6667500"/>
            <a:ext cx="11125200" cy="9525"/>
          </a:xfrm>
          <a:prstGeom prst="line">
            <a:avLst/>
          </a:prstGeom>
          <a:ln w="12700">
            <a:solidFill>
              <a:srgbClr val="E3E7E9"/>
            </a:solidFill>
          </a:ln>
        </p:spPr>
      </p:cxnSp>
      <p:sp>
        <p:nvSpPr>
          <p:cNvPr id="51" name="TextBox 51"/>
          <p:cNvSpPr txBox="1"/>
          <p:nvPr/>
        </p:nvSpPr>
        <p:spPr>
          <a:xfrm>
            <a:off x="533400" y="6705600"/>
            <a:ext cx="8572500" cy="190500"/>
          </a:xfrm>
          <a:prstGeom prst="rect">
            <a:avLst/>
          </a:prstGeom>
          <a:noFill/>
        </p:spPr>
        <p:txBody>
          <a:bodyPr wrap="square" anchor="t" lIns="0" tIns="0" rIns="0" bIns="0">
            <a:noAutofit/>
          </a:bodyPr>
          <a:lstStyle/>
          <a:p>
            <a:pPr marL="0" indent="0" algn="l">
              <a:buNone/>
            </a:pPr>
            <a:r>
              <a:rPr lang="en-US" sz="850" dirty="0">
                <a:solidFill>
                  <a:srgbClr val="7A8B99"/>
                </a:solidFill>
                <a:latin typeface="Calibri"/>
                <a:cs typeface="Calibri"/>
              </a:rPr>
              <a:t>NephroAlert | ACS-AMRI Seed Grant Proposal 2026 | Dr. MGR Educational and Research Institute, Chennai</a:t>
            </a:r>
          </a:p>
        </p:txBody>
      </p:sp>
      <p:sp>
        <p:nvSpPr>
          <p:cNvPr id="52" name="TextBox 52"/>
          <p:cNvSpPr txBox="1"/>
          <p:nvPr/>
        </p:nvSpPr>
        <p:spPr>
          <a:xfrm>
            <a:off x="11277600" y="6667500"/>
            <a:ext cx="381000" cy="190500"/>
          </a:xfrm>
          <a:prstGeom prst="rect">
            <a:avLst/>
          </a:prstGeom>
          <a:noFill/>
        </p:spPr>
        <p:txBody>
          <a:bodyPr wrap="square" anchor="t" lIns="0" tIns="0" rIns="0" bIns="0">
            <a:noAutofit/>
          </a:bodyPr>
          <a:lstStyle/>
          <a:p>
            <a:pPr marL="0" indent="0" algn="r">
              <a:buNone/>
            </a:pPr>
            <a:r>
              <a:rPr lang="en-US" sz="1100" b="1" dirty="0">
                <a:solidFill>
                  <a:srgbClr val="1B4F72"/>
                </a:solidFill>
                <a:latin typeface="Calibri"/>
                <a:cs typeface="Calibri"/>
              </a:rPr>
              <a:t>9</a:t>
            </a:r>
          </a:p>
        </p:txBody>
      </p:sp>
    </p:spTree>
  </p:cSld>
  <p:clrMapOvr>
    <a:overrideClrMapping bg1="lt1" tx1="dk1" bg2="lt2" tx2="dk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2"/>
          <p:cNvSpPr txBox="1"/>
          <p:nvPr/>
        </p:nvSpPr>
        <p:spPr>
          <a:xfrm>
            <a:off x="533400" y="285750"/>
            <a:ext cx="11125200" cy="381000"/>
          </a:xfrm>
          <a:prstGeom prst="rect">
            <a:avLst/>
          </a:prstGeom>
          <a:noFill/>
        </p:spPr>
        <p:txBody>
          <a:bodyPr wrap="square" anchor="t" lIns="0" tIns="0" rIns="0" bIns="0">
            <a:noAutofit/>
          </a:bodyPr>
          <a:lstStyle/>
          <a:p>
            <a:pPr marL="0" indent="0" algn="l">
              <a:buNone/>
            </a:pPr>
            <a:r>
              <a:rPr lang="en-US" sz="2500" b="1" dirty="0">
                <a:solidFill>
                  <a:srgbClr val="1B4F72"/>
                </a:solidFill>
                <a:latin typeface="Calibri"/>
                <a:cs typeface="Calibri"/>
              </a:rPr>
              <a:t>Conclusion &amp; References</a:t>
            </a:r>
          </a:p>
        </p:txBody>
      </p:sp>
      <p:sp>
        <p:nvSpPr>
          <p:cNvPr id="3" name="Rect 3"/>
          <p:cNvSpPr/>
          <p:nvPr/>
        </p:nvSpPr>
        <p:spPr>
          <a:xfrm>
            <a:off x="533400" y="666750"/>
            <a:ext cx="609600" cy="47625"/>
          </a:xfrm>
          <a:prstGeom prst="roundRect">
            <a:avLst/>
          </a:prstGeom>
          <a:solidFill>
            <a:srgbClr val="00A878"/>
          </a:solidFill>
          <a:ln>
            <a:noFill/>
          </a:ln>
        </p:spPr>
        <p:txBody>
          <a:bodyPr/>
          <a:lstStyle/>
          <a:p/>
        </p:txBody>
      </p:sp>
      <p:sp>
        <p:nvSpPr>
          <p:cNvPr id="4" name="TextBox 4"/>
          <p:cNvSpPr txBox="1"/>
          <p:nvPr/>
        </p:nvSpPr>
        <p:spPr>
          <a:xfrm>
            <a:off x="533400" y="876300"/>
            <a:ext cx="5715000" cy="171450"/>
          </a:xfrm>
          <a:prstGeom prst="rect">
            <a:avLst/>
          </a:prstGeom>
          <a:noFill/>
        </p:spPr>
        <p:txBody>
          <a:bodyPr wrap="square" anchor="t" lIns="0" tIns="0" rIns="0" bIns="0">
            <a:noAutofit/>
          </a:bodyPr>
          <a:lstStyle/>
          <a:p>
            <a:pPr marL="0" indent="0" algn="l">
              <a:buNone/>
            </a:pPr>
            <a:r>
              <a:rPr lang="en-US" sz="1200" b="1" dirty="0">
                <a:solidFill>
                  <a:srgbClr val="1B4F72"/>
                </a:solidFill>
                <a:latin typeface="Calibri"/>
                <a:cs typeface="Calibri"/>
              </a:rPr>
              <a:t>CONCLUSION</a:t>
            </a:r>
          </a:p>
        </p:txBody>
      </p:sp>
      <p:sp>
        <p:nvSpPr>
          <p:cNvPr id="5" name="Oval 5"/>
          <p:cNvSpPr/>
          <p:nvPr/>
        </p:nvSpPr>
        <p:spPr>
          <a:xfrm>
            <a:off x="533400" y="1104900"/>
            <a:ext cx="171450" cy="171450"/>
          </a:xfrm>
          <a:prstGeom prst="ellipse">
            <a:avLst/>
          </a:prstGeom>
          <a:solidFill>
            <a:srgbClr val="00A878"/>
          </a:solidFill>
          <a:ln>
            <a:noFill/>
          </a:ln>
        </p:spPr>
        <p:txBody>
          <a:bodyPr/>
          <a:lstStyle/>
          <a:p/>
        </p:txBody>
      </p:sp>
      <p:sp>
        <p:nvSpPr>
          <p:cNvPr id="6" name="TextBox 6"/>
          <p:cNvSpPr txBox="1"/>
          <p:nvPr/>
        </p:nvSpPr>
        <p:spPr>
          <a:xfrm>
            <a:off x="533400" y="1095375"/>
            <a:ext cx="171450" cy="171450"/>
          </a:xfrm>
          <a:prstGeom prst="rect">
            <a:avLst/>
          </a:prstGeom>
          <a:noFill/>
        </p:spPr>
        <p:txBody>
          <a:bodyPr wrap="square" anchor="ctr" lIns="0" tIns="0" rIns="0" bIns="0">
            <a:noAutofit/>
          </a:bodyPr>
          <a:lstStyle/>
          <a:p>
            <a:pPr marL="0" indent="0" algn="ctr">
              <a:buNone/>
            </a:pPr>
            <a:r>
              <a:rPr lang="en-US" sz="1000" b="1" dirty="0">
                <a:solidFill>
                  <a:srgbClr val="FFFFFF"/>
                </a:solidFill>
                <a:latin typeface="Calibri"/>
                <a:cs typeface="Calibri"/>
              </a:rPr>
              <a:t>✓</a:t>
            </a:r>
          </a:p>
        </p:txBody>
      </p:sp>
      <p:sp>
        <p:nvSpPr>
          <p:cNvPr id="7" name="TextBox 7"/>
          <p:cNvSpPr txBox="1"/>
          <p:nvPr/>
        </p:nvSpPr>
        <p:spPr>
          <a:xfrm>
            <a:off x="790575" y="1085850"/>
            <a:ext cx="5457825" cy="571500"/>
          </a:xfrm>
          <a:prstGeom prst="rect">
            <a:avLst/>
          </a:prstGeom>
          <a:noFill/>
        </p:spPr>
        <p:txBody>
          <a:bodyPr wrap="square" anchor="t" lIns="0" tIns="0" rIns="0" bIns="0">
            <a:noAutofit/>
          </a:bodyPr>
          <a:lstStyle/>
          <a:p>
            <a:pPr marL="0" indent="0" algn="l">
              <a:lnSpc>
                <a:spcPct val="118000"/>
              </a:lnSpc>
              <a:buNone/>
            </a:pPr>
            <a:r>
              <a:rPr lang="en-US" sz="1030" dirty="0">
                <a:solidFill>
                  <a:srgbClr val="2C3E50"/>
                </a:solidFill>
                <a:latin typeface="Calibri"/>
                <a:cs typeface="Calibri"/>
              </a:rPr>
              <a:t>NephroAlert addresses a genuine clinical gap: no existing tool analyses longitudinal biomarker trajectories for CKD prediction at PHC level in Tamil Nadu.</a:t>
            </a:r>
          </a:p>
        </p:txBody>
      </p:sp>
      <p:sp>
        <p:nvSpPr>
          <p:cNvPr id="8" name="Oval 8"/>
          <p:cNvSpPr/>
          <p:nvPr/>
        </p:nvSpPr>
        <p:spPr>
          <a:xfrm>
            <a:off x="533400" y="1581150"/>
            <a:ext cx="171450" cy="171450"/>
          </a:xfrm>
          <a:prstGeom prst="ellipse">
            <a:avLst/>
          </a:prstGeom>
          <a:solidFill>
            <a:srgbClr val="00A878"/>
          </a:solidFill>
          <a:ln>
            <a:noFill/>
          </a:ln>
        </p:spPr>
        <p:txBody>
          <a:bodyPr/>
          <a:lstStyle/>
          <a:p/>
        </p:txBody>
      </p:sp>
      <p:sp>
        <p:nvSpPr>
          <p:cNvPr id="9" name="TextBox 9"/>
          <p:cNvSpPr txBox="1"/>
          <p:nvPr/>
        </p:nvSpPr>
        <p:spPr>
          <a:xfrm>
            <a:off x="533400" y="1571625"/>
            <a:ext cx="171450" cy="171450"/>
          </a:xfrm>
          <a:prstGeom prst="rect">
            <a:avLst/>
          </a:prstGeom>
          <a:noFill/>
        </p:spPr>
        <p:txBody>
          <a:bodyPr wrap="square" anchor="ctr" lIns="0" tIns="0" rIns="0" bIns="0">
            <a:noAutofit/>
          </a:bodyPr>
          <a:lstStyle/>
          <a:p>
            <a:pPr marL="0" indent="0" algn="ctr">
              <a:buNone/>
            </a:pPr>
            <a:r>
              <a:rPr lang="en-US" sz="1000" b="1" dirty="0">
                <a:solidFill>
                  <a:srgbClr val="FFFFFF"/>
                </a:solidFill>
                <a:latin typeface="Calibri"/>
                <a:cs typeface="Calibri"/>
              </a:rPr>
              <a:t>✓</a:t>
            </a:r>
          </a:p>
        </p:txBody>
      </p:sp>
      <p:sp>
        <p:nvSpPr>
          <p:cNvPr id="10" name="TextBox 10"/>
          <p:cNvSpPr txBox="1"/>
          <p:nvPr/>
        </p:nvSpPr>
        <p:spPr>
          <a:xfrm>
            <a:off x="790575" y="1562100"/>
            <a:ext cx="5457825" cy="571500"/>
          </a:xfrm>
          <a:prstGeom prst="rect">
            <a:avLst/>
          </a:prstGeom>
          <a:noFill/>
        </p:spPr>
        <p:txBody>
          <a:bodyPr wrap="square" anchor="t" lIns="0" tIns="0" rIns="0" bIns="0">
            <a:noAutofit/>
          </a:bodyPr>
          <a:lstStyle/>
          <a:p>
            <a:pPr marL="0" indent="0" algn="l">
              <a:lnSpc>
                <a:spcPct val="118000"/>
              </a:lnSpc>
              <a:buNone/>
            </a:pPr>
            <a:r>
              <a:rPr lang="en-US" sz="1030" dirty="0">
                <a:solidFill>
                  <a:srgbClr val="2C3E50"/>
                </a:solidFill>
                <a:latin typeface="Calibri"/>
                <a:cs typeface="Calibri"/>
              </a:rPr>
              <a:t>The system requires zero additional hardware, integrates with existing PHC workflows, and outputs results in Tamil — making it truly deployable in rural healthcare settings.</a:t>
            </a:r>
          </a:p>
        </p:txBody>
      </p:sp>
      <p:sp>
        <p:nvSpPr>
          <p:cNvPr id="11" name="Oval 11"/>
          <p:cNvSpPr/>
          <p:nvPr/>
        </p:nvSpPr>
        <p:spPr>
          <a:xfrm>
            <a:off x="533400" y="2057400"/>
            <a:ext cx="171450" cy="171450"/>
          </a:xfrm>
          <a:prstGeom prst="ellipse">
            <a:avLst/>
          </a:prstGeom>
          <a:solidFill>
            <a:srgbClr val="00A878"/>
          </a:solidFill>
          <a:ln>
            <a:noFill/>
          </a:ln>
        </p:spPr>
        <p:txBody>
          <a:bodyPr/>
          <a:lstStyle/>
          <a:p/>
        </p:txBody>
      </p:sp>
      <p:sp>
        <p:nvSpPr>
          <p:cNvPr id="12" name="TextBox 12"/>
          <p:cNvSpPr txBox="1"/>
          <p:nvPr/>
        </p:nvSpPr>
        <p:spPr>
          <a:xfrm>
            <a:off x="533400" y="2047875"/>
            <a:ext cx="171450" cy="171450"/>
          </a:xfrm>
          <a:prstGeom prst="rect">
            <a:avLst/>
          </a:prstGeom>
          <a:noFill/>
        </p:spPr>
        <p:txBody>
          <a:bodyPr wrap="square" anchor="ctr" lIns="0" tIns="0" rIns="0" bIns="0">
            <a:noAutofit/>
          </a:bodyPr>
          <a:lstStyle/>
          <a:p>
            <a:pPr marL="0" indent="0" algn="ctr">
              <a:buNone/>
            </a:pPr>
            <a:r>
              <a:rPr lang="en-US" sz="1000" b="1" dirty="0">
                <a:solidFill>
                  <a:srgbClr val="FFFFFF"/>
                </a:solidFill>
                <a:latin typeface="Calibri"/>
                <a:cs typeface="Calibri"/>
              </a:rPr>
              <a:t>✓</a:t>
            </a:r>
          </a:p>
        </p:txBody>
      </p:sp>
      <p:sp>
        <p:nvSpPr>
          <p:cNvPr id="13" name="TextBox 13"/>
          <p:cNvSpPr txBox="1"/>
          <p:nvPr/>
        </p:nvSpPr>
        <p:spPr>
          <a:xfrm>
            <a:off x="790575" y="2038350"/>
            <a:ext cx="5457825" cy="571500"/>
          </a:xfrm>
          <a:prstGeom prst="rect">
            <a:avLst/>
          </a:prstGeom>
          <a:noFill/>
        </p:spPr>
        <p:txBody>
          <a:bodyPr wrap="square" anchor="t" lIns="0" tIns="0" rIns="0" bIns="0">
            <a:noAutofit/>
          </a:bodyPr>
          <a:lstStyle/>
          <a:p>
            <a:pPr marL="0" indent="0" algn="l">
              <a:lnSpc>
                <a:spcPct val="118000"/>
              </a:lnSpc>
              <a:buNone/>
            </a:pPr>
            <a:r>
              <a:rPr lang="en-US" sz="1030" dirty="0">
                <a:solidFill>
                  <a:srgbClr val="2C3E50"/>
                </a:solidFill>
                <a:latin typeface="Calibri"/>
                <a:cs typeface="Calibri"/>
              </a:rPr>
              <a:t>By detecting CKD 4–6 months earlier than threshold-based single-visit evaluation, NephroAlert can prevent irreversible nephron loss in thousands of patients.</a:t>
            </a:r>
          </a:p>
        </p:txBody>
      </p:sp>
      <p:sp>
        <p:nvSpPr>
          <p:cNvPr id="14" name="Oval 14"/>
          <p:cNvSpPr/>
          <p:nvPr/>
        </p:nvSpPr>
        <p:spPr>
          <a:xfrm>
            <a:off x="533400" y="2533650"/>
            <a:ext cx="171450" cy="171450"/>
          </a:xfrm>
          <a:prstGeom prst="ellipse">
            <a:avLst/>
          </a:prstGeom>
          <a:solidFill>
            <a:srgbClr val="00A878"/>
          </a:solidFill>
          <a:ln>
            <a:noFill/>
          </a:ln>
        </p:spPr>
        <p:txBody>
          <a:bodyPr/>
          <a:lstStyle/>
          <a:p/>
        </p:txBody>
      </p:sp>
      <p:sp>
        <p:nvSpPr>
          <p:cNvPr id="15" name="TextBox 15"/>
          <p:cNvSpPr txBox="1"/>
          <p:nvPr/>
        </p:nvSpPr>
        <p:spPr>
          <a:xfrm>
            <a:off x="533400" y="2524125"/>
            <a:ext cx="171450" cy="171450"/>
          </a:xfrm>
          <a:prstGeom prst="rect">
            <a:avLst/>
          </a:prstGeom>
          <a:noFill/>
        </p:spPr>
        <p:txBody>
          <a:bodyPr wrap="square" anchor="ctr" lIns="0" tIns="0" rIns="0" bIns="0">
            <a:noAutofit/>
          </a:bodyPr>
          <a:lstStyle/>
          <a:p>
            <a:pPr marL="0" indent="0" algn="ctr">
              <a:buNone/>
            </a:pPr>
            <a:r>
              <a:rPr lang="en-US" sz="1000" b="1" dirty="0">
                <a:solidFill>
                  <a:srgbClr val="FFFFFF"/>
                </a:solidFill>
                <a:latin typeface="Calibri"/>
                <a:cs typeface="Calibri"/>
              </a:rPr>
              <a:t>✓</a:t>
            </a:r>
          </a:p>
        </p:txBody>
      </p:sp>
      <p:sp>
        <p:nvSpPr>
          <p:cNvPr id="16" name="TextBox 16"/>
          <p:cNvSpPr txBox="1"/>
          <p:nvPr/>
        </p:nvSpPr>
        <p:spPr>
          <a:xfrm>
            <a:off x="790575" y="2514600"/>
            <a:ext cx="5457825" cy="571500"/>
          </a:xfrm>
          <a:prstGeom prst="rect">
            <a:avLst/>
          </a:prstGeom>
          <a:noFill/>
        </p:spPr>
        <p:txBody>
          <a:bodyPr wrap="square" anchor="t" lIns="0" tIns="0" rIns="0" bIns="0">
            <a:noAutofit/>
          </a:bodyPr>
          <a:lstStyle/>
          <a:p>
            <a:pPr marL="0" indent="0" algn="l">
              <a:lnSpc>
                <a:spcPct val="118000"/>
              </a:lnSpc>
              <a:buNone/>
            </a:pPr>
            <a:r>
              <a:rPr lang="en-US" sz="1030" dirty="0">
                <a:solidFill>
                  <a:srgbClr val="2C3E50"/>
                </a:solidFill>
                <a:latin typeface="Calibri"/>
                <a:cs typeface="Calibri"/>
              </a:rPr>
              <a:t>The pilot dataset collected from Tamil Nadu PHCs represents an original research contribution with no existing equivalent in published literature.</a:t>
            </a:r>
          </a:p>
        </p:txBody>
      </p:sp>
      <p:sp>
        <p:nvSpPr>
          <p:cNvPr id="17" name="Oval 17"/>
          <p:cNvSpPr/>
          <p:nvPr/>
        </p:nvSpPr>
        <p:spPr>
          <a:xfrm>
            <a:off x="533400" y="3009900"/>
            <a:ext cx="171450" cy="171450"/>
          </a:xfrm>
          <a:prstGeom prst="ellipse">
            <a:avLst/>
          </a:prstGeom>
          <a:solidFill>
            <a:srgbClr val="00A878"/>
          </a:solidFill>
          <a:ln>
            <a:noFill/>
          </a:ln>
        </p:spPr>
        <p:txBody>
          <a:bodyPr/>
          <a:lstStyle/>
          <a:p/>
        </p:txBody>
      </p:sp>
      <p:sp>
        <p:nvSpPr>
          <p:cNvPr id="18" name="TextBox 18"/>
          <p:cNvSpPr txBox="1"/>
          <p:nvPr/>
        </p:nvSpPr>
        <p:spPr>
          <a:xfrm>
            <a:off x="533400" y="3000375"/>
            <a:ext cx="171450" cy="171450"/>
          </a:xfrm>
          <a:prstGeom prst="rect">
            <a:avLst/>
          </a:prstGeom>
          <a:noFill/>
        </p:spPr>
        <p:txBody>
          <a:bodyPr wrap="square" anchor="ctr" lIns="0" tIns="0" rIns="0" bIns="0">
            <a:noAutofit/>
          </a:bodyPr>
          <a:lstStyle/>
          <a:p>
            <a:pPr marL="0" indent="0" algn="ctr">
              <a:buNone/>
            </a:pPr>
            <a:r>
              <a:rPr lang="en-US" sz="1000" b="1" dirty="0">
                <a:solidFill>
                  <a:srgbClr val="FFFFFF"/>
                </a:solidFill>
                <a:latin typeface="Calibri"/>
                <a:cs typeface="Calibri"/>
              </a:rPr>
              <a:t>✓</a:t>
            </a:r>
          </a:p>
        </p:txBody>
      </p:sp>
      <p:sp>
        <p:nvSpPr>
          <p:cNvPr id="19" name="TextBox 19"/>
          <p:cNvSpPr txBox="1"/>
          <p:nvPr/>
        </p:nvSpPr>
        <p:spPr>
          <a:xfrm>
            <a:off x="790575" y="2990850"/>
            <a:ext cx="5457825" cy="571500"/>
          </a:xfrm>
          <a:prstGeom prst="rect">
            <a:avLst/>
          </a:prstGeom>
          <a:noFill/>
        </p:spPr>
        <p:txBody>
          <a:bodyPr wrap="square" anchor="t" lIns="0" tIns="0" rIns="0" bIns="0">
            <a:noAutofit/>
          </a:bodyPr>
          <a:lstStyle/>
          <a:p>
            <a:pPr marL="0" indent="0" algn="l">
              <a:lnSpc>
                <a:spcPct val="118000"/>
              </a:lnSpc>
              <a:buNone/>
            </a:pPr>
            <a:r>
              <a:rPr lang="en-US" sz="1030" dirty="0">
                <a:solidFill>
                  <a:srgbClr val="2C3E50"/>
                </a:solidFill>
                <a:latin typeface="Calibri"/>
                <a:cs typeface="Calibri"/>
              </a:rPr>
              <a:t>This project demonstrates a scalable, evidence-based model for AI-assisted chronic disease monitoring that can be extended across Tamil Nadu and India.</a:t>
            </a:r>
          </a:p>
        </p:txBody>
      </p:sp>
      <p:sp>
        <p:nvSpPr>
          <p:cNvPr id="20" name="Rect 20"/>
          <p:cNvSpPr/>
          <p:nvPr/>
        </p:nvSpPr>
        <p:spPr>
          <a:xfrm>
            <a:off x="533400" y="3524250"/>
            <a:ext cx="5715000" cy="723900"/>
          </a:xfrm>
          <a:prstGeom prst="roundRect">
            <a:avLst/>
          </a:prstGeom>
          <a:solidFill>
            <a:srgbClr val="00A878"/>
          </a:solidFill>
          <a:ln>
            <a:noFill/>
          </a:ln>
        </p:spPr>
        <p:txBody>
          <a:bodyPr/>
          <a:lstStyle/>
          <a:p/>
        </p:txBody>
      </p:sp>
      <p:sp>
        <p:nvSpPr>
          <p:cNvPr id="21" name="TextBox 21"/>
          <p:cNvSpPr txBox="1"/>
          <p:nvPr/>
        </p:nvSpPr>
        <p:spPr>
          <a:xfrm>
            <a:off x="685800" y="3600450"/>
            <a:ext cx="5410200" cy="571500"/>
          </a:xfrm>
          <a:prstGeom prst="rect">
            <a:avLst/>
          </a:prstGeom>
          <a:noFill/>
        </p:spPr>
        <p:txBody>
          <a:bodyPr wrap="square" anchor="t" lIns="0" tIns="0" rIns="0" bIns="0">
            <a:noAutofit/>
          </a:bodyPr>
          <a:lstStyle/>
          <a:p>
            <a:pPr marL="0" indent="0" algn="l">
              <a:lnSpc>
                <a:spcPct val="130000"/>
              </a:lnSpc>
              <a:buNone/>
            </a:pPr>
            <a:r>
              <a:rPr lang="en-US" sz="1000" i="1" dirty="0">
                <a:solidFill>
                  <a:srgbClr val="FFFFFF"/>
                </a:solidFill>
                <a:latin typeface="Calibri"/>
                <a:cs typeface="Calibri"/>
              </a:rPr>
              <a:t>With the generous support of ACS-AMRI seed funding, NephroAlert will progress from prototype to validated clinical decision support tool — directly saving lives by catching kidney disease before it becomes kidney failure.</a:t>
            </a:r>
          </a:p>
        </p:txBody>
      </p:sp>
      <p:sp>
        <p:nvSpPr>
          <p:cNvPr id="22" name="TextBox 22"/>
          <p:cNvSpPr txBox="1"/>
          <p:nvPr/>
        </p:nvSpPr>
        <p:spPr>
          <a:xfrm>
            <a:off x="6534150" y="876300"/>
            <a:ext cx="5124450" cy="171450"/>
          </a:xfrm>
          <a:prstGeom prst="rect">
            <a:avLst/>
          </a:prstGeom>
          <a:noFill/>
        </p:spPr>
        <p:txBody>
          <a:bodyPr wrap="square" anchor="t" lIns="0" tIns="0" rIns="0" bIns="0">
            <a:noAutofit/>
          </a:bodyPr>
          <a:lstStyle/>
          <a:p>
            <a:pPr marL="0" indent="0" algn="l">
              <a:buNone/>
            </a:pPr>
            <a:r>
              <a:rPr lang="en-US" sz="1200" b="1" dirty="0">
                <a:solidFill>
                  <a:srgbClr val="1B4F72"/>
                </a:solidFill>
                <a:latin typeface="Calibri"/>
                <a:cs typeface="Calibri"/>
              </a:rPr>
              <a:t>REFERENCES</a:t>
            </a:r>
          </a:p>
        </p:txBody>
      </p:sp>
      <p:sp>
        <p:nvSpPr>
          <p:cNvPr id="23" name="TextBox 23"/>
          <p:cNvSpPr txBox="1"/>
          <p:nvPr/>
        </p:nvSpPr>
        <p:spPr>
          <a:xfrm>
            <a:off x="6534150" y="1104900"/>
            <a:ext cx="5124450" cy="3810000"/>
          </a:xfrm>
          <a:prstGeom prst="rect">
            <a:avLst/>
          </a:prstGeom>
          <a:noFill/>
        </p:spPr>
        <p:txBody>
          <a:bodyPr wrap="square" anchor="t" lIns="0" tIns="0" rIns="0" bIns="0">
            <a:noAutofit/>
          </a:bodyPr>
          <a:lstStyle/>
          <a:p>
            <a:pPr marL="0" indent="0" algn="l">
              <a:lnSpc>
                <a:spcPct val="125000"/>
              </a:lnSpc>
              <a:spcAft>
                <a:spcPts val="700"/>
              </a:spcAft>
              <a:buNone/>
            </a:pPr>
            <a:r>
              <a:rPr lang="en-US" sz="860" dirty="0">
                <a:solidFill>
                  <a:srgbClr val="2C3E50"/>
                </a:solidFill>
                <a:latin typeface="Calibri"/>
                <a:cs typeface="Calibri"/>
              </a:rPr>
              <a:t>[1] Ingsathit A, et al. “Prevalence and risk factors of chronic kidney disease in the Thai adult population: Thai SEEK study.” Nephrology Dialysis Transplantation. 2010;25(5):1567–1575.</a:t>
            </a:r>
          </a:p>
          <a:p>
            <a:pPr marL="0" indent="0" algn="l">
              <a:lnSpc>
                <a:spcPct val="125000"/>
              </a:lnSpc>
              <a:spcAft>
                <a:spcPts val="700"/>
              </a:spcAft>
              <a:buNone/>
            </a:pPr>
            <a:r>
              <a:rPr lang="en-US" sz="860" dirty="0">
                <a:solidFill>
                  <a:srgbClr val="2C3E50"/>
                </a:solidFill>
                <a:latin typeface="Calibri"/>
                <a:cs typeface="Calibri"/>
              </a:rPr>
              <a:t>[2] Inker LA, et al. “New Creatinine and Cystatin C-Based Equations to Estimate GFR without Race.” New England Journal of Medicine. 2021;385:1737–1749.</a:t>
            </a:r>
          </a:p>
          <a:p>
            <a:pPr marL="0" indent="0" algn="l">
              <a:lnSpc>
                <a:spcPct val="125000"/>
              </a:lnSpc>
              <a:spcAft>
                <a:spcPts val="700"/>
              </a:spcAft>
              <a:buNone/>
            </a:pPr>
            <a:r>
              <a:rPr lang="en-US" sz="860" dirty="0">
                <a:solidFill>
                  <a:srgbClr val="2C3E50"/>
                </a:solidFill>
                <a:latin typeface="Calibri"/>
                <a:cs typeface="Calibri"/>
              </a:rPr>
              <a:t>[3] Dua P, Gupta V. “Data Mining Techniques for CKD Diagnosis.” Journal of Biomedical Informatics. 2012;45(1):146–154.</a:t>
            </a:r>
          </a:p>
          <a:p>
            <a:pPr marL="0" indent="0" algn="l">
              <a:lnSpc>
                <a:spcPct val="125000"/>
              </a:lnSpc>
              <a:spcAft>
                <a:spcPts val="700"/>
              </a:spcAft>
              <a:buNone/>
            </a:pPr>
            <a:r>
              <a:rPr lang="en-US" sz="860" dirty="0">
                <a:solidFill>
                  <a:srgbClr val="2C3E50"/>
                </a:solidFill>
                <a:latin typeface="Calibri"/>
                <a:cs typeface="Calibri"/>
              </a:rPr>
              <a:t>[4] Ravindranath R, et al. “Prevalence of Diabetic Nephropathy Among Type 2 Diabetic Patients in South India.” International Journal of Scientific Studies. 2016;4(7):90–93.</a:t>
            </a:r>
          </a:p>
          <a:p>
            <a:pPr marL="0" indent="0" algn="l">
              <a:lnSpc>
                <a:spcPct val="125000"/>
              </a:lnSpc>
              <a:spcAft>
                <a:spcPts val="700"/>
              </a:spcAft>
              <a:buNone/>
            </a:pPr>
            <a:r>
              <a:rPr lang="en-US" sz="860" dirty="0">
                <a:solidFill>
                  <a:srgbClr val="2C3E50"/>
                </a:solidFill>
                <a:latin typeface="Calibri"/>
                <a:cs typeface="Calibri"/>
              </a:rPr>
              <a:t>[5] Kato S, et al. “Association of HbA1c with kidney function decline in patients with type 2 diabetes.” Diabetes Research and Clinical Practice. 2019;149:195–202.</a:t>
            </a:r>
          </a:p>
          <a:p>
            <a:pPr marL="0" indent="0" algn="l">
              <a:lnSpc>
                <a:spcPct val="125000"/>
              </a:lnSpc>
              <a:spcAft>
                <a:spcPts val="700"/>
              </a:spcAft>
              <a:buNone/>
            </a:pPr>
            <a:r>
              <a:rPr lang="en-US" sz="860" dirty="0">
                <a:solidFill>
                  <a:srgbClr val="2C3E50"/>
                </a:solidFill>
                <a:latin typeface="Calibri"/>
                <a:cs typeface="Calibri"/>
              </a:rPr>
              <a:t>[6] Levin A, et al. “Global kidney health 2017 and beyond: a roadmap for closing gaps in care, research, and policy.” Lancet. 2017;390(10105):1888–1917.</a:t>
            </a:r>
          </a:p>
          <a:p>
            <a:pPr marL="0" indent="0" algn="l">
              <a:lnSpc>
                <a:spcPct val="125000"/>
              </a:lnSpc>
              <a:spcAft>
                <a:spcPts val="700"/>
              </a:spcAft>
              <a:buNone/>
            </a:pPr>
            <a:r>
              <a:rPr lang="en-US" sz="860" dirty="0">
                <a:solidFill>
                  <a:srgbClr val="2C3E50"/>
                </a:solidFill>
                <a:latin typeface="Calibri"/>
                <a:cs typeface="Calibri"/>
              </a:rPr>
              <a:t>[7] Breiman L. “Random Forests.” Machine Learning. 2001;45:5–32.</a:t>
            </a:r>
          </a:p>
          <a:p>
            <a:pPr marL="0" indent="0" algn="l">
              <a:lnSpc>
                <a:spcPct val="125000"/>
              </a:lnSpc>
              <a:spcAft>
                <a:spcPts val="700"/>
              </a:spcAft>
              <a:buNone/>
            </a:pPr>
            <a:r>
              <a:rPr lang="en-US" sz="860" dirty="0">
                <a:solidFill>
                  <a:srgbClr val="2C3E50"/>
                </a:solidFill>
                <a:latin typeface="Calibri"/>
                <a:cs typeface="Calibri"/>
              </a:rPr>
              <a:t>[8] National Family Health Survey (NFHS-5). International Institute for Population Sciences, Mumbai. 2019–2021. Available at: rchiips.org/nfhs/nfhs5.shtml</a:t>
            </a:r>
          </a:p>
        </p:txBody>
      </p:sp>
      <p:sp>
        <p:nvSpPr>
          <p:cNvPr id="24" name="Rect 24"/>
          <p:cNvSpPr/>
          <p:nvPr/>
        </p:nvSpPr>
        <p:spPr>
          <a:xfrm>
            <a:off x="533400" y="5029200"/>
            <a:ext cx="11125200" cy="857250"/>
          </a:xfrm>
          <a:prstGeom prst="roundRect">
            <a:avLst/>
          </a:prstGeom>
          <a:solidFill>
            <a:srgbClr val="1B4F72"/>
          </a:solidFill>
          <a:ln>
            <a:noFill/>
          </a:ln>
        </p:spPr>
        <p:txBody>
          <a:bodyPr/>
          <a:lstStyle/>
          <a:p/>
        </p:txBody>
      </p:sp>
      <p:sp>
        <p:nvSpPr>
          <p:cNvPr id="25" name="TextBox 25"/>
          <p:cNvSpPr txBox="1"/>
          <p:nvPr/>
        </p:nvSpPr>
        <p:spPr>
          <a:xfrm>
            <a:off x="762000" y="5143500"/>
            <a:ext cx="4762500" cy="285750"/>
          </a:xfrm>
          <a:prstGeom prst="rect">
            <a:avLst/>
          </a:prstGeom>
          <a:noFill/>
        </p:spPr>
        <p:txBody>
          <a:bodyPr wrap="square" anchor="t" lIns="0" tIns="0" rIns="0" bIns="0">
            <a:noAutofit/>
          </a:bodyPr>
          <a:lstStyle/>
          <a:p>
            <a:pPr marL="0" indent="0" algn="l">
              <a:buNone/>
            </a:pPr>
            <a:r>
              <a:rPr lang="en-US" sz="1800" b="1" dirty="0">
                <a:solidFill>
                  <a:srgbClr val="00A878"/>
                </a:solidFill>
                <a:latin typeface="Calibri"/>
                <a:cs typeface="Calibri"/>
              </a:rPr>
              <a:t>Thank You  ·  நன்றி</a:t>
            </a:r>
          </a:p>
        </p:txBody>
      </p:sp>
      <p:sp>
        <p:nvSpPr>
          <p:cNvPr id="26" name="TextBox 26"/>
          <p:cNvSpPr txBox="1"/>
          <p:nvPr/>
        </p:nvSpPr>
        <p:spPr>
          <a:xfrm>
            <a:off x="762000" y="5448300"/>
            <a:ext cx="4762500" cy="190500"/>
          </a:xfrm>
          <a:prstGeom prst="rect">
            <a:avLst/>
          </a:prstGeom>
          <a:noFill/>
        </p:spPr>
        <p:txBody>
          <a:bodyPr wrap="square" anchor="t" lIns="0" tIns="0" rIns="0" bIns="0">
            <a:noAutofit/>
          </a:bodyPr>
          <a:lstStyle/>
          <a:p>
            <a:pPr marL="0" indent="0" algn="l">
              <a:buNone/>
            </a:pPr>
            <a:r>
              <a:rPr lang="en-US" sz="1100" dirty="0">
                <a:solidFill>
                  <a:srgbClr val="DCE7EF"/>
                </a:solidFill>
                <a:latin typeface="Calibri"/>
                <a:cs typeface="Calibri"/>
              </a:rPr>
              <a:t>We welcome your questions and feedback</a:t>
            </a:r>
          </a:p>
        </p:txBody>
      </p:sp>
      <p:sp>
        <p:nvSpPr>
          <p:cNvPr id="27" name="TextBox 27"/>
          <p:cNvSpPr txBox="1"/>
          <p:nvPr/>
        </p:nvSpPr>
        <p:spPr>
          <a:xfrm>
            <a:off x="7048500" y="5162550"/>
            <a:ext cx="4381500" cy="571500"/>
          </a:xfrm>
          <a:prstGeom prst="rect">
            <a:avLst/>
          </a:prstGeom>
          <a:noFill/>
        </p:spPr>
        <p:txBody>
          <a:bodyPr wrap="square" anchor="t" lIns="0" tIns="0" rIns="0" bIns="0">
            <a:noAutofit/>
          </a:bodyPr>
          <a:lstStyle/>
          <a:p>
            <a:pPr marL="0" indent="0" algn="r">
              <a:spcAft>
                <a:spcPts val="400"/>
              </a:spcAft>
              <a:buNone/>
            </a:pPr>
            <a:r>
              <a:rPr lang="en-US" sz="1050" dirty="0">
                <a:solidFill>
                  <a:srgbClr val="DCE7EF"/>
                </a:solidFill>
                <a:latin typeface="Calibri"/>
                <a:cs typeface="Calibri"/>
              </a:rPr>
              <a:t>Contact: [Your Email] | [Your Phone]</a:t>
            </a:r>
          </a:p>
          <a:p>
            <a:pPr marL="0" indent="0" algn="r">
              <a:buNone/>
            </a:pPr>
            <a:r>
              <a:rPr lang="en-US" sz="1050" dirty="0">
                <a:solidFill>
                  <a:srgbClr val="DCE7EF"/>
                </a:solidFill>
                <a:latin typeface="Calibri"/>
                <a:cs typeface="Calibri"/>
              </a:rPr>
              <a:t>Dr. MGR Educational and Research Institute, Chennai</a:t>
            </a:r>
          </a:p>
        </p:txBody>
      </p:sp>
      <p:cxnSp>
        <p:nvCxnSpPr>
          <p:cNvPr id="28" name="Line 28"/>
          <p:cNvCxnSpPr/>
          <p:nvPr/>
        </p:nvCxnSpPr>
        <p:spPr>
          <a:xfrm flipH="0" flipV="0">
            <a:off x="533400" y="6667500"/>
            <a:ext cx="11125200" cy="9525"/>
          </a:xfrm>
          <a:prstGeom prst="line">
            <a:avLst/>
          </a:prstGeom>
          <a:ln w="12700">
            <a:solidFill>
              <a:srgbClr val="E3E7E9"/>
            </a:solidFill>
          </a:ln>
        </p:spPr>
      </p:cxnSp>
      <p:sp>
        <p:nvSpPr>
          <p:cNvPr id="29" name="TextBox 29"/>
          <p:cNvSpPr txBox="1"/>
          <p:nvPr/>
        </p:nvSpPr>
        <p:spPr>
          <a:xfrm>
            <a:off x="533400" y="6705600"/>
            <a:ext cx="8572500" cy="190500"/>
          </a:xfrm>
          <a:prstGeom prst="rect">
            <a:avLst/>
          </a:prstGeom>
          <a:noFill/>
        </p:spPr>
        <p:txBody>
          <a:bodyPr wrap="square" anchor="t" lIns="0" tIns="0" rIns="0" bIns="0">
            <a:noAutofit/>
          </a:bodyPr>
          <a:lstStyle/>
          <a:p>
            <a:pPr marL="0" indent="0" algn="l">
              <a:buNone/>
            </a:pPr>
            <a:r>
              <a:rPr lang="en-US" sz="850" dirty="0">
                <a:solidFill>
                  <a:srgbClr val="7A8B99"/>
                </a:solidFill>
                <a:latin typeface="Calibri"/>
                <a:cs typeface="Calibri"/>
              </a:rPr>
              <a:t>NephroAlert | ACS-AMRI Seed Grant Proposal 2026 | Dr. MGR Educational and Research Institute, Chennai</a:t>
            </a:r>
          </a:p>
        </p:txBody>
      </p:sp>
      <p:sp>
        <p:nvSpPr>
          <p:cNvPr id="30" name="TextBox 30"/>
          <p:cNvSpPr txBox="1"/>
          <p:nvPr/>
        </p:nvSpPr>
        <p:spPr>
          <a:xfrm>
            <a:off x="11277600" y="6667500"/>
            <a:ext cx="381000" cy="190500"/>
          </a:xfrm>
          <a:prstGeom prst="rect">
            <a:avLst/>
          </a:prstGeom>
          <a:noFill/>
        </p:spPr>
        <p:txBody>
          <a:bodyPr wrap="square" anchor="t" lIns="0" tIns="0" rIns="0" bIns="0">
            <a:noAutofit/>
          </a:bodyPr>
          <a:lstStyle/>
          <a:p>
            <a:pPr marL="0" indent="0" algn="r">
              <a:buNone/>
            </a:pPr>
            <a:r>
              <a:rPr lang="en-US" sz="1100" b="1" dirty="0">
                <a:solidFill>
                  <a:srgbClr val="1B4F72"/>
                </a:solidFill>
                <a:latin typeface="Calibri"/>
                <a:cs typeface="Calibri"/>
              </a:rPr>
              <a:t>10</a:t>
            </a:r>
          </a:p>
        </p:txBody>
      </p:sp>
    </p:spTree>
  </p:cSld>
  <p:clrMapOvr>
    <a:overrideClrMapping bg1="lt1" tx1="dk1" bg2="lt2" tx2="dk2" accent1="accent1" accent2="accent2" accent3="accent3" accent4="accent4" accent5="accent5" accent6="accent6" hlink="hlink" folHlink="folHlink"/>
  </p:clrMapOvr>
</p:sld>
</file>

<file path=ppt/theme/theme1.xml><?xml version="1.0" encoding="utf-8"?>
<a:theme xmlns:a="http://schemas.openxmlformats.org/drawingml/2006/main" name="NephroAlert">
  <a:themeElements>
    <a:clrScheme name="NephroAlert">
      <a:dk1>
        <a:srgbClr val="2C3E50"/>
      </a:dk1>
      <a:lt1>
        <a:srgbClr val="FFFFFF"/>
      </a:lt1>
      <a:dk2>
        <a:srgbClr val="1B4F72"/>
      </a:dk2>
      <a:lt2>
        <a:srgbClr val="F4F6F7"/>
      </a:lt2>
      <a:accent1>
        <a:srgbClr val="1B4F72"/>
      </a:accent1>
      <a:accent2>
        <a:srgbClr val="00A878"/>
      </a:accent2>
      <a:accent3>
        <a:srgbClr val="E67E22"/>
      </a:accent3>
      <a:accent4>
        <a:srgbClr val="C0392B"/>
      </a:accent4>
      <a:accent5>
        <a:srgbClr val="27AE60"/>
      </a:accent5>
      <a:accent6>
        <a:srgbClr val="95A5A6"/>
      </a:accent6>
      <a:hlink>
        <a:srgbClr val="00A878"/>
      </a:hlink>
      <a:folHlink>
        <a:srgbClr val="1B4F72"/>
      </a:folHlink>
    </a:clrScheme>
    <a:fontScheme name="NephroAlert">
      <a:majorFont>
        <a:latin typeface="Calibri"/>
        <a:ea typeface=""/>
        <a:cs typeface=""/>
      </a:majorFont>
      <a:minorFont>
        <a:latin typeface="Calibri"/>
        <a:ea typeface=""/>
        <a:cs typeface=""/>
      </a:minorFont>
    </a:fontScheme>
    <a:fmtScheme name="NephroAlert">
      <a:fillStyleLst>
        <a:solidFill>
          <a:schemeClr val="phClr"/>
        </a:solidFill>
        <a:solidFill>
          <a:schemeClr val="phClr"/>
        </a:solidFill>
        <a:solidFill>
          <a:schemeClr val="phClr"/>
        </a:solidFill>
      </a:fillStyleLst>
      <a:lnStyleLst>
        <a:ln w="6350">
          <a:solidFill>
            <a:schemeClr val="phClr"/>
          </a:solidFill>
        </a:ln>
        <a:ln w="12700">
          <a:solidFill>
            <a:schemeClr val="phClr"/>
          </a:solidFill>
        </a:ln>
        <a:ln w="19050">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Application>NephroAlert Deck Builder</Application>
  <Slides>10</Slides>
  <Company>Dr. MGR Educational and Research Institute</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NephroAlert - ACS-AMRI Seed Grant Proposal</dc:title>
  <dc:creator>NephroAlert Research Team</dc:creator>
  <dc:subject>Chronic Kidney Disease - AI Early Detection</dc:subject>
  <cp:keywords>CKD, Diabetic Nephropathy, Machine Learning, ACS-AMRI</cp:keywords>
</cp:coreProperties>
</file>